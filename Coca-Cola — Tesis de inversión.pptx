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256" r:id="rId2"/>
    <p:sldId id="301" r:id="rId3"/>
    <p:sldId id="258" r:id="rId4"/>
    <p:sldId id="302" r:id="rId5"/>
    <p:sldId id="303" r:id="rId6"/>
    <p:sldId id="304" r:id="rId7"/>
    <p:sldId id="305" r:id="rId8"/>
    <p:sldId id="306" r:id="rId9"/>
    <p:sldId id="307" r:id="rId10"/>
    <p:sldId id="308" r:id="rId11"/>
    <p:sldId id="266" r:id="rId12"/>
    <p:sldId id="309" r:id="rId13"/>
    <p:sldId id="310" r:id="rId14"/>
    <p:sldId id="269" r:id="rId15"/>
    <p:sldId id="311" r:id="rId16"/>
    <p:sldId id="312" r:id="rId17"/>
    <p:sldId id="313" r:id="rId18"/>
    <p:sldId id="314" r:id="rId19"/>
    <p:sldId id="315" r:id="rId20"/>
    <p:sldId id="316" r:id="rId21"/>
    <p:sldId id="317" r:id="rId22"/>
    <p:sldId id="277" r:id="rId23"/>
    <p:sldId id="318" r:id="rId24"/>
    <p:sldId id="319" r:id="rId25"/>
    <p:sldId id="320" r:id="rId26"/>
  </p:sldIdLst>
  <p:sldSz cx="12192000" cy="6858000"/>
  <p:notesSz cx="6858000" cy="12192000"/>
  <p:embeddedFontLst>
    <p:embeddedFont>
      <p:font typeface="EB Garamond" panose="00000500000000000000" pitchFamily="2" charset="0"/>
      <p:regular r:id="rId28"/>
      <p:bold r:id="rId29"/>
      <p:italic r:id="rId30"/>
    </p:embeddedFont>
    <p:embeddedFont>
      <p:font typeface="Jost" panose="020B0604020202020204" charset="0"/>
      <p:regular r:id="rId31"/>
      <p:bold r:id="rId32"/>
    </p:embeddedFont>
    <p:embeddedFont>
      <p:font typeface="Pinyon Script" panose="020B0604020202020204" charset="0"/>
      <p:regular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1" d="100"/>
          <a:sy n="141" d="100"/>
        </p:scale>
        <p:origin x="132" y="6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0664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Precio de referencia del modelo: 92,71 $ por acción (KO abrió a 93,36 $ el 20/10/2026). Presentación elaborada con el modelo Coca-Cola FA (DCF, DDM, comparables) y la información pública de la compañía.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Precio objetivo = media de los tres métodos intrínsecos: DCF por múltiplo de salida 92,14 $, DCF por crecimiento perpetuo 88,05 $ y DDM de pago total 82,77 $. Incluyendo comparables (PER y rentabilidad por dividendo), la media del football field baja a 76,2 $ (−17,8 %).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pager para repartir o dejar en pantalla al cerrar el debate. Resume tesis, cifras, valoración, riesgos y catalizadores en una sola página.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EFA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98500"/>
            <a:ext cx="10414000" cy="762000"/>
          </a:xfrm>
          <a:prstGeom prst="rect">
            <a:avLst/>
          </a:prstGeom>
          <a:noFill/>
          <a:ln/>
        </p:spPr>
        <p:txBody>
          <a:bodyPr wrap="square" lIns="0" tIns="0" rIns="0" bIns="0" rtlCol="0" anchor="t"/>
          <a:lstStyle>
            <a:lvl1pPr marL="0" indent="0" algn="l">
              <a:lnSpc>
                <a:spcPct val="115000"/>
              </a:lnSpc>
              <a:buNone/>
              <a:defRPr lang="en-US" sz="2400" dirty="0">
                <a:solidFill>
                  <a:srgbClr val="010736"/>
                </a:solidFill>
                <a:latin typeface="Jost" pitchFamily="34" charset="0"/>
                <a:ea typeface="Jost" pitchFamily="34" charset="-122"/>
                <a:cs typeface="Jost" pitchFamily="34" charset="-120"/>
              </a:defRPr>
            </a:lvl1pPr>
          </a:lstStyle>
          <a:p>
            <a:pPr marL="0" indent="0" algn="l">
              <a:lnSpc>
                <a:spcPct val="115000"/>
              </a:lnSpc>
              <a:buNone/>
            </a:pPr>
            <a:endParaRPr lang="en-US" sz="2400" dirty="0"/>
          </a:p>
        </p:txBody>
      </p:sp>
      <p:sp>
        <p:nvSpPr>
          <p:cNvPr id="3" name="Text Placeholder 2"/>
          <p:cNvSpPr>
            <a:spLocks noGrp="1"/>
          </p:cNvSpPr>
          <p:nvPr>
            <p:ph type="body" idx="101"/>
          </p:nvPr>
        </p:nvSpPr>
        <p:spPr>
          <a:xfrm>
            <a:off x="609600" y="1765300"/>
            <a:ext cx="10769600" cy="4279900"/>
          </a:xfrm>
          <a:prstGeom prst="rect">
            <a:avLst/>
          </a:prstGeom>
          <a:noFill/>
          <a:ln/>
        </p:spPr>
        <p:txBody>
          <a:bodyPr wrap="square" lIns="0" tIns="0" rIns="0" bIns="0" rtlCol="0" anchor="t"/>
          <a:lstStyle>
            <a:lvl1pPr marL="0" indent="0" algn="l">
              <a:lnSpc>
                <a:spcPct val="140000"/>
              </a:lnSpc>
              <a:buNone/>
              <a:defRPr lang="en-US" sz="1600" dirty="0">
                <a:solidFill>
                  <a:srgbClr val="010736"/>
                </a:solidFill>
                <a:latin typeface="Jost" pitchFamily="34" charset="0"/>
                <a:ea typeface="Jost" pitchFamily="34" charset="-122"/>
                <a:cs typeface="Jost"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A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98500"/>
            <a:ext cx="10414000" cy="762000"/>
          </a:xfrm>
          <a:prstGeom prst="rect">
            <a:avLst/>
          </a:prstGeom>
          <a:noFill/>
          <a:ln/>
        </p:spPr>
        <p:txBody>
          <a:bodyPr wrap="square" lIns="0" tIns="0" rIns="0" bIns="0" rtlCol="0" anchor="t"/>
          <a:lstStyle>
            <a:lvl1pPr marL="0" indent="0" algn="l">
              <a:lnSpc>
                <a:spcPct val="115000"/>
              </a:lnSpc>
              <a:buNone/>
              <a:defRPr lang="en-US" sz="2400" dirty="0">
                <a:solidFill>
                  <a:srgbClr val="010736"/>
                </a:solidFill>
                <a:latin typeface="Jost" pitchFamily="34" charset="0"/>
                <a:ea typeface="Jost" pitchFamily="34" charset="-122"/>
                <a:cs typeface="Jost" pitchFamily="34" charset="-120"/>
              </a:defRPr>
            </a:lvl1pPr>
          </a:lstStyle>
          <a:p>
            <a:pPr marL="0" indent="0" algn="l">
              <a:lnSpc>
                <a:spcPct val="115000"/>
              </a:lnSpc>
              <a:buNone/>
            </a:pPr>
            <a:endParaRPr lang="en-US" sz="2400" dirty="0"/>
          </a:p>
        </p:txBody>
      </p:sp>
      <p:sp>
        <p:nvSpPr>
          <p:cNvPr id="3" name="Text Placeholder 2"/>
          <p:cNvSpPr>
            <a:spLocks noGrp="1"/>
          </p:cNvSpPr>
          <p:nvPr>
            <p:ph type="body" idx="101"/>
          </p:nvPr>
        </p:nvSpPr>
        <p:spPr>
          <a:xfrm>
            <a:off x="609600" y="1765300"/>
            <a:ext cx="10769600" cy="4279900"/>
          </a:xfrm>
          <a:prstGeom prst="rect">
            <a:avLst/>
          </a:prstGeom>
          <a:noFill/>
          <a:ln/>
        </p:spPr>
        <p:txBody>
          <a:bodyPr wrap="square" lIns="0" tIns="0" rIns="0" bIns="0" rtlCol="0" anchor="t"/>
          <a:lstStyle>
            <a:lvl1pPr marL="0" indent="0" algn="l">
              <a:lnSpc>
                <a:spcPct val="140000"/>
              </a:lnSpc>
              <a:buNone/>
              <a:defRPr lang="en-US" sz="1600" dirty="0">
                <a:solidFill>
                  <a:srgbClr val="010736"/>
                </a:solidFill>
                <a:latin typeface="Jost" pitchFamily="34" charset="0"/>
                <a:ea typeface="Jost" pitchFamily="34" charset="-122"/>
                <a:cs typeface="Jost"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93700"/>
            <a:ext cx="763588" cy="406400"/>
          </a:xfrm>
          <a:prstGeom prst="rect">
            <a:avLst/>
          </a:prstGeom>
          <a:noFill/>
          <a:ln/>
        </p:spPr>
        <p:txBody>
          <a:bodyPr wrap="square" lIns="0" tIns="0" rIns="0" bIns="0" rtlCol="0" anchor="t">
            <a:normAutofit fontScale="92500" lnSpcReduction="20000"/>
          </a:bodyPr>
          <a:lstStyle/>
          <a:p>
            <a:r>
              <a:rPr lang="en-US" sz="3000" b="1" kern="0" spc="-50" dirty="0">
                <a:solidFill>
                  <a:srgbClr val="010736"/>
                </a:solidFill>
                <a:latin typeface="Jost" pitchFamily="34" charset="0"/>
                <a:ea typeface="Jost" pitchFamily="34" charset="-122"/>
                <a:cs typeface="Jost" pitchFamily="34" charset="-120"/>
              </a:rPr>
              <a:t>A</a:t>
            </a:r>
            <a:r>
              <a:rPr lang="en-US" sz="3000" b="1" kern="0" spc="-50" dirty="0">
                <a:solidFill>
                  <a:srgbClr val="010736"/>
                </a:solidFill>
                <a:latin typeface="Jost" pitchFamily="34" charset="0"/>
              </a:rPr>
              <a:t>&amp;E</a:t>
            </a:r>
            <a:r>
              <a:rPr lang="en-US" sz="3200" dirty="0"/>
              <a:t> </a:t>
            </a:r>
            <a:endParaRPr lang="en-US" sz="3000" dirty="0"/>
          </a:p>
        </p:txBody>
      </p:sp>
      <p:sp>
        <p:nvSpPr>
          <p:cNvPr id="3" name="Shape 1"/>
          <p:cNvSpPr/>
          <p:nvPr/>
        </p:nvSpPr>
        <p:spPr>
          <a:xfrm>
            <a:off x="1396636" y="345829"/>
            <a:ext cx="19050" cy="406400"/>
          </a:xfrm>
          <a:prstGeom prst="rect">
            <a:avLst/>
          </a:prstGeom>
          <a:solidFill>
            <a:srgbClr val="010736"/>
          </a:solidFill>
          <a:ln/>
        </p:spPr>
        <p:txBody>
          <a:bodyPr/>
          <a:lstStyle/>
          <a:p>
            <a:endParaRPr lang="en-US"/>
          </a:p>
        </p:txBody>
      </p:sp>
      <p:sp>
        <p:nvSpPr>
          <p:cNvPr id="4" name="Text 2"/>
          <p:cNvSpPr/>
          <p:nvPr/>
        </p:nvSpPr>
        <p:spPr>
          <a:xfrm>
            <a:off x="1506538" y="425450"/>
            <a:ext cx="6939558" cy="342900"/>
          </a:xfrm>
          <a:prstGeom prst="rect">
            <a:avLst/>
          </a:prstGeom>
          <a:noFill/>
          <a:ln/>
        </p:spPr>
        <p:txBody>
          <a:bodyPr wrap="square" lIns="0" tIns="0" rIns="0" bIns="0" rtlCol="0" anchor="t">
            <a:normAutofit/>
          </a:bodyPr>
          <a:lstStyle/>
          <a:p>
            <a:pPr marL="0" indent="0" algn="l">
              <a:lnSpc>
                <a:spcPts val="2500"/>
              </a:lnSpc>
              <a:buNone/>
            </a:pPr>
            <a:r>
              <a:rPr lang="en-US" sz="2500" kern="0" spc="700" dirty="0">
                <a:solidFill>
                  <a:srgbClr val="5A5C77"/>
                </a:solidFill>
                <a:latin typeface="Jost" pitchFamily="34" charset="0"/>
                <a:ea typeface="Jost" pitchFamily="34" charset="-122"/>
                <a:cs typeface="Jost" pitchFamily="34" charset="-120"/>
              </a:rPr>
              <a:t>RESUMEN 3-STATEMENT MODEL</a:t>
            </a:r>
            <a:endParaRPr lang="en-US" sz="2500" dirty="0"/>
          </a:p>
        </p:txBody>
      </p:sp>
      <p:sp>
        <p:nvSpPr>
          <p:cNvPr id="5" name="Text 3"/>
          <p:cNvSpPr/>
          <p:nvPr/>
        </p:nvSpPr>
        <p:spPr>
          <a:xfrm>
            <a:off x="609600" y="1003300"/>
            <a:ext cx="11301984"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2396F"/>
                </a:solidFill>
                <a:latin typeface="Jost" pitchFamily="34" charset="0"/>
                <a:ea typeface="Jost" pitchFamily="34" charset="-122"/>
                <a:cs typeface="Jost" pitchFamily="34" charset="-120"/>
              </a:rPr>
              <a:t>Tesis de inversión</a:t>
            </a:r>
            <a:r>
              <a:rPr lang="en-US" sz="1200" kern="0" spc="50" dirty="0">
                <a:solidFill>
                  <a:srgbClr val="8590A9"/>
                </a:solidFill>
                <a:latin typeface="Jost" pitchFamily="34" charset="0"/>
                <a:ea typeface="Jost" pitchFamily="34" charset="-122"/>
                <a:cs typeface="Jost" pitchFamily="34" charset="-120"/>
              </a:rPr>
              <a:t> |</a:t>
            </a:r>
            <a:r>
              <a:rPr lang="en-US" sz="1200" kern="0" spc="50" dirty="0">
                <a:solidFill>
                  <a:srgbClr val="22396F"/>
                </a:solidFill>
                <a:latin typeface="Jost" pitchFamily="34" charset="0"/>
                <a:ea typeface="Jost" pitchFamily="34" charset="-122"/>
                <a:cs typeface="Jost" pitchFamily="34" charset="-120"/>
              </a:rPr>
              <a:t> The Coca-Cola Company (NYSE: KO)</a:t>
            </a:r>
            <a:r>
              <a:rPr lang="en-US" sz="1200" kern="0" spc="50" dirty="0">
                <a:solidFill>
                  <a:srgbClr val="8590A9"/>
                </a:solidFill>
                <a:latin typeface="Jost" pitchFamily="34" charset="0"/>
                <a:ea typeface="Jost" pitchFamily="34" charset="-122"/>
                <a:cs typeface="Jost" pitchFamily="34" charset="-120"/>
              </a:rPr>
              <a:t> |</a:t>
            </a:r>
            <a:r>
              <a:rPr lang="en-US" sz="1200" kern="0" spc="50" dirty="0">
                <a:solidFill>
                  <a:srgbClr val="22396F"/>
                </a:solidFill>
                <a:latin typeface="Jost" pitchFamily="34" charset="0"/>
                <a:ea typeface="Jost" pitchFamily="34" charset="-122"/>
                <a:cs typeface="Jost" pitchFamily="34" charset="-120"/>
              </a:rPr>
              <a:t> Consumo básico · Bebidas</a:t>
            </a:r>
            <a:r>
              <a:rPr lang="en-US" sz="1200" kern="0" spc="50" dirty="0">
                <a:solidFill>
                  <a:srgbClr val="8590A9"/>
                </a:solidFill>
                <a:latin typeface="Jost" pitchFamily="34" charset="0"/>
                <a:ea typeface="Jost" pitchFamily="34" charset="-122"/>
                <a:cs typeface="Jost" pitchFamily="34" charset="-120"/>
              </a:rPr>
              <a:t> |</a:t>
            </a:r>
            <a:r>
              <a:rPr lang="en-US" sz="1200" kern="0" spc="50" dirty="0">
                <a:solidFill>
                  <a:srgbClr val="22396F"/>
                </a:solidFill>
                <a:latin typeface="Jost" pitchFamily="34" charset="0"/>
                <a:ea typeface="Jost" pitchFamily="34" charset="-122"/>
                <a:cs typeface="Jost" pitchFamily="34" charset="-120"/>
              </a:rPr>
              <a:t> </a:t>
            </a:r>
            <a:r>
              <a:rPr lang="en-US" sz="1200" b="1" kern="0" spc="50" dirty="0">
                <a:solidFill>
                  <a:srgbClr val="22396F"/>
                </a:solidFill>
                <a:latin typeface="Jost" pitchFamily="34" charset="0"/>
                <a:ea typeface="Jost" pitchFamily="34" charset="-122"/>
                <a:cs typeface="Jost" pitchFamily="34" charset="-120"/>
              </a:rPr>
              <a:t>25 de octubre de 2026</a:t>
            </a:r>
            <a:endParaRPr lang="en-US" sz="1200" dirty="0"/>
          </a:p>
        </p:txBody>
      </p:sp>
      <p:sp>
        <p:nvSpPr>
          <p:cNvPr id="6" name="Shape 4"/>
          <p:cNvSpPr/>
          <p:nvPr/>
        </p:nvSpPr>
        <p:spPr>
          <a:xfrm>
            <a:off x="619125" y="1419225"/>
            <a:ext cx="10953750" cy="4514850"/>
          </a:xfrm>
          <a:prstGeom prst="rect">
            <a:avLst/>
          </a:prstGeom>
          <a:noFill/>
          <a:ln w="19050">
            <a:solidFill>
              <a:srgbClr val="010736"/>
            </a:solidFill>
            <a:prstDash val="solid"/>
          </a:ln>
        </p:spPr>
        <p:txBody>
          <a:bodyPr/>
          <a:lstStyle/>
          <a:p>
            <a:endParaRPr lang="en-US"/>
          </a:p>
        </p:txBody>
      </p:sp>
      <p:sp>
        <p:nvSpPr>
          <p:cNvPr id="7" name="Text 5"/>
          <p:cNvSpPr/>
          <p:nvPr/>
        </p:nvSpPr>
        <p:spPr>
          <a:xfrm>
            <a:off x="1066800" y="1905000"/>
            <a:ext cx="680212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CUESTIÓN CLAVE</a:t>
            </a:r>
            <a:endParaRPr lang="en-US" sz="1200" dirty="0"/>
          </a:p>
        </p:txBody>
      </p:sp>
      <p:sp>
        <p:nvSpPr>
          <p:cNvPr id="8" name="Text 6"/>
          <p:cNvSpPr/>
          <p:nvPr/>
        </p:nvSpPr>
        <p:spPr>
          <a:xfrm>
            <a:off x="1066800" y="2245320"/>
            <a:ext cx="6802120" cy="848320"/>
          </a:xfrm>
          <a:prstGeom prst="rect">
            <a:avLst/>
          </a:prstGeom>
          <a:noFill/>
          <a:ln/>
        </p:spPr>
        <p:txBody>
          <a:bodyPr wrap="square" lIns="0" tIns="0" rIns="0" bIns="0" rtlCol="0" anchor="t">
            <a:normAutofit/>
          </a:bodyPr>
          <a:lstStyle/>
          <a:p>
            <a:pPr marL="0" indent="0" algn="l">
              <a:lnSpc>
                <a:spcPts val="3240"/>
              </a:lnSpc>
              <a:buNone/>
            </a:pPr>
            <a:r>
              <a:rPr lang="en-US" sz="2400" i="1" dirty="0">
                <a:solidFill>
                  <a:srgbClr val="010736"/>
                </a:solidFill>
                <a:latin typeface="EB Garamond" pitchFamily="18" charset="0"/>
                <a:ea typeface="EB Garamond" pitchFamily="18" charset="-122"/>
                <a:cs typeface="EB Garamond" pitchFamily="18" charset="-120"/>
              </a:rPr>
              <a:t>¿Justifica la calidad del negocio de Coca-Cola pagar 92,7 $ por acción, casi 30 veces sus beneficios?</a:t>
            </a:r>
            <a:endParaRPr lang="en-US" sz="2400" dirty="0"/>
          </a:p>
        </p:txBody>
      </p:sp>
      <p:sp>
        <p:nvSpPr>
          <p:cNvPr id="9" name="Shape 7"/>
          <p:cNvSpPr/>
          <p:nvPr/>
        </p:nvSpPr>
        <p:spPr>
          <a:xfrm>
            <a:off x="9598269" y="2362200"/>
            <a:ext cx="685800" cy="4495800"/>
          </a:xfrm>
          <a:prstGeom prst="rect">
            <a:avLst/>
          </a:prstGeom>
          <a:solidFill>
            <a:srgbClr val="0D1C42"/>
          </a:solidFill>
          <a:ln/>
        </p:spPr>
        <p:txBody>
          <a:bodyPr/>
          <a:lstStyle/>
          <a:p>
            <a:endParaRPr lang="en-US" dirty="0"/>
          </a:p>
        </p:txBody>
      </p:sp>
      <p:sp>
        <p:nvSpPr>
          <p:cNvPr id="11" name="Text 9"/>
          <p:cNvSpPr/>
          <p:nvPr/>
        </p:nvSpPr>
        <p:spPr>
          <a:xfrm rot="16200000">
            <a:off x="8749811" y="5107843"/>
            <a:ext cx="2357315" cy="711200"/>
          </a:xfrm>
          <a:prstGeom prst="rect">
            <a:avLst/>
          </a:prstGeom>
          <a:noFill/>
          <a:ln/>
        </p:spPr>
        <p:txBody>
          <a:bodyPr wrap="square" lIns="0" tIns="0" rIns="0" bIns="0" rtlCol="0" anchor="t">
            <a:normAutofit/>
          </a:bodyPr>
          <a:lstStyle/>
          <a:p>
            <a:pPr marL="0" indent="0" algn="ctr">
              <a:lnSpc>
                <a:spcPts val="5408"/>
              </a:lnSpc>
              <a:buNone/>
            </a:pPr>
            <a:r>
              <a:rPr lang="en-US" sz="3200" b="1" dirty="0">
                <a:solidFill>
                  <a:srgbClr val="FCF1D0"/>
                </a:solidFill>
                <a:latin typeface="Jost" pitchFamily="34" charset="0"/>
                <a:ea typeface="Jost" pitchFamily="34" charset="-122"/>
                <a:cs typeface="Jost" pitchFamily="34" charset="-120"/>
              </a:rPr>
              <a:t>Cola - Cola</a:t>
            </a:r>
            <a:endParaRPr lang="en-US" sz="3200" dirty="0"/>
          </a:p>
        </p:txBody>
      </p:sp>
      <p:sp>
        <p:nvSpPr>
          <p:cNvPr id="12" name="Text 10"/>
          <p:cNvSpPr/>
          <p:nvPr/>
        </p:nvSpPr>
        <p:spPr>
          <a:xfrm>
            <a:off x="609600" y="6177260"/>
            <a:ext cx="3071713"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2396F"/>
                </a:solidFill>
                <a:latin typeface="Jost" pitchFamily="34" charset="0"/>
                <a:ea typeface="Jost" pitchFamily="34" charset="-122"/>
                <a:cs typeface="Jost" pitchFamily="34" charset="-120"/>
              </a:rPr>
              <a:t>2026</a:t>
            </a:r>
            <a:r>
              <a:rPr lang="en-US" sz="1200" kern="0" spc="50" dirty="0">
                <a:solidFill>
                  <a:srgbClr val="8590A9"/>
                </a:solidFill>
                <a:latin typeface="Jost" pitchFamily="34" charset="0"/>
                <a:ea typeface="Jost" pitchFamily="34" charset="-122"/>
                <a:cs typeface="Jost" pitchFamily="34" charset="-120"/>
              </a:rPr>
              <a:t> </a:t>
            </a:r>
            <a:endParaRPr lang="en-US" sz="1200" dirty="0"/>
          </a:p>
        </p:txBody>
      </p:sp>
      <p:sp>
        <p:nvSpPr>
          <p:cNvPr id="13" name="Text 11"/>
          <p:cNvSpPr/>
          <p:nvPr/>
        </p:nvSpPr>
        <p:spPr>
          <a:xfrm>
            <a:off x="1160842" y="6146800"/>
            <a:ext cx="2581632" cy="299641"/>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5A5C77"/>
                </a:solidFill>
                <a:latin typeface="Pinyon Script" pitchFamily="18" charset="0"/>
                <a:ea typeface="Pinyon Script" pitchFamily="18" charset="-122"/>
                <a:cs typeface="Pinyon Script" pitchFamily="18" charset="-120"/>
              </a:rPr>
              <a:t>Carlos Arizcuren Elizondo</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238446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RESUMEN EJECUTIVO</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err="1">
                <a:solidFill>
                  <a:srgbClr val="010736"/>
                </a:solidFill>
                <a:latin typeface="Jost" pitchFamily="34" charset="0"/>
                <a:ea typeface="Jost" pitchFamily="34" charset="-122"/>
                <a:cs typeface="Jost" pitchFamily="34" charset="-120"/>
              </a:rPr>
              <a:t>Recomendación</a:t>
            </a:r>
            <a:r>
              <a:rPr lang="en-US" sz="2400" b="0" i="0" kern="0" spc="-25" dirty="0">
                <a:solidFill>
                  <a:srgbClr val="010736"/>
                </a:solidFill>
                <a:latin typeface="Jost" pitchFamily="34" charset="0"/>
                <a:ea typeface="Jost" pitchFamily="34" charset="-122"/>
                <a:cs typeface="Jost" pitchFamily="34" charset="-120"/>
              </a:rPr>
              <a:t>: </a:t>
            </a:r>
            <a:r>
              <a:rPr lang="en-US" kern="0" spc="-25" dirty="0" err="1"/>
              <a:t>M</a:t>
            </a:r>
            <a:r>
              <a:rPr lang="en-US" sz="2400" b="0" i="0" kern="0" spc="-25" dirty="0" err="1">
                <a:solidFill>
                  <a:srgbClr val="010736"/>
                </a:solidFill>
                <a:latin typeface="Jost" pitchFamily="34" charset="0"/>
                <a:ea typeface="Jost" pitchFamily="34" charset="-122"/>
                <a:cs typeface="Jost" pitchFamily="34" charset="-120"/>
              </a:rPr>
              <a:t>antener</a:t>
            </a:r>
            <a:r>
              <a:rPr lang="en-US" sz="2400" b="0" i="0" kern="0" spc="-25" dirty="0">
                <a:solidFill>
                  <a:srgbClr val="010736"/>
                </a:solidFill>
                <a:latin typeface="Jost" pitchFamily="34" charset="0"/>
                <a:ea typeface="Jost" pitchFamily="34" charset="-122"/>
                <a:cs typeface="Jost" pitchFamily="34" charset="-120"/>
              </a:rPr>
              <a:t>, el valor intrínseco de 87,7 $ por acción queda un 5,5 % por debajo de la cotización de 92,7 $</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Shape 6"/>
          <p:cNvSpPr/>
          <p:nvPr/>
        </p:nvSpPr>
        <p:spPr>
          <a:xfrm>
            <a:off x="609600" y="1905000"/>
            <a:ext cx="6604000" cy="3937000"/>
          </a:xfrm>
          <a:prstGeom prst="rect">
            <a:avLst/>
          </a:prstGeom>
          <a:solidFill>
            <a:srgbClr val="FCF1D0"/>
          </a:solidFill>
          <a:ln/>
        </p:spPr>
        <p:txBody>
          <a:bodyPr/>
          <a:lstStyle/>
          <a:p>
            <a:endParaRPr lang="en-US"/>
          </a:p>
        </p:txBody>
      </p:sp>
      <p:sp>
        <p:nvSpPr>
          <p:cNvPr id="9" name="Shape 7"/>
          <p:cNvSpPr/>
          <p:nvPr/>
        </p:nvSpPr>
        <p:spPr>
          <a:xfrm>
            <a:off x="609600" y="1914525"/>
            <a:ext cx="6604000" cy="0"/>
          </a:xfrm>
          <a:prstGeom prst="line">
            <a:avLst/>
          </a:prstGeom>
          <a:noFill/>
          <a:ln w="19050">
            <a:solidFill>
              <a:srgbClr val="010736"/>
            </a:solidFill>
            <a:prstDash val="solid"/>
          </a:ln>
        </p:spPr>
        <p:txBody>
          <a:bodyPr/>
          <a:lstStyle/>
          <a:p>
            <a:endParaRPr lang="en-US"/>
          </a:p>
        </p:txBody>
      </p:sp>
      <p:sp>
        <p:nvSpPr>
          <p:cNvPr id="10" name="Text 8"/>
          <p:cNvSpPr/>
          <p:nvPr/>
        </p:nvSpPr>
        <p:spPr>
          <a:xfrm>
            <a:off x="863600" y="2114550"/>
            <a:ext cx="627888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MENSAJES CLAVE</a:t>
            </a:r>
            <a:endParaRPr lang="en-US" sz="1200" dirty="0"/>
          </a:p>
        </p:txBody>
      </p:sp>
      <p:sp>
        <p:nvSpPr>
          <p:cNvPr id="11" name="Text 9"/>
          <p:cNvSpPr/>
          <p:nvPr/>
        </p:nvSpPr>
        <p:spPr>
          <a:xfrm>
            <a:off x="863600" y="2505670"/>
            <a:ext cx="431800" cy="540941"/>
          </a:xfrm>
          <a:prstGeom prst="rect">
            <a:avLst/>
          </a:prstGeom>
          <a:noFill/>
          <a:ln/>
        </p:spPr>
        <p:txBody>
          <a:bodyPr wrap="square" lIns="0" tIns="0" rIns="0" bIns="0" rtlCol="0" anchor="t">
            <a:normAutofit/>
          </a:bodyPr>
          <a:lstStyle/>
          <a:p>
            <a:pPr marL="0" indent="0" algn="l">
              <a:lnSpc>
                <a:spcPts val="1980"/>
              </a:lnSpc>
              <a:buNone/>
            </a:pPr>
            <a:r>
              <a:rPr lang="en-US" sz="1800" dirty="0">
                <a:solidFill>
                  <a:srgbClr val="22396F"/>
                </a:solidFill>
                <a:latin typeface="Jost" pitchFamily="34" charset="0"/>
                <a:ea typeface="Jost" pitchFamily="34" charset="-122"/>
                <a:cs typeface="Jost" pitchFamily="34" charset="-120"/>
              </a:rPr>
              <a:t>01</a:t>
            </a:r>
            <a:endParaRPr lang="en-US" sz="1800" dirty="0"/>
          </a:p>
        </p:txBody>
      </p:sp>
      <p:sp>
        <p:nvSpPr>
          <p:cNvPr id="12" name="Text 10"/>
          <p:cNvSpPr/>
          <p:nvPr/>
        </p:nvSpPr>
        <p:spPr>
          <a:xfrm>
            <a:off x="1371600" y="2505670"/>
            <a:ext cx="5755640" cy="540941"/>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010736"/>
                </a:solidFill>
                <a:latin typeface="EB Garamond" pitchFamily="18" charset="0"/>
                <a:ea typeface="EB Garamond" pitchFamily="18" charset="-122"/>
                <a:cs typeface="EB Garamond" pitchFamily="18" charset="-120"/>
              </a:rPr>
              <a:t>Negocio de calidad excepcional.</a:t>
            </a:r>
            <a:r>
              <a:rPr lang="en-US" sz="1450" dirty="0">
                <a:solidFill>
                  <a:srgbClr val="010736"/>
                </a:solidFill>
                <a:latin typeface="EB Garamond" pitchFamily="18" charset="0"/>
                <a:ea typeface="EB Garamond" pitchFamily="18" charset="-122"/>
                <a:cs typeface="EB Garamond" pitchFamily="18" charset="-120"/>
              </a:rPr>
              <a:t> Modelo de concentrado asset-light, con un margen bruto del 62,0 % y un ROIC del 15,8 % en 2025.</a:t>
            </a:r>
            <a:endParaRPr lang="en-US" sz="1450" dirty="0"/>
          </a:p>
        </p:txBody>
      </p:sp>
      <p:sp>
        <p:nvSpPr>
          <p:cNvPr id="13" name="Shape 11"/>
          <p:cNvSpPr/>
          <p:nvPr/>
        </p:nvSpPr>
        <p:spPr>
          <a:xfrm>
            <a:off x="863600" y="3202186"/>
            <a:ext cx="6096000" cy="0"/>
          </a:xfrm>
          <a:prstGeom prst="line">
            <a:avLst/>
          </a:prstGeom>
          <a:noFill/>
          <a:ln w="6350">
            <a:solidFill>
              <a:srgbClr val="D0CECE"/>
            </a:solidFill>
            <a:prstDash val="solid"/>
          </a:ln>
        </p:spPr>
        <p:txBody>
          <a:bodyPr/>
          <a:lstStyle/>
          <a:p>
            <a:endParaRPr lang="en-US"/>
          </a:p>
        </p:txBody>
      </p:sp>
      <p:sp>
        <p:nvSpPr>
          <p:cNvPr id="14" name="Text 12"/>
          <p:cNvSpPr/>
          <p:nvPr/>
        </p:nvSpPr>
        <p:spPr>
          <a:xfrm>
            <a:off x="863600" y="3332361"/>
            <a:ext cx="431800" cy="540941"/>
          </a:xfrm>
          <a:prstGeom prst="rect">
            <a:avLst/>
          </a:prstGeom>
          <a:noFill/>
          <a:ln/>
        </p:spPr>
        <p:txBody>
          <a:bodyPr wrap="square" lIns="0" tIns="0" rIns="0" bIns="0" rtlCol="0" anchor="t">
            <a:normAutofit/>
          </a:bodyPr>
          <a:lstStyle/>
          <a:p>
            <a:pPr marL="0" indent="0" algn="l">
              <a:lnSpc>
                <a:spcPts val="1980"/>
              </a:lnSpc>
              <a:buNone/>
            </a:pPr>
            <a:r>
              <a:rPr lang="en-US" sz="1800" dirty="0">
                <a:solidFill>
                  <a:srgbClr val="22396F"/>
                </a:solidFill>
                <a:latin typeface="Jost" pitchFamily="34" charset="0"/>
                <a:ea typeface="Jost" pitchFamily="34" charset="-122"/>
                <a:cs typeface="Jost" pitchFamily="34" charset="-120"/>
              </a:rPr>
              <a:t>02</a:t>
            </a:r>
            <a:endParaRPr lang="en-US" sz="1800" dirty="0"/>
          </a:p>
        </p:txBody>
      </p:sp>
      <p:sp>
        <p:nvSpPr>
          <p:cNvPr id="15" name="Text 13"/>
          <p:cNvSpPr/>
          <p:nvPr/>
        </p:nvSpPr>
        <p:spPr>
          <a:xfrm>
            <a:off x="1371600" y="3332361"/>
            <a:ext cx="5755640" cy="540941"/>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010736"/>
                </a:solidFill>
                <a:latin typeface="EB Garamond" pitchFamily="18" charset="0"/>
                <a:ea typeface="EB Garamond" pitchFamily="18" charset="-122"/>
                <a:cs typeface="EB Garamond" pitchFamily="18" charset="-120"/>
              </a:rPr>
              <a:t>Crecimiento maduro.</a:t>
            </a:r>
            <a:r>
              <a:rPr lang="en-US" sz="1450" dirty="0">
                <a:solidFill>
                  <a:srgbClr val="010736"/>
                </a:solidFill>
                <a:latin typeface="EB Garamond" pitchFamily="18" charset="0"/>
                <a:ea typeface="EB Garamond" pitchFamily="18" charset="-122"/>
                <a:cs typeface="EB Garamond" pitchFamily="18" charset="-120"/>
              </a:rPr>
              <a:t> El modelo proyecta ingresos al 4,2 % anual y un margen EBITDA que sube del 30,7 % al 35,1 % entre 2026 y 2035.</a:t>
            </a:r>
            <a:endParaRPr lang="en-US" sz="1450" dirty="0"/>
          </a:p>
        </p:txBody>
      </p:sp>
      <p:sp>
        <p:nvSpPr>
          <p:cNvPr id="16" name="Shape 14"/>
          <p:cNvSpPr/>
          <p:nvPr/>
        </p:nvSpPr>
        <p:spPr>
          <a:xfrm>
            <a:off x="863600" y="4028877"/>
            <a:ext cx="6096000" cy="0"/>
          </a:xfrm>
          <a:prstGeom prst="line">
            <a:avLst/>
          </a:prstGeom>
          <a:noFill/>
          <a:ln w="6350">
            <a:solidFill>
              <a:srgbClr val="D0CECE"/>
            </a:solidFill>
            <a:prstDash val="solid"/>
          </a:ln>
        </p:spPr>
        <p:txBody>
          <a:bodyPr/>
          <a:lstStyle/>
          <a:p>
            <a:endParaRPr lang="en-US"/>
          </a:p>
        </p:txBody>
      </p:sp>
      <p:sp>
        <p:nvSpPr>
          <p:cNvPr id="17" name="Text 15"/>
          <p:cNvSpPr/>
          <p:nvPr/>
        </p:nvSpPr>
        <p:spPr>
          <a:xfrm>
            <a:off x="863600" y="4159052"/>
            <a:ext cx="431800" cy="798711"/>
          </a:xfrm>
          <a:prstGeom prst="rect">
            <a:avLst/>
          </a:prstGeom>
          <a:noFill/>
          <a:ln/>
        </p:spPr>
        <p:txBody>
          <a:bodyPr wrap="square" lIns="0" tIns="0" rIns="0" bIns="0" rtlCol="0" anchor="t">
            <a:normAutofit/>
          </a:bodyPr>
          <a:lstStyle/>
          <a:p>
            <a:pPr marL="0" indent="0" algn="l">
              <a:lnSpc>
                <a:spcPts val="1980"/>
              </a:lnSpc>
              <a:buNone/>
            </a:pPr>
            <a:r>
              <a:rPr lang="en-US" sz="1800" dirty="0">
                <a:solidFill>
                  <a:srgbClr val="22396F"/>
                </a:solidFill>
                <a:latin typeface="Jost" pitchFamily="34" charset="0"/>
                <a:ea typeface="Jost" pitchFamily="34" charset="-122"/>
                <a:cs typeface="Jost" pitchFamily="34" charset="-120"/>
              </a:rPr>
              <a:t>03</a:t>
            </a:r>
            <a:endParaRPr lang="en-US" sz="1800" dirty="0"/>
          </a:p>
        </p:txBody>
      </p:sp>
      <p:sp>
        <p:nvSpPr>
          <p:cNvPr id="18" name="Text 16"/>
          <p:cNvSpPr/>
          <p:nvPr/>
        </p:nvSpPr>
        <p:spPr>
          <a:xfrm>
            <a:off x="1371600" y="4159052"/>
            <a:ext cx="5842000" cy="798711"/>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010736"/>
                </a:solidFill>
                <a:latin typeface="EB Garamond" pitchFamily="18" charset="0"/>
                <a:ea typeface="EB Garamond" pitchFamily="18" charset="-122"/>
                <a:cs typeface="EB Garamond" pitchFamily="18" charset="-120"/>
              </a:rPr>
              <a:t>Precio exigente.</a:t>
            </a:r>
            <a:r>
              <a:rPr lang="en-US" sz="1450" dirty="0">
                <a:solidFill>
                  <a:srgbClr val="010736"/>
                </a:solidFill>
                <a:latin typeface="EB Garamond" pitchFamily="18" charset="0"/>
                <a:ea typeface="EB Garamond" pitchFamily="18" charset="-122"/>
                <a:cs typeface="EB Garamond" pitchFamily="18" charset="-120"/>
              </a:rPr>
              <a:t> La cotización ya descuenta el DCF por múltiplo de salida (92,1 $); el DCF por crecimiento perpetuo (88,0 $) y el DDM (82,8 $) quedan por debajo.</a:t>
            </a:r>
            <a:endParaRPr lang="en-US" sz="1450" dirty="0"/>
          </a:p>
        </p:txBody>
      </p:sp>
      <p:sp>
        <p:nvSpPr>
          <p:cNvPr id="19" name="Shape 17"/>
          <p:cNvSpPr/>
          <p:nvPr/>
        </p:nvSpPr>
        <p:spPr>
          <a:xfrm>
            <a:off x="7569200" y="1909762"/>
            <a:ext cx="4013200" cy="0"/>
          </a:xfrm>
          <a:prstGeom prst="line">
            <a:avLst/>
          </a:prstGeom>
          <a:noFill/>
          <a:ln w="9525">
            <a:solidFill>
              <a:srgbClr val="010736"/>
            </a:solidFill>
            <a:prstDash val="solid"/>
          </a:ln>
        </p:spPr>
        <p:txBody>
          <a:bodyPr/>
          <a:lstStyle/>
          <a:p>
            <a:endParaRPr lang="en-US"/>
          </a:p>
        </p:txBody>
      </p:sp>
      <p:sp>
        <p:nvSpPr>
          <p:cNvPr id="20" name="Shape 18"/>
          <p:cNvSpPr/>
          <p:nvPr/>
        </p:nvSpPr>
        <p:spPr>
          <a:xfrm>
            <a:off x="7569200" y="3199606"/>
            <a:ext cx="4013200" cy="0"/>
          </a:xfrm>
          <a:prstGeom prst="line">
            <a:avLst/>
          </a:prstGeom>
          <a:noFill/>
          <a:ln w="6350">
            <a:solidFill>
              <a:srgbClr val="D0CECE"/>
            </a:solidFill>
            <a:prstDash val="solid"/>
          </a:ln>
        </p:spPr>
        <p:txBody>
          <a:bodyPr/>
          <a:lstStyle/>
          <a:p>
            <a:endParaRPr lang="en-US"/>
          </a:p>
        </p:txBody>
      </p:sp>
      <p:sp>
        <p:nvSpPr>
          <p:cNvPr id="21" name="Text 19"/>
          <p:cNvSpPr/>
          <p:nvPr/>
        </p:nvSpPr>
        <p:spPr>
          <a:xfrm>
            <a:off x="7569200" y="2051050"/>
            <a:ext cx="4133596"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PRECIO OBJETIVO</a:t>
            </a:r>
            <a:endParaRPr lang="en-US" sz="1200" dirty="0"/>
          </a:p>
        </p:txBody>
      </p:sp>
      <p:sp>
        <p:nvSpPr>
          <p:cNvPr id="22" name="Text 20"/>
          <p:cNvSpPr/>
          <p:nvPr/>
        </p:nvSpPr>
        <p:spPr>
          <a:xfrm>
            <a:off x="7569200" y="2302470"/>
            <a:ext cx="4133596"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010736"/>
                </a:solidFill>
                <a:latin typeface="Jost" pitchFamily="34" charset="0"/>
                <a:ea typeface="Jost" pitchFamily="34" charset="-122"/>
                <a:cs typeface="Jost" pitchFamily="34" charset="-120"/>
              </a:rPr>
              <a:t>87,7 </a:t>
            </a:r>
            <a:r>
              <a:rPr lang="en-US" sz="3600" dirty="0">
                <a:solidFill>
                  <a:srgbClr val="5A5C77"/>
                </a:solidFill>
                <a:latin typeface="Jost" pitchFamily="34" charset="0"/>
                <a:ea typeface="Jost" pitchFamily="34" charset="-122"/>
                <a:cs typeface="Jost" pitchFamily="34" charset="-120"/>
              </a:rPr>
              <a:t>$</a:t>
            </a:r>
            <a:endParaRPr lang="en-US" sz="3600" dirty="0"/>
          </a:p>
        </p:txBody>
      </p:sp>
      <p:sp>
        <p:nvSpPr>
          <p:cNvPr id="23" name="Text 21"/>
          <p:cNvSpPr/>
          <p:nvPr/>
        </p:nvSpPr>
        <p:spPr>
          <a:xfrm>
            <a:off x="7569200" y="2843411"/>
            <a:ext cx="41335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396F"/>
                </a:solidFill>
                <a:latin typeface="Jost" pitchFamily="34" charset="0"/>
                <a:ea typeface="Jost" pitchFamily="34" charset="-122"/>
                <a:cs typeface="Jost" pitchFamily="34" charset="-120"/>
              </a:rPr>
              <a:t>Media DCF (2) y DDM</a:t>
            </a:r>
            <a:endParaRPr lang="en-US" sz="1200" dirty="0"/>
          </a:p>
        </p:txBody>
      </p:sp>
      <p:sp>
        <p:nvSpPr>
          <p:cNvPr id="24" name="Shape 22"/>
          <p:cNvSpPr/>
          <p:nvPr/>
        </p:nvSpPr>
        <p:spPr>
          <a:xfrm>
            <a:off x="7569200" y="4491038"/>
            <a:ext cx="4013200" cy="0"/>
          </a:xfrm>
          <a:prstGeom prst="line">
            <a:avLst/>
          </a:prstGeom>
          <a:noFill/>
          <a:ln w="6350">
            <a:solidFill>
              <a:srgbClr val="D0CECE"/>
            </a:solidFill>
            <a:prstDash val="solid"/>
          </a:ln>
        </p:spPr>
        <p:txBody>
          <a:bodyPr/>
          <a:lstStyle/>
          <a:p>
            <a:endParaRPr lang="en-US"/>
          </a:p>
        </p:txBody>
      </p:sp>
      <p:sp>
        <p:nvSpPr>
          <p:cNvPr id="25" name="Text 23"/>
          <p:cNvSpPr/>
          <p:nvPr/>
        </p:nvSpPr>
        <p:spPr>
          <a:xfrm>
            <a:off x="7569200" y="3342481"/>
            <a:ext cx="4133596"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POTENCIAL</a:t>
            </a:r>
            <a:endParaRPr lang="en-US" sz="1200" dirty="0"/>
          </a:p>
        </p:txBody>
      </p:sp>
      <p:sp>
        <p:nvSpPr>
          <p:cNvPr id="26" name="Text 24"/>
          <p:cNvSpPr/>
          <p:nvPr/>
        </p:nvSpPr>
        <p:spPr>
          <a:xfrm>
            <a:off x="7569200" y="3593902"/>
            <a:ext cx="4133596"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010736"/>
                </a:solidFill>
                <a:latin typeface="Jost" pitchFamily="34" charset="0"/>
                <a:ea typeface="Jost" pitchFamily="34" charset="-122"/>
                <a:cs typeface="Jost" pitchFamily="34" charset="-120"/>
              </a:rPr>
              <a:t>−5,5 </a:t>
            </a:r>
            <a:r>
              <a:rPr lang="en-US" sz="3600" dirty="0">
                <a:solidFill>
                  <a:srgbClr val="5A5C77"/>
                </a:solidFill>
                <a:latin typeface="Jost" pitchFamily="34" charset="0"/>
                <a:ea typeface="Jost" pitchFamily="34" charset="-122"/>
                <a:cs typeface="Jost" pitchFamily="34" charset="-120"/>
              </a:rPr>
              <a:t>%</a:t>
            </a:r>
            <a:endParaRPr lang="en-US" sz="3600" dirty="0"/>
          </a:p>
        </p:txBody>
      </p:sp>
      <p:sp>
        <p:nvSpPr>
          <p:cNvPr id="27" name="Text 25"/>
          <p:cNvSpPr/>
          <p:nvPr/>
        </p:nvSpPr>
        <p:spPr>
          <a:xfrm>
            <a:off x="7569200" y="4134842"/>
            <a:ext cx="41335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396F"/>
                </a:solidFill>
                <a:latin typeface="Jost" pitchFamily="34" charset="0"/>
                <a:ea typeface="Jost" pitchFamily="34" charset="-122"/>
                <a:cs typeface="Jost" pitchFamily="34" charset="-120"/>
              </a:rPr>
              <a:t>Frente a 92,7 $ por acción</a:t>
            </a:r>
            <a:endParaRPr lang="en-US" sz="1200" dirty="0"/>
          </a:p>
        </p:txBody>
      </p:sp>
      <p:sp>
        <p:nvSpPr>
          <p:cNvPr id="28" name="Shape 26"/>
          <p:cNvSpPr/>
          <p:nvPr/>
        </p:nvSpPr>
        <p:spPr>
          <a:xfrm>
            <a:off x="7569200" y="5782469"/>
            <a:ext cx="4013200" cy="0"/>
          </a:xfrm>
          <a:prstGeom prst="line">
            <a:avLst/>
          </a:prstGeom>
          <a:noFill/>
          <a:ln w="6350">
            <a:solidFill>
              <a:srgbClr val="D0CECE"/>
            </a:solidFill>
            <a:prstDash val="solid"/>
          </a:ln>
        </p:spPr>
        <p:txBody>
          <a:bodyPr/>
          <a:lstStyle/>
          <a:p>
            <a:endParaRPr lang="en-US"/>
          </a:p>
        </p:txBody>
      </p:sp>
      <p:sp>
        <p:nvSpPr>
          <p:cNvPr id="29" name="Text 27"/>
          <p:cNvSpPr/>
          <p:nvPr/>
        </p:nvSpPr>
        <p:spPr>
          <a:xfrm>
            <a:off x="7569200" y="4633913"/>
            <a:ext cx="4133596"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WACC</a:t>
            </a:r>
            <a:endParaRPr lang="en-US" sz="1200" dirty="0"/>
          </a:p>
        </p:txBody>
      </p:sp>
      <p:sp>
        <p:nvSpPr>
          <p:cNvPr id="30" name="Text 28"/>
          <p:cNvSpPr/>
          <p:nvPr/>
        </p:nvSpPr>
        <p:spPr>
          <a:xfrm>
            <a:off x="7569200" y="4885333"/>
            <a:ext cx="4133596"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010736"/>
                </a:solidFill>
                <a:latin typeface="Jost" pitchFamily="34" charset="0"/>
                <a:ea typeface="Jost" pitchFamily="34" charset="-122"/>
                <a:cs typeface="Jost" pitchFamily="34" charset="-120"/>
              </a:rPr>
              <a:t>6,0 </a:t>
            </a:r>
            <a:r>
              <a:rPr lang="en-US" sz="3600" dirty="0">
                <a:solidFill>
                  <a:srgbClr val="5A5C77"/>
                </a:solidFill>
                <a:latin typeface="Jost" pitchFamily="34" charset="0"/>
                <a:ea typeface="Jost" pitchFamily="34" charset="-122"/>
                <a:cs typeface="Jost" pitchFamily="34" charset="-120"/>
              </a:rPr>
              <a:t>%</a:t>
            </a:r>
            <a:endParaRPr lang="en-US" sz="3600" dirty="0"/>
          </a:p>
        </p:txBody>
      </p:sp>
      <p:sp>
        <p:nvSpPr>
          <p:cNvPr id="31" name="Text 29"/>
          <p:cNvSpPr/>
          <p:nvPr/>
        </p:nvSpPr>
        <p:spPr>
          <a:xfrm>
            <a:off x="7569200" y="5426273"/>
            <a:ext cx="41335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396F"/>
                </a:solidFill>
                <a:latin typeface="Jost" pitchFamily="34" charset="0"/>
                <a:ea typeface="Jost" pitchFamily="34" charset="-122"/>
                <a:cs typeface="Jost" pitchFamily="34" charset="-120"/>
              </a:rPr>
              <a:t>Beta apalancada 0,40</a:t>
            </a:r>
            <a:endParaRPr lang="en-US" sz="1200" dirty="0"/>
          </a:p>
        </p:txBody>
      </p:sp>
      <p:sp>
        <p:nvSpPr>
          <p:cNvPr id="32" name="Shape 30"/>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33" name="Text 31"/>
          <p:cNvSpPr/>
          <p:nvPr/>
        </p:nvSpPr>
        <p:spPr>
          <a:xfrm>
            <a:off x="609600" y="6398320"/>
            <a:ext cx="8914924"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Coca-Cola FA (DCF, DDM, comparables); Bloomberg; análisis propio. Cotización de referencia del modelo: 92,71 $.</a:t>
            </a:r>
            <a:endParaRPr lang="en-US" sz="1200" dirty="0"/>
          </a:p>
        </p:txBody>
      </p:sp>
      <p:sp>
        <p:nvSpPr>
          <p:cNvPr id="35" name="Text 33"/>
          <p:cNvSpPr/>
          <p:nvPr/>
        </p:nvSpPr>
        <p:spPr>
          <a:xfrm>
            <a:off x="11356975" y="6390680"/>
            <a:ext cx="27622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02</a:t>
            </a:r>
            <a:endParaRPr lang="en-US" sz="1200" dirty="0"/>
          </a:p>
        </p:txBody>
      </p:sp>
    </p:spTree>
    <p:extLst>
      <p:ext uri="{BB962C8B-B14F-4D97-AF65-F5344CB8AC3E}">
        <p14:creationId xmlns:p14="http://schemas.microsoft.com/office/powerpoint/2010/main" val="4135216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C42"/>
        </a:solidFill>
        <a:effectLst/>
      </p:bgPr>
    </p:bg>
    <p:spTree>
      <p:nvGrpSpPr>
        <p:cNvPr id="1" name=""/>
        <p:cNvGrpSpPr/>
        <p:nvPr/>
      </p:nvGrpSpPr>
      <p:grpSpPr>
        <a:xfrm>
          <a:off x="0" y="0"/>
          <a:ext cx="0" cy="0"/>
          <a:chOff x="0" y="0"/>
          <a:chExt cx="0" cy="0"/>
        </a:xfrm>
      </p:grpSpPr>
      <p:sp>
        <p:nvSpPr>
          <p:cNvPr id="2" name="Shape 0"/>
          <p:cNvSpPr/>
          <p:nvPr/>
        </p:nvSpPr>
        <p:spPr>
          <a:xfrm>
            <a:off x="387350" y="387350"/>
            <a:ext cx="11417300" cy="6083300"/>
          </a:xfrm>
          <a:prstGeom prst="rect">
            <a:avLst/>
          </a:prstGeom>
          <a:noFill/>
          <a:ln w="12700">
            <a:solidFill>
              <a:srgbClr val="FCF1D0"/>
            </a:solidFill>
            <a:prstDash val="solid"/>
          </a:ln>
        </p:spPr>
        <p:txBody>
          <a:bodyPr/>
          <a:lstStyle/>
          <a:p>
            <a:endParaRPr lang="en-US"/>
          </a:p>
        </p:txBody>
      </p:sp>
      <p:sp>
        <p:nvSpPr>
          <p:cNvPr id="3" name="Text 1"/>
          <p:cNvSpPr/>
          <p:nvPr/>
        </p:nvSpPr>
        <p:spPr>
          <a:xfrm>
            <a:off x="952500" y="1016000"/>
            <a:ext cx="3924300" cy="1739900"/>
          </a:xfrm>
          <a:prstGeom prst="rect">
            <a:avLst/>
          </a:prstGeom>
          <a:noFill/>
          <a:ln/>
        </p:spPr>
        <p:txBody>
          <a:bodyPr wrap="square" lIns="0" tIns="0" rIns="0" bIns="0" rtlCol="0" anchor="t">
            <a:normAutofit fontScale="85000" lnSpcReduction="10000"/>
          </a:bodyPr>
          <a:lstStyle/>
          <a:p>
            <a:pPr marL="0" indent="0" algn="l">
              <a:lnSpc>
                <a:spcPts val="13500"/>
              </a:lnSpc>
              <a:buNone/>
            </a:pPr>
            <a:r>
              <a:rPr lang="en-US" sz="13500" kern="0" spc="-200" dirty="0">
                <a:solidFill>
                  <a:srgbClr val="FCF1D0"/>
                </a:solidFill>
                <a:latin typeface="Jost" pitchFamily="34" charset="0"/>
                <a:ea typeface="Jost" pitchFamily="34" charset="-122"/>
                <a:cs typeface="Jost" pitchFamily="34" charset="-120"/>
              </a:rPr>
              <a:t>01</a:t>
            </a:r>
            <a:endParaRPr lang="en-US" sz="13500" dirty="0"/>
          </a:p>
        </p:txBody>
      </p:sp>
      <p:sp>
        <p:nvSpPr>
          <p:cNvPr id="4" name="Text 2"/>
          <p:cNvSpPr/>
          <p:nvPr/>
        </p:nvSpPr>
        <p:spPr>
          <a:xfrm>
            <a:off x="1066800" y="35560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CF1D0"/>
                </a:solidFill>
                <a:latin typeface="Jost" pitchFamily="34" charset="0"/>
                <a:ea typeface="Jost" pitchFamily="34" charset="-122"/>
                <a:cs typeface="Jost" pitchFamily="34" charset="-120"/>
              </a:rPr>
              <a:t>SECCIÓN</a:t>
            </a:r>
            <a:endParaRPr lang="en-US" sz="1200" dirty="0"/>
          </a:p>
        </p:txBody>
      </p:sp>
      <p:sp>
        <p:nvSpPr>
          <p:cNvPr id="5" name="Text 3"/>
          <p:cNvSpPr>
            <a:spLocks noGrp="1"/>
          </p:cNvSpPr>
          <p:nvPr>
            <p:ph type="title"/>
          </p:nvPr>
        </p:nvSpPr>
        <p:spPr>
          <a:xfrm>
            <a:off x="1066800" y="3870920"/>
            <a:ext cx="7848600" cy="551160"/>
          </a:xfrm>
          <a:prstGeom prst="rect">
            <a:avLst/>
          </a:prstGeom>
          <a:noFill/>
          <a:ln/>
        </p:spPr>
        <p:txBody>
          <a:bodyPr wrap="square" lIns="0" tIns="0" rIns="0" bIns="0" rtlCol="0" anchor="t">
            <a:normAutofit/>
          </a:bodyPr>
          <a:lstStyle/>
          <a:p>
            <a:pPr marL="0" indent="0" algn="l">
              <a:lnSpc>
                <a:spcPts val="4140"/>
              </a:lnSpc>
              <a:buNone/>
            </a:pPr>
            <a:r>
              <a:rPr lang="en-US" sz="3600" b="0" i="0" kern="0" spc="-50" dirty="0">
                <a:solidFill>
                  <a:srgbClr val="FCF1D0"/>
                </a:solidFill>
                <a:latin typeface="Jost" pitchFamily="34" charset="0"/>
                <a:ea typeface="Jost" pitchFamily="34" charset="-122"/>
                <a:cs typeface="Jost" pitchFamily="34" charset="-120"/>
              </a:rPr>
              <a:t>Negocio</a:t>
            </a:r>
            <a:endParaRPr lang="en-US" sz="3600" dirty="0"/>
          </a:p>
        </p:txBody>
      </p:sp>
      <p:sp>
        <p:nvSpPr>
          <p:cNvPr id="6" name="Text 4"/>
          <p:cNvSpPr/>
          <p:nvPr/>
        </p:nvSpPr>
        <p:spPr>
          <a:xfrm>
            <a:off x="1066800" y="4498280"/>
            <a:ext cx="7848600" cy="405110"/>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FCF1D0"/>
                </a:solidFill>
                <a:latin typeface="Pinyon Script" pitchFamily="18" charset="0"/>
                <a:ea typeface="Pinyon Script" pitchFamily="18" charset="-122"/>
                <a:cs typeface="Pinyon Script" pitchFamily="18" charset="-120"/>
              </a:rPr>
              <a:t>Una marca, </a:t>
            </a:r>
            <a:r>
              <a:rPr lang="en-US" sz="2300" dirty="0" err="1">
                <a:solidFill>
                  <a:srgbClr val="FCF1D0"/>
                </a:solidFill>
                <a:latin typeface="Pinyon Script" pitchFamily="18" charset="0"/>
                <a:ea typeface="Pinyon Script" pitchFamily="18" charset="-122"/>
                <a:cs typeface="Pinyon Script" pitchFamily="18" charset="-120"/>
              </a:rPr>
              <a:t>doscientas</a:t>
            </a:r>
            <a:r>
              <a:rPr lang="en-US" sz="2300" dirty="0">
                <a:solidFill>
                  <a:srgbClr val="FCF1D0"/>
                </a:solidFill>
                <a:latin typeface="Pinyon Script" pitchFamily="18" charset="0"/>
                <a:ea typeface="Pinyon Script" pitchFamily="18" charset="-122"/>
                <a:cs typeface="Pinyon Script" pitchFamily="18" charset="-120"/>
              </a:rPr>
              <a:t> </a:t>
            </a:r>
            <a:r>
              <a:rPr lang="en-US" sz="2300" dirty="0" err="1">
                <a:solidFill>
                  <a:srgbClr val="FCF1D0"/>
                </a:solidFill>
                <a:latin typeface="Pinyon Script" pitchFamily="18" charset="0"/>
                <a:ea typeface="Pinyon Script" pitchFamily="18" charset="-122"/>
                <a:cs typeface="Pinyon Script" pitchFamily="18" charset="-120"/>
              </a:rPr>
              <a:t>embotelladoras</a:t>
            </a:r>
            <a:endParaRPr lang="en-US" sz="2300" dirty="0"/>
          </a:p>
        </p:txBody>
      </p:sp>
      <p:sp>
        <p:nvSpPr>
          <p:cNvPr id="7" name="Shape 5"/>
          <p:cNvSpPr/>
          <p:nvPr/>
        </p:nvSpPr>
        <p:spPr>
          <a:xfrm>
            <a:off x="1066800" y="5816005"/>
            <a:ext cx="10058400" cy="0"/>
          </a:xfrm>
          <a:prstGeom prst="line">
            <a:avLst/>
          </a:prstGeom>
          <a:noFill/>
          <a:ln w="6350">
            <a:solidFill>
              <a:srgbClr val="FCF1D0"/>
            </a:solidFill>
            <a:prstDash val="solid"/>
          </a:ln>
        </p:spPr>
        <p:txBody>
          <a:bodyPr/>
          <a:lstStyle/>
          <a:p>
            <a:endParaRPr lang="en-US"/>
          </a:p>
        </p:txBody>
      </p:sp>
      <p:sp>
        <p:nvSpPr>
          <p:cNvPr id="8" name="Text 6"/>
          <p:cNvSpPr/>
          <p:nvPr/>
        </p:nvSpPr>
        <p:spPr>
          <a:xfrm>
            <a:off x="1066800" y="5920780"/>
            <a:ext cx="4058483"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CF1D0"/>
                </a:solidFill>
                <a:latin typeface="Jost" pitchFamily="34" charset="0"/>
                <a:ea typeface="Jost" pitchFamily="34" charset="-122"/>
                <a:cs typeface="Jost" pitchFamily="34" charset="-120"/>
              </a:rPr>
              <a:t>Negocio</a:t>
            </a:r>
            <a:r>
              <a:rPr lang="en-US" sz="1200" kern="0" spc="50" dirty="0">
                <a:solidFill>
                  <a:srgbClr val="FCF1D0"/>
                </a:solidFill>
                <a:latin typeface="Jost" pitchFamily="34" charset="0"/>
                <a:ea typeface="Jost" pitchFamily="34" charset="-122"/>
                <a:cs typeface="Jost" pitchFamily="34" charset="-120"/>
              </a:rPr>
              <a:t> | Finanzas | Valoración | Conclusiones</a:t>
            </a:r>
            <a:endParaRPr lang="en-US" sz="1200" dirty="0"/>
          </a:p>
        </p:txBody>
      </p:sp>
      <p:sp>
        <p:nvSpPr>
          <p:cNvPr id="9" name="Text 7"/>
          <p:cNvSpPr/>
          <p:nvPr/>
        </p:nvSpPr>
        <p:spPr>
          <a:xfrm>
            <a:off x="10315337" y="5920780"/>
            <a:ext cx="809863" cy="238720"/>
          </a:xfrm>
          <a:prstGeom prst="rect">
            <a:avLst/>
          </a:prstGeom>
          <a:noFill/>
          <a:ln/>
        </p:spPr>
        <p:txBody>
          <a:bodyPr wrap="square" lIns="0" tIns="0" rIns="0" bIns="0" rtlCol="0" anchor="t">
            <a:normAutofit/>
          </a:bodyPr>
          <a:lstStyle/>
          <a:p>
            <a:pPr marL="0" indent="0" algn="r">
              <a:lnSpc>
                <a:spcPts val="1680"/>
              </a:lnSpc>
              <a:buNone/>
            </a:pPr>
            <a:r>
              <a:rPr lang="en-US" sz="1200" kern="0" spc="150" dirty="0">
                <a:solidFill>
                  <a:srgbClr val="FCF1D0"/>
                </a:solidFill>
                <a:latin typeface="Jost" pitchFamily="34" charset="0"/>
                <a:ea typeface="Jost" pitchFamily="34" charset="-122"/>
                <a:cs typeface="Jost" pitchFamily="34" charset="-120"/>
              </a:rPr>
              <a:t>03 / 25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361134"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01 · PERFIL DE LA COMPAÑÍA</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Coca-Cola vende concentrado y marca, no Botellas. </a:t>
            </a:r>
            <a:r>
              <a:rPr lang="en-US" kern="0" spc="-25" dirty="0"/>
              <a:t>M</a:t>
            </a:r>
            <a:r>
              <a:rPr lang="en-US" sz="2400" b="0" i="0" kern="0" spc="-25" dirty="0">
                <a:solidFill>
                  <a:srgbClr val="010736"/>
                </a:solidFill>
                <a:latin typeface="Jost" pitchFamily="34" charset="0"/>
                <a:ea typeface="Jost" pitchFamily="34" charset="-122"/>
                <a:cs typeface="Jost" pitchFamily="34" charset="-120"/>
              </a:rPr>
              <a:t>odelo asset-light con un margen bruto del 62,0 %</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627888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DESCRIPCIÓN</a:t>
            </a:r>
            <a:endParaRPr lang="en-US" sz="1200" dirty="0"/>
          </a:p>
        </p:txBody>
      </p:sp>
      <p:sp>
        <p:nvSpPr>
          <p:cNvPr id="9" name="Shape 7"/>
          <p:cNvSpPr/>
          <p:nvPr/>
        </p:nvSpPr>
        <p:spPr>
          <a:xfrm>
            <a:off x="609600" y="2211983"/>
            <a:ext cx="6096000" cy="0"/>
          </a:xfrm>
          <a:prstGeom prst="line">
            <a:avLst/>
          </a:prstGeom>
          <a:noFill/>
          <a:ln w="9525">
            <a:solidFill>
              <a:srgbClr val="010736"/>
            </a:solidFill>
            <a:prstDash val="solid"/>
          </a:ln>
        </p:spPr>
        <p:txBody>
          <a:bodyPr/>
          <a:lstStyle/>
          <a:p>
            <a:endParaRPr lang="en-US"/>
          </a:p>
        </p:txBody>
      </p:sp>
      <p:sp>
        <p:nvSpPr>
          <p:cNvPr id="10" name="Text 8"/>
          <p:cNvSpPr/>
          <p:nvPr/>
        </p:nvSpPr>
        <p:spPr>
          <a:xfrm>
            <a:off x="609600" y="2340570"/>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01</a:t>
            </a:r>
            <a:endParaRPr lang="en-US" sz="1200" dirty="0"/>
          </a:p>
        </p:txBody>
      </p:sp>
      <p:sp>
        <p:nvSpPr>
          <p:cNvPr id="11" name="Text 9"/>
          <p:cNvSpPr/>
          <p:nvPr/>
        </p:nvSpPr>
        <p:spPr>
          <a:xfrm>
            <a:off x="1066800" y="2340570"/>
            <a:ext cx="5755640"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Líder mundial en bebidas sin alcohol:</a:t>
            </a:r>
            <a:r>
              <a:rPr lang="en-US" sz="1400" dirty="0">
                <a:solidFill>
                  <a:srgbClr val="010736"/>
                </a:solidFill>
                <a:latin typeface="EB Garamond" pitchFamily="18" charset="0"/>
                <a:ea typeface="EB Garamond" pitchFamily="18" charset="-122"/>
                <a:cs typeface="EB Garamond" pitchFamily="18" charset="-120"/>
              </a:rPr>
              <a:t> El Refresco </a:t>
            </a:r>
            <a:r>
              <a:rPr lang="en-US" sz="1400" dirty="0" err="1">
                <a:solidFill>
                  <a:srgbClr val="010736"/>
                </a:solidFill>
                <a:latin typeface="EB Garamond" pitchFamily="18" charset="0"/>
                <a:ea typeface="EB Garamond" pitchFamily="18" charset="-122"/>
                <a:cs typeface="EB Garamond" pitchFamily="18" charset="-120"/>
              </a:rPr>
              <a:t>más</a:t>
            </a:r>
            <a:r>
              <a:rPr lang="en-US" sz="1400" dirty="0">
                <a:solidFill>
                  <a:srgbClr val="010736"/>
                </a:solidFill>
                <a:latin typeface="EB Garamond" pitchFamily="18" charset="0"/>
                <a:ea typeface="EB Garamond" pitchFamily="18" charset="-122"/>
                <a:cs typeface="EB Garamond" pitchFamily="18" charset="-120"/>
              </a:rPr>
              <a:t> </a:t>
            </a:r>
            <a:r>
              <a:rPr lang="en-US" sz="1400" dirty="0" err="1">
                <a:solidFill>
                  <a:srgbClr val="010736"/>
                </a:solidFill>
                <a:latin typeface="EB Garamond" pitchFamily="18" charset="0"/>
                <a:ea typeface="EB Garamond" pitchFamily="18" charset="-122"/>
                <a:cs typeface="EB Garamond" pitchFamily="18" charset="-120"/>
              </a:rPr>
              <a:t>consumido</a:t>
            </a:r>
            <a:r>
              <a:rPr lang="en-US" sz="1400" dirty="0">
                <a:solidFill>
                  <a:srgbClr val="010736"/>
                </a:solidFill>
                <a:latin typeface="EB Garamond" pitchFamily="18" charset="0"/>
                <a:ea typeface="EB Garamond" pitchFamily="18" charset="-122"/>
                <a:cs typeface="EB Garamond" pitchFamily="18" charset="-120"/>
              </a:rPr>
              <a:t> </a:t>
            </a:r>
            <a:r>
              <a:rPr lang="en-US" sz="1400" dirty="0" err="1">
                <a:solidFill>
                  <a:srgbClr val="010736"/>
                </a:solidFill>
                <a:latin typeface="EB Garamond" pitchFamily="18" charset="0"/>
                <a:ea typeface="EB Garamond" pitchFamily="18" charset="-122"/>
                <a:cs typeface="EB Garamond" pitchFamily="18" charset="-120"/>
              </a:rPr>
              <a:t>en</a:t>
            </a:r>
            <a:r>
              <a:rPr lang="en-US" sz="1400" dirty="0">
                <a:solidFill>
                  <a:srgbClr val="010736"/>
                </a:solidFill>
                <a:latin typeface="EB Garamond" pitchFamily="18" charset="0"/>
                <a:ea typeface="EB Garamond" pitchFamily="18" charset="-122"/>
                <a:cs typeface="EB Garamond" pitchFamily="18" charset="-120"/>
              </a:rPr>
              <a:t> </a:t>
            </a:r>
            <a:r>
              <a:rPr lang="en-US" sz="1400" dirty="0" err="1">
                <a:solidFill>
                  <a:srgbClr val="010736"/>
                </a:solidFill>
                <a:latin typeface="EB Garamond" pitchFamily="18" charset="0"/>
                <a:ea typeface="EB Garamond" pitchFamily="18" charset="-122"/>
                <a:cs typeface="EB Garamond" pitchFamily="18" charset="-120"/>
              </a:rPr>
              <a:t>todo</a:t>
            </a:r>
            <a:r>
              <a:rPr lang="en-US" sz="1400" dirty="0">
                <a:solidFill>
                  <a:srgbClr val="010736"/>
                </a:solidFill>
                <a:latin typeface="EB Garamond" pitchFamily="18" charset="0"/>
                <a:ea typeface="EB Garamond" pitchFamily="18" charset="-122"/>
                <a:cs typeface="EB Garamond" pitchFamily="18" charset="-120"/>
              </a:rPr>
              <a:t> el </a:t>
            </a:r>
            <a:r>
              <a:rPr lang="en-US" sz="1400" dirty="0" err="1">
                <a:solidFill>
                  <a:srgbClr val="010736"/>
                </a:solidFill>
                <a:latin typeface="EB Garamond" pitchFamily="18" charset="0"/>
                <a:ea typeface="EB Garamond" pitchFamily="18" charset="-122"/>
                <a:cs typeface="EB Garamond" pitchFamily="18" charset="-120"/>
              </a:rPr>
              <a:t>mundo</a:t>
            </a:r>
            <a:r>
              <a:rPr lang="en-US" sz="1400" dirty="0">
                <a:solidFill>
                  <a:srgbClr val="010736"/>
                </a:solidFill>
                <a:latin typeface="EB Garamond" pitchFamily="18" charset="0"/>
                <a:ea typeface="EB Garamond" pitchFamily="18" charset="-122"/>
                <a:cs typeface="EB Garamond" pitchFamily="18" charset="-120"/>
              </a:rPr>
              <a:t>, y la </a:t>
            </a:r>
            <a:r>
              <a:rPr lang="en-US" sz="1400" dirty="0" err="1">
                <a:solidFill>
                  <a:srgbClr val="010736"/>
                </a:solidFill>
                <a:latin typeface="EB Garamond" pitchFamily="18" charset="0"/>
                <a:ea typeface="EB Garamond" pitchFamily="18" charset="-122"/>
                <a:cs typeface="EB Garamond" pitchFamily="18" charset="-120"/>
              </a:rPr>
              <a:t>marca</a:t>
            </a:r>
            <a:r>
              <a:rPr lang="en-US" sz="1400" dirty="0">
                <a:solidFill>
                  <a:srgbClr val="010736"/>
                </a:solidFill>
                <a:latin typeface="EB Garamond" pitchFamily="18" charset="0"/>
                <a:ea typeface="EB Garamond" pitchFamily="18" charset="-122"/>
                <a:cs typeface="EB Garamond" pitchFamily="18" charset="-120"/>
              </a:rPr>
              <a:t> de consume </a:t>
            </a:r>
            <a:r>
              <a:rPr lang="en-US" sz="1400" dirty="0" err="1">
                <a:solidFill>
                  <a:srgbClr val="010736"/>
                </a:solidFill>
                <a:latin typeface="EB Garamond" pitchFamily="18" charset="0"/>
                <a:ea typeface="EB Garamond" pitchFamily="18" charset="-122"/>
                <a:cs typeface="EB Garamond" pitchFamily="18" charset="-120"/>
              </a:rPr>
              <a:t>más</a:t>
            </a:r>
            <a:r>
              <a:rPr lang="en-US" sz="1400" dirty="0">
                <a:solidFill>
                  <a:srgbClr val="010736"/>
                </a:solidFill>
                <a:latin typeface="EB Garamond" pitchFamily="18" charset="0"/>
                <a:ea typeface="EB Garamond" pitchFamily="18" charset="-122"/>
                <a:cs typeface="EB Garamond" pitchFamily="18" charset="-120"/>
              </a:rPr>
              <a:t> </a:t>
            </a:r>
            <a:r>
              <a:rPr lang="en-US" sz="1400" dirty="0" err="1">
                <a:solidFill>
                  <a:srgbClr val="010736"/>
                </a:solidFill>
                <a:latin typeface="EB Garamond" pitchFamily="18" charset="0"/>
                <a:ea typeface="EB Garamond" pitchFamily="18" charset="-122"/>
                <a:cs typeface="EB Garamond" pitchFamily="18" charset="-120"/>
              </a:rPr>
              <a:t>elegida</a:t>
            </a:r>
            <a:r>
              <a:rPr lang="en-US" sz="1400" dirty="0">
                <a:solidFill>
                  <a:srgbClr val="010736"/>
                </a:solidFill>
                <a:latin typeface="EB Garamond" pitchFamily="18" charset="0"/>
                <a:ea typeface="EB Garamond" pitchFamily="18" charset="-122"/>
                <a:cs typeface="EB Garamond" pitchFamily="18" charset="-120"/>
              </a:rPr>
              <a:t> del </a:t>
            </a:r>
            <a:r>
              <a:rPr lang="en-US" sz="1400" dirty="0" err="1">
                <a:solidFill>
                  <a:srgbClr val="010736"/>
                </a:solidFill>
                <a:latin typeface="EB Garamond" pitchFamily="18" charset="0"/>
                <a:ea typeface="EB Garamond" pitchFamily="18" charset="-122"/>
                <a:cs typeface="EB Garamond" pitchFamily="18" charset="-120"/>
              </a:rPr>
              <a:t>mundo</a:t>
            </a:r>
            <a:r>
              <a:rPr lang="en-US" sz="1400" dirty="0">
                <a:solidFill>
                  <a:srgbClr val="010736"/>
                </a:solidFill>
                <a:latin typeface="EB Garamond" pitchFamily="18" charset="0"/>
                <a:ea typeface="EB Garamond" pitchFamily="18" charset="-122"/>
                <a:cs typeface="EB Garamond" pitchFamily="18" charset="-120"/>
              </a:rPr>
              <a:t>.</a:t>
            </a:r>
            <a:endParaRPr lang="en-US" sz="1400" dirty="0"/>
          </a:p>
        </p:txBody>
      </p:sp>
      <p:sp>
        <p:nvSpPr>
          <p:cNvPr id="12" name="Shape 10"/>
          <p:cNvSpPr/>
          <p:nvPr/>
        </p:nvSpPr>
        <p:spPr>
          <a:xfrm>
            <a:off x="609600" y="2968427"/>
            <a:ext cx="6096000" cy="0"/>
          </a:xfrm>
          <a:prstGeom prst="line">
            <a:avLst/>
          </a:prstGeom>
          <a:noFill/>
          <a:ln w="6350">
            <a:solidFill>
              <a:srgbClr val="D0CECE"/>
            </a:solidFill>
            <a:prstDash val="solid"/>
          </a:ln>
        </p:spPr>
        <p:txBody>
          <a:bodyPr/>
          <a:lstStyle/>
          <a:p>
            <a:endParaRPr lang="en-US"/>
          </a:p>
        </p:txBody>
      </p:sp>
      <p:sp>
        <p:nvSpPr>
          <p:cNvPr id="13" name="Text 11"/>
          <p:cNvSpPr/>
          <p:nvPr/>
        </p:nvSpPr>
        <p:spPr>
          <a:xfrm>
            <a:off x="609600" y="3098602"/>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02</a:t>
            </a:r>
            <a:endParaRPr lang="en-US" sz="1200" dirty="0"/>
          </a:p>
        </p:txBody>
      </p:sp>
      <p:sp>
        <p:nvSpPr>
          <p:cNvPr id="14" name="Text 12"/>
          <p:cNvSpPr/>
          <p:nvPr/>
        </p:nvSpPr>
        <p:spPr>
          <a:xfrm>
            <a:off x="1066800" y="3098602"/>
            <a:ext cx="5755640"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Fundada en 1886 en Atlanta</a:t>
            </a:r>
            <a:r>
              <a:rPr lang="en-US" sz="1400" dirty="0">
                <a:solidFill>
                  <a:srgbClr val="010736"/>
                </a:solidFill>
                <a:latin typeface="EB Garamond" pitchFamily="18" charset="0"/>
                <a:ea typeface="EB Garamond" pitchFamily="18" charset="-122"/>
                <a:cs typeface="EB Garamond" pitchFamily="18" charset="-120"/>
              </a:rPr>
              <a:t> (EE. UU.), donde mantiene la sede; cotiza en la NYSE y forma parte del Dow Jones.</a:t>
            </a:r>
            <a:endParaRPr lang="en-US" sz="1400" dirty="0"/>
          </a:p>
        </p:txBody>
      </p:sp>
      <p:sp>
        <p:nvSpPr>
          <p:cNvPr id="15" name="Shape 13"/>
          <p:cNvSpPr/>
          <p:nvPr/>
        </p:nvSpPr>
        <p:spPr>
          <a:xfrm>
            <a:off x="609600" y="3726458"/>
            <a:ext cx="6096000" cy="0"/>
          </a:xfrm>
          <a:prstGeom prst="line">
            <a:avLst/>
          </a:prstGeom>
          <a:noFill/>
          <a:ln w="6350">
            <a:solidFill>
              <a:srgbClr val="D0CECE"/>
            </a:solidFill>
            <a:prstDash val="solid"/>
          </a:ln>
        </p:spPr>
        <p:txBody>
          <a:bodyPr/>
          <a:lstStyle/>
          <a:p>
            <a:endParaRPr lang="en-US"/>
          </a:p>
        </p:txBody>
      </p:sp>
      <p:sp>
        <p:nvSpPr>
          <p:cNvPr id="16" name="Text 14"/>
          <p:cNvSpPr/>
          <p:nvPr/>
        </p:nvSpPr>
        <p:spPr>
          <a:xfrm>
            <a:off x="609600" y="3856633"/>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03</a:t>
            </a:r>
            <a:endParaRPr lang="en-US" sz="1200" dirty="0"/>
          </a:p>
        </p:txBody>
      </p:sp>
      <p:sp>
        <p:nvSpPr>
          <p:cNvPr id="17" name="Text 15"/>
          <p:cNvSpPr/>
          <p:nvPr/>
        </p:nvSpPr>
        <p:spPr>
          <a:xfrm>
            <a:off x="1066800" y="3856633"/>
            <a:ext cx="5755640"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Vende concentrado</a:t>
            </a:r>
            <a:r>
              <a:rPr lang="en-US" sz="1400" dirty="0">
                <a:solidFill>
                  <a:srgbClr val="010736"/>
                </a:solidFill>
                <a:latin typeface="EB Garamond" pitchFamily="18" charset="0"/>
                <a:ea typeface="EB Garamond" pitchFamily="18" charset="-122"/>
                <a:cs typeface="EB Garamond" pitchFamily="18" charset="-120"/>
              </a:rPr>
              <a:t> a unos 200 socios embotelladores, que fabrican, envasan y distribuyen la bebida terminada.</a:t>
            </a:r>
            <a:endParaRPr lang="en-US" sz="1400" dirty="0"/>
          </a:p>
        </p:txBody>
      </p:sp>
      <p:sp>
        <p:nvSpPr>
          <p:cNvPr id="18" name="Shape 16"/>
          <p:cNvSpPr/>
          <p:nvPr/>
        </p:nvSpPr>
        <p:spPr>
          <a:xfrm>
            <a:off x="609600" y="4484489"/>
            <a:ext cx="6096000" cy="0"/>
          </a:xfrm>
          <a:prstGeom prst="line">
            <a:avLst/>
          </a:prstGeom>
          <a:noFill/>
          <a:ln w="6350">
            <a:solidFill>
              <a:srgbClr val="D0CECE"/>
            </a:solidFill>
            <a:prstDash val="solid"/>
          </a:ln>
        </p:spPr>
        <p:txBody>
          <a:bodyPr/>
          <a:lstStyle/>
          <a:p>
            <a:endParaRPr lang="en-US"/>
          </a:p>
        </p:txBody>
      </p:sp>
      <p:sp>
        <p:nvSpPr>
          <p:cNvPr id="19" name="Text 17"/>
          <p:cNvSpPr/>
          <p:nvPr/>
        </p:nvSpPr>
        <p:spPr>
          <a:xfrm>
            <a:off x="609600" y="4614664"/>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04</a:t>
            </a:r>
            <a:endParaRPr lang="en-US" sz="1200" dirty="0"/>
          </a:p>
        </p:txBody>
      </p:sp>
      <p:sp>
        <p:nvSpPr>
          <p:cNvPr id="20" name="Text 18"/>
          <p:cNvSpPr/>
          <p:nvPr/>
        </p:nvSpPr>
        <p:spPr>
          <a:xfrm>
            <a:off x="1066800" y="4614664"/>
            <a:ext cx="5755640"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Nuevo consejero delegado:</a:t>
            </a:r>
            <a:r>
              <a:rPr lang="en-US" sz="1400" dirty="0">
                <a:solidFill>
                  <a:srgbClr val="010736"/>
                </a:solidFill>
                <a:latin typeface="EB Garamond" pitchFamily="18" charset="0"/>
                <a:ea typeface="EB Garamond" pitchFamily="18" charset="-122"/>
                <a:cs typeface="EB Garamond" pitchFamily="18" charset="-120"/>
              </a:rPr>
              <a:t> Henrique Braun dirige la compañía desde el 31/03/2026; James Quincey pasa a presidente ejecutivo.</a:t>
            </a:r>
            <a:endParaRPr lang="en-US" sz="1400" dirty="0"/>
          </a:p>
        </p:txBody>
      </p:sp>
      <p:sp>
        <p:nvSpPr>
          <p:cNvPr id="21" name="Text 19"/>
          <p:cNvSpPr/>
          <p:nvPr/>
        </p:nvSpPr>
        <p:spPr>
          <a:xfrm>
            <a:off x="7162800" y="1905000"/>
            <a:ext cx="455218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DATOS CLAVE</a:t>
            </a:r>
            <a:endParaRPr lang="en-US" sz="1200" dirty="0"/>
          </a:p>
        </p:txBody>
      </p:sp>
      <p:graphicFrame>
        <p:nvGraphicFramePr>
          <p:cNvPr id="22" name="Table 0"/>
          <p:cNvGraphicFramePr>
            <a:graphicFrameLocks noGrp="1"/>
          </p:cNvGraphicFramePr>
          <p:nvPr/>
        </p:nvGraphicFramePr>
        <p:xfrm>
          <a:off x="7175500" y="2219920"/>
          <a:ext cx="4406900" cy="3353094"/>
        </p:xfrm>
        <a:graphic>
          <a:graphicData uri="http://schemas.openxmlformats.org/drawingml/2006/table">
            <a:tbl>
              <a:tblPr/>
              <a:tblGrid>
                <a:gridCol w="2556002">
                  <a:extLst>
                    <a:ext uri="{9D8B030D-6E8A-4147-A177-3AD203B41FA5}">
                      <a16:colId xmlns:a16="http://schemas.microsoft.com/office/drawing/2014/main" val="20000"/>
                    </a:ext>
                  </a:extLst>
                </a:gridCol>
                <a:gridCol w="1850898">
                  <a:extLst>
                    <a:ext uri="{9D8B030D-6E8A-4147-A177-3AD203B41FA5}">
                      <a16:colId xmlns:a16="http://schemas.microsoft.com/office/drawing/2014/main" val="20001"/>
                    </a:ext>
                  </a:extLst>
                </a:gridCol>
              </a:tblGrid>
              <a:tr h="372566">
                <a:tc>
                  <a:txBody>
                    <a:bodyPr/>
                    <a:lstStyle/>
                    <a:p>
                      <a:pPr marL="0" indent="0">
                        <a:lnSpc>
                          <a:spcPts val="1890"/>
                        </a:lnSpc>
                        <a:buNone/>
                      </a:pPr>
                      <a:r>
                        <a:rPr lang="en-US" sz="1350" b="1" dirty="0">
                          <a:solidFill>
                            <a:srgbClr val="010736"/>
                          </a:solidFill>
                          <a:latin typeface="EB Garamond" pitchFamily="18" charset="0"/>
                          <a:ea typeface="EB Garamond" pitchFamily="18" charset="-122"/>
                          <a:cs typeface="EB Garamond" pitchFamily="18" charset="-120"/>
                        </a:rPr>
                        <a:t>Indicador</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90"/>
                        </a:lnSpc>
                        <a:buNone/>
                      </a:pPr>
                      <a:r>
                        <a:rPr lang="en-US" sz="1350" b="1" dirty="0">
                          <a:solidFill>
                            <a:srgbClr val="010736"/>
                          </a:solidFill>
                          <a:latin typeface="EB Garamond" pitchFamily="18" charset="0"/>
                          <a:ea typeface="EB Garamond" pitchFamily="18" charset="-122"/>
                          <a:cs typeface="EB Garamond" pitchFamily="18" charset="-120"/>
                        </a:rPr>
                        <a:t>Valor</a:t>
                      </a:r>
                      <a:endParaRPr lang="en-US" sz="1350" dirty="0">
                        <a:latin typeface="EB Garamond" charset="0"/>
                        <a:ea typeface="EB Garamond" charset="0"/>
                        <a:cs typeface="EB Garamond" charset="0"/>
                      </a:endParaRPr>
                    </a:p>
                  </a:txBody>
                  <a:tcPr marL="60007" marR="60007" marT="60007" marB="60007">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72566">
                <a:tc>
                  <a:txBody>
                    <a:bodyPr/>
                    <a:lstStyle/>
                    <a:p>
                      <a:pPr marL="0" indent="0">
                        <a:lnSpc>
                          <a:spcPts val="1890"/>
                        </a:lnSpc>
                        <a:buNone/>
                      </a:pPr>
                      <a:r>
                        <a:rPr lang="en-US" sz="1350" dirty="0">
                          <a:solidFill>
                            <a:srgbClr val="010736"/>
                          </a:solidFill>
                          <a:latin typeface="EB Garamond" pitchFamily="18" charset="0"/>
                          <a:ea typeface="EB Garamond" pitchFamily="18" charset="-122"/>
                          <a:cs typeface="EB Garamond" pitchFamily="18" charset="-120"/>
                        </a:rPr>
                        <a:t>Capitalización¹</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90"/>
                        </a:lnSpc>
                        <a:buNone/>
                      </a:pPr>
                      <a:r>
                        <a:rPr lang="en-US" sz="1350" dirty="0">
                          <a:solidFill>
                            <a:srgbClr val="010736"/>
                          </a:solidFill>
                          <a:latin typeface="EB Garamond" pitchFamily="18" charset="0"/>
                          <a:ea typeface="EB Garamond" pitchFamily="18" charset="-122"/>
                          <a:cs typeface="EB Garamond" pitchFamily="18" charset="-120"/>
                        </a:rPr>
                        <a:t>401,7 mil M$</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72566">
                <a:tc>
                  <a:txBody>
                    <a:bodyPr/>
                    <a:lstStyle/>
                    <a:p>
                      <a:pPr marL="0" indent="0">
                        <a:lnSpc>
                          <a:spcPts val="1890"/>
                        </a:lnSpc>
                        <a:buNone/>
                      </a:pPr>
                      <a:r>
                        <a:rPr lang="en-US" sz="1350" dirty="0">
                          <a:solidFill>
                            <a:srgbClr val="010736"/>
                          </a:solidFill>
                          <a:latin typeface="EB Garamond" pitchFamily="18" charset="0"/>
                          <a:ea typeface="EB Garamond" pitchFamily="18" charset="-122"/>
                          <a:cs typeface="EB Garamond" pitchFamily="18" charset="-120"/>
                        </a:rPr>
                        <a:t>Ingresos FY 2025</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90"/>
                        </a:lnSpc>
                        <a:buNone/>
                      </a:pPr>
                      <a:r>
                        <a:rPr lang="en-US" sz="1350" dirty="0">
                          <a:solidFill>
                            <a:srgbClr val="010736"/>
                          </a:solidFill>
                          <a:latin typeface="EB Garamond" pitchFamily="18" charset="0"/>
                          <a:ea typeface="EB Garamond" pitchFamily="18" charset="-122"/>
                          <a:cs typeface="EB Garamond" pitchFamily="18" charset="-120"/>
                        </a:rPr>
                        <a:t>48,1 mil M$</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72566">
                <a:tc>
                  <a:txBody>
                    <a:bodyPr/>
                    <a:lstStyle/>
                    <a:p>
                      <a:pPr marL="0" indent="0">
                        <a:lnSpc>
                          <a:spcPts val="1890"/>
                        </a:lnSpc>
                        <a:buNone/>
                      </a:pPr>
                      <a:r>
                        <a:rPr lang="en-US" sz="1350" dirty="0">
                          <a:solidFill>
                            <a:srgbClr val="010736"/>
                          </a:solidFill>
                          <a:latin typeface="EB Garamond" pitchFamily="18" charset="0"/>
                          <a:ea typeface="EB Garamond" pitchFamily="18" charset="-122"/>
                          <a:cs typeface="EB Garamond" pitchFamily="18" charset="-120"/>
                        </a:rPr>
                        <a:t>Crecimiento orgánico FY 2025</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90"/>
                        </a:lnSpc>
                        <a:buNone/>
                      </a:pPr>
                      <a:r>
                        <a:rPr lang="en-US" sz="1350" dirty="0">
                          <a:solidFill>
                            <a:srgbClr val="010736"/>
                          </a:solidFill>
                          <a:latin typeface="EB Garamond" pitchFamily="18" charset="0"/>
                          <a:ea typeface="EB Garamond" pitchFamily="18" charset="-122"/>
                          <a:cs typeface="EB Garamond" pitchFamily="18" charset="-120"/>
                        </a:rPr>
                        <a:t>+5 %</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72566">
                <a:tc>
                  <a:txBody>
                    <a:bodyPr/>
                    <a:lstStyle/>
                    <a:p>
                      <a:pPr marL="0" indent="0">
                        <a:lnSpc>
                          <a:spcPts val="1890"/>
                        </a:lnSpc>
                        <a:buNone/>
                      </a:pPr>
                      <a:r>
                        <a:rPr lang="en-US" sz="1350" dirty="0">
                          <a:solidFill>
                            <a:srgbClr val="010736"/>
                          </a:solidFill>
                          <a:latin typeface="EB Garamond" pitchFamily="18" charset="0"/>
                          <a:ea typeface="EB Garamond" pitchFamily="18" charset="-122"/>
                          <a:cs typeface="EB Garamond" pitchFamily="18" charset="-120"/>
                        </a:rPr>
                        <a:t>Margen EBITDA FY 2025</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90"/>
                        </a:lnSpc>
                        <a:buNone/>
                      </a:pPr>
                      <a:r>
                        <a:rPr lang="en-US" sz="1350" dirty="0">
                          <a:solidFill>
                            <a:srgbClr val="010736"/>
                          </a:solidFill>
                          <a:latin typeface="EB Garamond" pitchFamily="18" charset="0"/>
                          <a:ea typeface="EB Garamond" pitchFamily="18" charset="-122"/>
                          <a:cs typeface="EB Garamond" pitchFamily="18" charset="-120"/>
                        </a:rPr>
                        <a:t>32,8 %</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72566">
                <a:tc>
                  <a:txBody>
                    <a:bodyPr/>
                    <a:lstStyle/>
                    <a:p>
                      <a:pPr marL="0" indent="0">
                        <a:lnSpc>
                          <a:spcPts val="1890"/>
                        </a:lnSpc>
                        <a:buNone/>
                      </a:pPr>
                      <a:r>
                        <a:rPr lang="en-US" sz="1350" dirty="0">
                          <a:solidFill>
                            <a:srgbClr val="010736"/>
                          </a:solidFill>
                          <a:latin typeface="EB Garamond" pitchFamily="18" charset="0"/>
                          <a:ea typeface="EB Garamond" pitchFamily="18" charset="-122"/>
                          <a:cs typeface="EB Garamond" pitchFamily="18" charset="-120"/>
                        </a:rPr>
                        <a:t>BPA comparable FY 2025</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90"/>
                        </a:lnSpc>
                        <a:buNone/>
                      </a:pPr>
                      <a:r>
                        <a:rPr lang="en-US" sz="1350" dirty="0">
                          <a:solidFill>
                            <a:srgbClr val="010736"/>
                          </a:solidFill>
                          <a:latin typeface="EB Garamond" pitchFamily="18" charset="0"/>
                          <a:ea typeface="EB Garamond" pitchFamily="18" charset="-122"/>
                          <a:cs typeface="EB Garamond" pitchFamily="18" charset="-120"/>
                        </a:rPr>
                        <a:t>3,00 $</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372566">
                <a:tc>
                  <a:txBody>
                    <a:bodyPr/>
                    <a:lstStyle/>
                    <a:p>
                      <a:pPr marL="0" indent="0">
                        <a:lnSpc>
                          <a:spcPts val="1890"/>
                        </a:lnSpc>
                        <a:buNone/>
                      </a:pPr>
                      <a:r>
                        <a:rPr lang="en-US" sz="1350" dirty="0">
                          <a:solidFill>
                            <a:srgbClr val="010736"/>
                          </a:solidFill>
                          <a:latin typeface="EB Garamond" pitchFamily="18" charset="0"/>
                          <a:ea typeface="EB Garamond" pitchFamily="18" charset="-122"/>
                          <a:cs typeface="EB Garamond" pitchFamily="18" charset="-120"/>
                        </a:rPr>
                        <a:t>Dividendo anual</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90"/>
                        </a:lnSpc>
                        <a:buNone/>
                      </a:pPr>
                      <a:r>
                        <a:rPr lang="en-US" sz="1350" dirty="0">
                          <a:solidFill>
                            <a:srgbClr val="010736"/>
                          </a:solidFill>
                          <a:latin typeface="EB Garamond" pitchFamily="18" charset="0"/>
                          <a:ea typeface="EB Garamond" pitchFamily="18" charset="-122"/>
                          <a:cs typeface="EB Garamond" pitchFamily="18" charset="-120"/>
                        </a:rPr>
                        <a:t>2,12 $ (2,3 %)</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6"/>
                  </a:ext>
                </a:extLst>
              </a:tr>
              <a:tr h="372566">
                <a:tc>
                  <a:txBody>
                    <a:bodyPr/>
                    <a:lstStyle/>
                    <a:p>
                      <a:pPr marL="0" indent="0">
                        <a:lnSpc>
                          <a:spcPts val="1890"/>
                        </a:lnSpc>
                        <a:buNone/>
                      </a:pPr>
                      <a:r>
                        <a:rPr lang="en-US" sz="1350" dirty="0">
                          <a:solidFill>
                            <a:srgbClr val="010736"/>
                          </a:solidFill>
                          <a:latin typeface="EB Garamond" pitchFamily="18" charset="0"/>
                          <a:ea typeface="EB Garamond" pitchFamily="18" charset="-122"/>
                          <a:cs typeface="EB Garamond" pitchFamily="18" charset="-120"/>
                        </a:rPr>
                        <a:t>PER UDM¹</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90"/>
                        </a:lnSpc>
                        <a:buNone/>
                      </a:pPr>
                      <a:r>
                        <a:rPr lang="en-US" sz="1350" dirty="0">
                          <a:solidFill>
                            <a:srgbClr val="010736"/>
                          </a:solidFill>
                          <a:latin typeface="EB Garamond" pitchFamily="18" charset="0"/>
                          <a:ea typeface="EB Garamond" pitchFamily="18" charset="-122"/>
                          <a:cs typeface="EB Garamond" pitchFamily="18" charset="-120"/>
                        </a:rPr>
                        <a:t>29,1x</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7"/>
                  </a:ext>
                </a:extLst>
              </a:tr>
              <a:tr h="372566">
                <a:tc>
                  <a:txBody>
                    <a:bodyPr/>
                    <a:lstStyle/>
                    <a:p>
                      <a:pPr marL="0" indent="0">
                        <a:lnSpc>
                          <a:spcPts val="1890"/>
                        </a:lnSpc>
                        <a:buNone/>
                      </a:pPr>
                      <a:r>
                        <a:rPr lang="en-US" sz="1350" dirty="0">
                          <a:solidFill>
                            <a:srgbClr val="010736"/>
                          </a:solidFill>
                          <a:latin typeface="EB Garamond" pitchFamily="18" charset="0"/>
                          <a:ea typeface="EB Garamond" pitchFamily="18" charset="-122"/>
                          <a:cs typeface="EB Garamond" pitchFamily="18" charset="-120"/>
                        </a:rPr>
                        <a:t>Accionista de referencia</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90"/>
                        </a:lnSpc>
                        <a:buNone/>
                      </a:pPr>
                      <a:r>
                        <a:rPr lang="en-US" sz="1350" dirty="0">
                          <a:solidFill>
                            <a:srgbClr val="010736"/>
                          </a:solidFill>
                          <a:latin typeface="EB Garamond" pitchFamily="18" charset="0"/>
                          <a:ea typeface="EB Garamond" pitchFamily="18" charset="-122"/>
                          <a:cs typeface="EB Garamond" pitchFamily="18" charset="-120"/>
                        </a:rPr>
                        <a:t>Berkshire (≈ 9 %)</a:t>
                      </a:r>
                      <a:endParaRPr lang="en-US" sz="1350" dirty="0">
                        <a:latin typeface="EB Garamond" charset="0"/>
                        <a:ea typeface="EB Garamond" charset="0"/>
                        <a:cs typeface="EB Garamond" charset="0"/>
                      </a:endParaRPr>
                    </a:p>
                  </a:txBody>
                  <a:tcPr marL="60007" marR="60007" marT="60007" marB="60007">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23" name="Shape 20"/>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4" name="Text 21"/>
          <p:cNvSpPr/>
          <p:nvPr/>
        </p:nvSpPr>
        <p:spPr>
          <a:xfrm>
            <a:off x="609600" y="6398320"/>
            <a:ext cx="8695134"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¹ A 20/10/2026. Fuente: Coca-Cola (resultados FY 2025; nota de sucesión, 10/12/2025); MarketBeat; Bloomberg; análisis propio.</a:t>
            </a:r>
            <a:endParaRPr lang="en-US" sz="1200" dirty="0"/>
          </a:p>
        </p:txBody>
      </p:sp>
      <p:sp>
        <p:nvSpPr>
          <p:cNvPr id="26" name="Text 23"/>
          <p:cNvSpPr/>
          <p:nvPr/>
        </p:nvSpPr>
        <p:spPr>
          <a:xfrm>
            <a:off x="11353105" y="6390680"/>
            <a:ext cx="28009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04</a:t>
            </a:r>
            <a:endParaRPr lang="en-US" sz="1200" dirty="0"/>
          </a:p>
        </p:txBody>
      </p:sp>
    </p:spTree>
    <p:extLst>
      <p:ext uri="{BB962C8B-B14F-4D97-AF65-F5344CB8AC3E}">
        <p14:creationId xmlns:p14="http://schemas.microsoft.com/office/powerpoint/2010/main" val="4080351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04895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01 · MODELO DE NEGOCIO</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La refranquicia saca el capital del balance: El embotellado propio pasa del 52 % de los ingresos en 2015 a cerca del 5 %</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Shape 6"/>
          <p:cNvSpPr/>
          <p:nvPr/>
        </p:nvSpPr>
        <p:spPr>
          <a:xfrm>
            <a:off x="609600" y="2017514"/>
            <a:ext cx="2476500" cy="1320205"/>
          </a:xfrm>
          <a:prstGeom prst="rect">
            <a:avLst/>
          </a:prstGeom>
          <a:solidFill>
            <a:srgbClr val="FCF1D0"/>
          </a:solidFill>
          <a:ln/>
        </p:spPr>
        <p:txBody>
          <a:bodyPr/>
          <a:lstStyle/>
          <a:p>
            <a:endParaRPr lang="en-US"/>
          </a:p>
        </p:txBody>
      </p:sp>
      <p:sp>
        <p:nvSpPr>
          <p:cNvPr id="9" name="Shape 7"/>
          <p:cNvSpPr/>
          <p:nvPr/>
        </p:nvSpPr>
        <p:spPr>
          <a:xfrm>
            <a:off x="609600" y="2027039"/>
            <a:ext cx="2476500" cy="0"/>
          </a:xfrm>
          <a:prstGeom prst="line">
            <a:avLst/>
          </a:prstGeom>
          <a:noFill/>
          <a:ln w="19050">
            <a:solidFill>
              <a:srgbClr val="010736"/>
            </a:solidFill>
            <a:prstDash val="solid"/>
          </a:ln>
        </p:spPr>
        <p:txBody>
          <a:bodyPr/>
          <a:lstStyle/>
          <a:p>
            <a:endParaRPr lang="en-US"/>
          </a:p>
        </p:txBody>
      </p:sp>
      <p:sp>
        <p:nvSpPr>
          <p:cNvPr id="10" name="Text 8"/>
          <p:cNvSpPr/>
          <p:nvPr/>
        </p:nvSpPr>
        <p:spPr>
          <a:xfrm>
            <a:off x="787400" y="2201664"/>
            <a:ext cx="218452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2396F"/>
                </a:solidFill>
                <a:latin typeface="Jost" pitchFamily="34" charset="0"/>
                <a:ea typeface="Jost" pitchFamily="34" charset="-122"/>
                <a:cs typeface="Jost" pitchFamily="34" charset="-120"/>
              </a:rPr>
              <a:t>COCA-COLA</a:t>
            </a:r>
            <a:endParaRPr lang="en-US" sz="1200" dirty="0"/>
          </a:p>
        </p:txBody>
      </p:sp>
      <p:sp>
        <p:nvSpPr>
          <p:cNvPr id="11" name="Text 9"/>
          <p:cNvSpPr/>
          <p:nvPr/>
        </p:nvSpPr>
        <p:spPr>
          <a:xfrm>
            <a:off x="787400" y="2478484"/>
            <a:ext cx="2184527" cy="719534"/>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010736"/>
                </a:solidFill>
                <a:latin typeface="EB Garamond" pitchFamily="18" charset="0"/>
                <a:ea typeface="EB Garamond" pitchFamily="18" charset="-122"/>
                <a:cs typeface="EB Garamond" pitchFamily="18" charset="-120"/>
              </a:rPr>
              <a:t>Marcas, concentrado y marketing global. Fija el precio del concentrado.</a:t>
            </a:r>
            <a:endParaRPr lang="en-US" sz="1350" dirty="0"/>
          </a:p>
        </p:txBody>
      </p:sp>
      <p:pic>
        <p:nvPicPr>
          <p:cNvPr id="12" name="Image 0" descr="arrow-right"/>
          <p:cNvPicPr>
            <a:picLocks noChangeAspect="1"/>
          </p:cNvPicPr>
          <p:nvPr/>
        </p:nvPicPr>
        <p:blipFill>
          <a:blip r:embed="rId3"/>
          <a:srcRect/>
          <a:stretch/>
        </p:blipFill>
        <p:spPr>
          <a:xfrm>
            <a:off x="3213100" y="2601416"/>
            <a:ext cx="279400" cy="152400"/>
          </a:xfrm>
          <a:prstGeom prst="rect">
            <a:avLst/>
          </a:prstGeom>
        </p:spPr>
      </p:pic>
      <p:sp>
        <p:nvSpPr>
          <p:cNvPr id="13" name="Shape 10"/>
          <p:cNvSpPr/>
          <p:nvPr/>
        </p:nvSpPr>
        <p:spPr>
          <a:xfrm>
            <a:off x="3622675" y="2023864"/>
            <a:ext cx="2470150" cy="1307505"/>
          </a:xfrm>
          <a:prstGeom prst="rect">
            <a:avLst/>
          </a:prstGeom>
          <a:noFill/>
          <a:ln w="6350">
            <a:solidFill>
              <a:srgbClr val="010736"/>
            </a:solidFill>
            <a:prstDash val="solid"/>
          </a:ln>
        </p:spPr>
        <p:txBody>
          <a:bodyPr/>
          <a:lstStyle/>
          <a:p>
            <a:endParaRPr lang="en-US"/>
          </a:p>
        </p:txBody>
      </p:sp>
      <p:sp>
        <p:nvSpPr>
          <p:cNvPr id="14" name="Text 11"/>
          <p:cNvSpPr/>
          <p:nvPr/>
        </p:nvSpPr>
        <p:spPr>
          <a:xfrm>
            <a:off x="3803650" y="2192139"/>
            <a:ext cx="217144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2396F"/>
                </a:solidFill>
                <a:latin typeface="Jost" pitchFamily="34" charset="0"/>
                <a:ea typeface="Jost" pitchFamily="34" charset="-122"/>
                <a:cs typeface="Jost" pitchFamily="34" charset="-120"/>
              </a:rPr>
              <a:t>EMBOTELLADORES</a:t>
            </a:r>
            <a:endParaRPr lang="en-US" sz="1200" dirty="0"/>
          </a:p>
        </p:txBody>
      </p:sp>
      <p:sp>
        <p:nvSpPr>
          <p:cNvPr id="15" name="Text 12"/>
          <p:cNvSpPr/>
          <p:nvPr/>
        </p:nvSpPr>
        <p:spPr>
          <a:xfrm>
            <a:off x="3803650" y="2468959"/>
            <a:ext cx="2171446" cy="719534"/>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010736"/>
                </a:solidFill>
                <a:latin typeface="EB Garamond" pitchFamily="18" charset="0"/>
                <a:ea typeface="EB Garamond" pitchFamily="18" charset="-122"/>
                <a:cs typeface="EB Garamond" pitchFamily="18" charset="-120"/>
              </a:rPr>
              <a:t>Unos 200 socios: fabrican, envasan y distribuyen. Concentran el capital.</a:t>
            </a:r>
            <a:endParaRPr lang="en-US" sz="1350" dirty="0"/>
          </a:p>
        </p:txBody>
      </p:sp>
      <p:pic>
        <p:nvPicPr>
          <p:cNvPr id="16" name="Image 1" descr="arrow-right"/>
          <p:cNvPicPr>
            <a:picLocks noChangeAspect="1"/>
          </p:cNvPicPr>
          <p:nvPr/>
        </p:nvPicPr>
        <p:blipFill>
          <a:blip r:embed="rId3"/>
          <a:srcRect/>
          <a:stretch/>
        </p:blipFill>
        <p:spPr>
          <a:xfrm>
            <a:off x="6223000" y="2601416"/>
            <a:ext cx="279400" cy="152400"/>
          </a:xfrm>
          <a:prstGeom prst="rect">
            <a:avLst/>
          </a:prstGeom>
        </p:spPr>
      </p:pic>
      <p:sp>
        <p:nvSpPr>
          <p:cNvPr id="17" name="Shape 13"/>
          <p:cNvSpPr/>
          <p:nvPr/>
        </p:nvSpPr>
        <p:spPr>
          <a:xfrm>
            <a:off x="6632575" y="1908175"/>
            <a:ext cx="2470150" cy="1538883"/>
          </a:xfrm>
          <a:prstGeom prst="rect">
            <a:avLst/>
          </a:prstGeom>
          <a:noFill/>
          <a:ln w="6350">
            <a:solidFill>
              <a:srgbClr val="010736"/>
            </a:solidFill>
            <a:prstDash val="solid"/>
          </a:ln>
        </p:spPr>
        <p:txBody>
          <a:bodyPr/>
          <a:lstStyle/>
          <a:p>
            <a:endParaRPr lang="en-US"/>
          </a:p>
        </p:txBody>
      </p:sp>
      <p:sp>
        <p:nvSpPr>
          <p:cNvPr id="18" name="Text 14"/>
          <p:cNvSpPr/>
          <p:nvPr/>
        </p:nvSpPr>
        <p:spPr>
          <a:xfrm>
            <a:off x="6813550" y="2076450"/>
            <a:ext cx="217144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2396F"/>
                </a:solidFill>
                <a:latin typeface="Jost" pitchFamily="34" charset="0"/>
                <a:ea typeface="Jost" pitchFamily="34" charset="-122"/>
                <a:cs typeface="Jost" pitchFamily="34" charset="-120"/>
              </a:rPr>
              <a:t>CLIENTES</a:t>
            </a:r>
            <a:endParaRPr lang="en-US" sz="1200" dirty="0"/>
          </a:p>
        </p:txBody>
      </p:sp>
      <p:sp>
        <p:nvSpPr>
          <p:cNvPr id="19" name="Text 15"/>
          <p:cNvSpPr/>
          <p:nvPr/>
        </p:nvSpPr>
        <p:spPr>
          <a:xfrm>
            <a:off x="6813550" y="2353270"/>
            <a:ext cx="2171446" cy="950913"/>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010736"/>
                </a:solidFill>
                <a:latin typeface="EB Garamond" pitchFamily="18" charset="0"/>
                <a:ea typeface="EB Garamond" pitchFamily="18" charset="-122"/>
                <a:cs typeface="EB Garamond" pitchFamily="18" charset="-120"/>
              </a:rPr>
              <a:t>Distribución minorista, hostelería, máquinas expendedoras y comercio electrónico.</a:t>
            </a:r>
            <a:endParaRPr lang="en-US" sz="1350" dirty="0"/>
          </a:p>
        </p:txBody>
      </p:sp>
      <p:pic>
        <p:nvPicPr>
          <p:cNvPr id="20" name="Image 2" descr="arrow-right"/>
          <p:cNvPicPr>
            <a:picLocks noChangeAspect="1"/>
          </p:cNvPicPr>
          <p:nvPr/>
        </p:nvPicPr>
        <p:blipFill>
          <a:blip r:embed="rId3"/>
          <a:srcRect/>
          <a:stretch/>
        </p:blipFill>
        <p:spPr>
          <a:xfrm>
            <a:off x="9232900" y="2601416"/>
            <a:ext cx="279400" cy="152400"/>
          </a:xfrm>
          <a:prstGeom prst="rect">
            <a:avLst/>
          </a:prstGeom>
        </p:spPr>
      </p:pic>
      <p:sp>
        <p:nvSpPr>
          <p:cNvPr id="21" name="Shape 16"/>
          <p:cNvSpPr/>
          <p:nvPr/>
        </p:nvSpPr>
        <p:spPr>
          <a:xfrm>
            <a:off x="9642475" y="2139553"/>
            <a:ext cx="1898650" cy="1076127"/>
          </a:xfrm>
          <a:prstGeom prst="rect">
            <a:avLst/>
          </a:prstGeom>
          <a:noFill/>
          <a:ln w="6350">
            <a:solidFill>
              <a:srgbClr val="010736"/>
            </a:solidFill>
            <a:prstDash val="solid"/>
          </a:ln>
        </p:spPr>
        <p:txBody>
          <a:bodyPr/>
          <a:lstStyle/>
          <a:p>
            <a:endParaRPr lang="en-US"/>
          </a:p>
        </p:txBody>
      </p:sp>
      <p:sp>
        <p:nvSpPr>
          <p:cNvPr id="22" name="Text 17"/>
          <p:cNvSpPr/>
          <p:nvPr/>
        </p:nvSpPr>
        <p:spPr>
          <a:xfrm>
            <a:off x="9798050" y="2307828"/>
            <a:ext cx="16383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2396F"/>
                </a:solidFill>
                <a:latin typeface="Jost" pitchFamily="34" charset="0"/>
                <a:ea typeface="Jost" pitchFamily="34" charset="-122"/>
                <a:cs typeface="Jost" pitchFamily="34" charset="-120"/>
              </a:rPr>
              <a:t>CONSUMIDOR</a:t>
            </a:r>
            <a:endParaRPr lang="en-US" sz="1200" dirty="0"/>
          </a:p>
        </p:txBody>
      </p:sp>
      <p:sp>
        <p:nvSpPr>
          <p:cNvPr id="23" name="Text 18"/>
          <p:cNvSpPr/>
          <p:nvPr/>
        </p:nvSpPr>
        <p:spPr>
          <a:xfrm>
            <a:off x="9798050" y="2584648"/>
            <a:ext cx="1638300" cy="488156"/>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010736"/>
                </a:solidFill>
                <a:latin typeface="EB Garamond" pitchFamily="18" charset="0"/>
                <a:ea typeface="EB Garamond" pitchFamily="18" charset="-122"/>
                <a:cs typeface="EB Garamond" pitchFamily="18" charset="-120"/>
              </a:rPr>
              <a:t>Paga el precio final en el lineal.</a:t>
            </a:r>
            <a:endParaRPr lang="en-US" sz="1350" dirty="0"/>
          </a:p>
        </p:txBody>
      </p:sp>
      <p:sp>
        <p:nvSpPr>
          <p:cNvPr id="24" name="Shape 19"/>
          <p:cNvSpPr/>
          <p:nvPr/>
        </p:nvSpPr>
        <p:spPr>
          <a:xfrm>
            <a:off x="609600" y="3759795"/>
            <a:ext cx="6350000" cy="0"/>
          </a:xfrm>
          <a:prstGeom prst="line">
            <a:avLst/>
          </a:prstGeom>
          <a:noFill/>
          <a:ln w="9525">
            <a:solidFill>
              <a:srgbClr val="010736"/>
            </a:solidFill>
            <a:prstDash val="solid"/>
          </a:ln>
        </p:spPr>
        <p:txBody>
          <a:bodyPr/>
          <a:lstStyle/>
          <a:p>
            <a:endParaRPr lang="en-US"/>
          </a:p>
        </p:txBody>
      </p:sp>
      <p:sp>
        <p:nvSpPr>
          <p:cNvPr id="25" name="Text 20"/>
          <p:cNvSpPr/>
          <p:nvPr/>
        </p:nvSpPr>
        <p:spPr>
          <a:xfrm>
            <a:off x="609600" y="3901083"/>
            <a:ext cx="202101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A5C77"/>
                </a:solidFill>
                <a:latin typeface="Jost" pitchFamily="34" charset="0"/>
                <a:ea typeface="Jost" pitchFamily="34" charset="-122"/>
                <a:cs typeface="Jost" pitchFamily="34" charset="-120"/>
              </a:rPr>
              <a:t>2015</a:t>
            </a:r>
            <a:endParaRPr lang="en-US" sz="1200" dirty="0"/>
          </a:p>
        </p:txBody>
      </p:sp>
      <p:sp>
        <p:nvSpPr>
          <p:cNvPr id="26" name="Text 21"/>
          <p:cNvSpPr/>
          <p:nvPr/>
        </p:nvSpPr>
        <p:spPr>
          <a:xfrm>
            <a:off x="609600" y="4152503"/>
            <a:ext cx="2021014"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010736"/>
                </a:solidFill>
                <a:latin typeface="Jost" pitchFamily="34" charset="0"/>
                <a:ea typeface="Jost" pitchFamily="34" charset="-122"/>
                <a:cs typeface="Jost" pitchFamily="34" charset="-120"/>
              </a:rPr>
              <a:t>52 </a:t>
            </a:r>
            <a:r>
              <a:rPr lang="en-US" sz="3600" dirty="0">
                <a:solidFill>
                  <a:srgbClr val="5A5C77"/>
                </a:solidFill>
                <a:latin typeface="Jost" pitchFamily="34" charset="0"/>
                <a:ea typeface="Jost" pitchFamily="34" charset="-122"/>
                <a:cs typeface="Jost" pitchFamily="34" charset="-120"/>
              </a:rPr>
              <a:t>%</a:t>
            </a:r>
            <a:endParaRPr lang="en-US" sz="3600" dirty="0"/>
          </a:p>
        </p:txBody>
      </p:sp>
      <p:sp>
        <p:nvSpPr>
          <p:cNvPr id="27" name="Text 22"/>
          <p:cNvSpPr/>
          <p:nvPr/>
        </p:nvSpPr>
        <p:spPr>
          <a:xfrm>
            <a:off x="609600" y="4693444"/>
            <a:ext cx="2021014"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A5C77"/>
                </a:solidFill>
                <a:latin typeface="EB Garamond" pitchFamily="18" charset="0"/>
                <a:ea typeface="EB Garamond" pitchFamily="18" charset="-122"/>
                <a:cs typeface="EB Garamond" pitchFamily="18" charset="-120"/>
              </a:rPr>
              <a:t>del ingreso, embotellado propio</a:t>
            </a:r>
            <a:endParaRPr lang="en-US" sz="1200" dirty="0"/>
          </a:p>
        </p:txBody>
      </p:sp>
      <p:sp>
        <p:nvSpPr>
          <p:cNvPr id="28" name="Shape 23"/>
          <p:cNvSpPr/>
          <p:nvPr/>
        </p:nvSpPr>
        <p:spPr>
          <a:xfrm>
            <a:off x="2727325" y="3761383"/>
            <a:ext cx="0" cy="1285081"/>
          </a:xfrm>
          <a:prstGeom prst="line">
            <a:avLst/>
          </a:prstGeom>
          <a:noFill/>
          <a:ln w="6350">
            <a:solidFill>
              <a:srgbClr val="D0CECE"/>
            </a:solidFill>
            <a:prstDash val="solid"/>
          </a:ln>
        </p:spPr>
        <p:txBody>
          <a:bodyPr/>
          <a:lstStyle/>
          <a:p>
            <a:endParaRPr lang="en-US"/>
          </a:p>
        </p:txBody>
      </p:sp>
      <p:sp>
        <p:nvSpPr>
          <p:cNvPr id="29" name="Text 24"/>
          <p:cNvSpPr/>
          <p:nvPr/>
        </p:nvSpPr>
        <p:spPr>
          <a:xfrm>
            <a:off x="2882900" y="3901083"/>
            <a:ext cx="185750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A5C77"/>
                </a:solidFill>
                <a:latin typeface="Jost" pitchFamily="34" charset="0"/>
                <a:ea typeface="Jost" pitchFamily="34" charset="-122"/>
                <a:cs typeface="Jost" pitchFamily="34" charset="-120"/>
              </a:rPr>
              <a:t>2024</a:t>
            </a:r>
            <a:endParaRPr lang="en-US" sz="1200" dirty="0"/>
          </a:p>
        </p:txBody>
      </p:sp>
      <p:sp>
        <p:nvSpPr>
          <p:cNvPr id="30" name="Text 25"/>
          <p:cNvSpPr/>
          <p:nvPr/>
        </p:nvSpPr>
        <p:spPr>
          <a:xfrm>
            <a:off x="2882900" y="4152503"/>
            <a:ext cx="1857502"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010736"/>
                </a:solidFill>
                <a:latin typeface="Jost" pitchFamily="34" charset="0"/>
                <a:ea typeface="Jost" pitchFamily="34" charset="-122"/>
                <a:cs typeface="Jost" pitchFamily="34" charset="-120"/>
              </a:rPr>
              <a:t>13 </a:t>
            </a:r>
            <a:r>
              <a:rPr lang="en-US" sz="3600" dirty="0">
                <a:solidFill>
                  <a:srgbClr val="5A5C77"/>
                </a:solidFill>
                <a:latin typeface="Jost" pitchFamily="34" charset="0"/>
                <a:ea typeface="Jost" pitchFamily="34" charset="-122"/>
                <a:cs typeface="Jost" pitchFamily="34" charset="-120"/>
              </a:rPr>
              <a:t>%</a:t>
            </a:r>
            <a:endParaRPr lang="en-US" sz="3600" dirty="0"/>
          </a:p>
        </p:txBody>
      </p:sp>
      <p:sp>
        <p:nvSpPr>
          <p:cNvPr id="31" name="Text 26"/>
          <p:cNvSpPr/>
          <p:nvPr/>
        </p:nvSpPr>
        <p:spPr>
          <a:xfrm>
            <a:off x="2882900" y="4693444"/>
            <a:ext cx="1857502"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A5C77"/>
                </a:solidFill>
                <a:latin typeface="EB Garamond" pitchFamily="18" charset="0"/>
                <a:ea typeface="EB Garamond" pitchFamily="18" charset="-122"/>
                <a:cs typeface="EB Garamond" pitchFamily="18" charset="-120"/>
              </a:rPr>
              <a:t>tras vender India y otros</a:t>
            </a:r>
            <a:endParaRPr lang="en-US" sz="1200" dirty="0"/>
          </a:p>
        </p:txBody>
      </p:sp>
      <p:sp>
        <p:nvSpPr>
          <p:cNvPr id="32" name="Shape 27"/>
          <p:cNvSpPr/>
          <p:nvPr/>
        </p:nvSpPr>
        <p:spPr>
          <a:xfrm>
            <a:off x="4841875" y="3761383"/>
            <a:ext cx="0" cy="1285081"/>
          </a:xfrm>
          <a:prstGeom prst="line">
            <a:avLst/>
          </a:prstGeom>
          <a:noFill/>
          <a:ln w="6350">
            <a:solidFill>
              <a:srgbClr val="D0CECE"/>
            </a:solidFill>
            <a:prstDash val="solid"/>
          </a:ln>
        </p:spPr>
        <p:txBody>
          <a:bodyPr/>
          <a:lstStyle/>
          <a:p>
            <a:endParaRPr lang="en-US"/>
          </a:p>
        </p:txBody>
      </p:sp>
      <p:sp>
        <p:nvSpPr>
          <p:cNvPr id="33" name="Text 28"/>
          <p:cNvSpPr/>
          <p:nvPr/>
        </p:nvSpPr>
        <p:spPr>
          <a:xfrm>
            <a:off x="4997450" y="3901083"/>
            <a:ext cx="202101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A5C77"/>
                </a:solidFill>
                <a:latin typeface="Jost" pitchFamily="34" charset="0"/>
                <a:ea typeface="Jost" pitchFamily="34" charset="-122"/>
                <a:cs typeface="Jost" pitchFamily="34" charset="-120"/>
              </a:rPr>
              <a:t>TRAS CCBA</a:t>
            </a:r>
            <a:endParaRPr lang="en-US" sz="1200" dirty="0"/>
          </a:p>
        </p:txBody>
      </p:sp>
      <p:sp>
        <p:nvSpPr>
          <p:cNvPr id="34" name="Text 29"/>
          <p:cNvSpPr/>
          <p:nvPr/>
        </p:nvSpPr>
        <p:spPr>
          <a:xfrm>
            <a:off x="4997450" y="4152503"/>
            <a:ext cx="2021014"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22396F"/>
                </a:solidFill>
                <a:latin typeface="Jost" pitchFamily="34" charset="0"/>
                <a:ea typeface="Jost" pitchFamily="34" charset="-122"/>
                <a:cs typeface="Jost" pitchFamily="34" charset="-120"/>
              </a:rPr>
              <a:t>≈ 5 </a:t>
            </a:r>
            <a:r>
              <a:rPr lang="en-US" sz="3600" dirty="0">
                <a:solidFill>
                  <a:srgbClr val="5A5C77"/>
                </a:solidFill>
                <a:latin typeface="Jost" pitchFamily="34" charset="0"/>
                <a:ea typeface="Jost" pitchFamily="34" charset="-122"/>
                <a:cs typeface="Jost" pitchFamily="34" charset="-120"/>
              </a:rPr>
              <a:t>%</a:t>
            </a:r>
            <a:endParaRPr lang="en-US" sz="3600" dirty="0"/>
          </a:p>
        </p:txBody>
      </p:sp>
      <p:sp>
        <p:nvSpPr>
          <p:cNvPr id="35" name="Text 30"/>
          <p:cNvSpPr/>
          <p:nvPr/>
        </p:nvSpPr>
        <p:spPr>
          <a:xfrm>
            <a:off x="4997450" y="4693444"/>
            <a:ext cx="2021014"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A5C77"/>
                </a:solidFill>
                <a:latin typeface="EB Garamond" pitchFamily="18" charset="0"/>
                <a:ea typeface="EB Garamond" pitchFamily="18" charset="-122"/>
                <a:cs typeface="EB Garamond" pitchFamily="18" charset="-120"/>
              </a:rPr>
              <a:t>cierre previsto en 2S 2026</a:t>
            </a:r>
            <a:endParaRPr lang="en-US" sz="1200" dirty="0"/>
          </a:p>
        </p:txBody>
      </p:sp>
      <p:sp>
        <p:nvSpPr>
          <p:cNvPr id="36" name="Shape 31"/>
          <p:cNvSpPr/>
          <p:nvPr/>
        </p:nvSpPr>
        <p:spPr>
          <a:xfrm>
            <a:off x="7315200" y="3759795"/>
            <a:ext cx="4267200" cy="0"/>
          </a:xfrm>
          <a:prstGeom prst="line">
            <a:avLst/>
          </a:prstGeom>
          <a:noFill/>
          <a:ln w="9525">
            <a:solidFill>
              <a:srgbClr val="010736"/>
            </a:solidFill>
            <a:prstDash val="solid"/>
          </a:ln>
        </p:spPr>
        <p:txBody>
          <a:bodyPr/>
          <a:lstStyle/>
          <a:p>
            <a:endParaRPr lang="en-US"/>
          </a:p>
        </p:txBody>
      </p:sp>
      <p:sp>
        <p:nvSpPr>
          <p:cNvPr id="37" name="Text 32"/>
          <p:cNvSpPr/>
          <p:nvPr/>
        </p:nvSpPr>
        <p:spPr>
          <a:xfrm>
            <a:off x="7315200" y="3901083"/>
            <a:ext cx="439521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2396F"/>
                </a:solidFill>
                <a:latin typeface="Jost" pitchFamily="34" charset="0"/>
                <a:ea typeface="Jost" pitchFamily="34" charset="-122"/>
                <a:cs typeface="Jost" pitchFamily="34" charset="-120"/>
              </a:rPr>
              <a:t>IMPLICACIÓN</a:t>
            </a:r>
            <a:endParaRPr lang="en-US" sz="1200" dirty="0"/>
          </a:p>
        </p:txBody>
      </p:sp>
      <p:sp>
        <p:nvSpPr>
          <p:cNvPr id="38" name="Text 33"/>
          <p:cNvSpPr/>
          <p:nvPr/>
        </p:nvSpPr>
        <p:spPr>
          <a:xfrm>
            <a:off x="7315200" y="4203303"/>
            <a:ext cx="4395216"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10736"/>
                </a:solidFill>
                <a:latin typeface="EB Garamond" pitchFamily="18" charset="0"/>
                <a:ea typeface="EB Garamond" pitchFamily="18" charset="-122"/>
                <a:cs typeface="EB Garamond" pitchFamily="18" charset="-120"/>
              </a:rPr>
              <a:t>Menos ingresos consolidados, pero más margen, menos inversión y un flujo de caja más estable: el beneficio lo marca el concentrado.</a:t>
            </a:r>
            <a:endParaRPr lang="en-US" sz="1400" dirty="0"/>
          </a:p>
        </p:txBody>
      </p:sp>
      <p:sp>
        <p:nvSpPr>
          <p:cNvPr id="39" name="Shape 34"/>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40" name="Text 35"/>
          <p:cNvSpPr/>
          <p:nvPr/>
        </p:nvSpPr>
        <p:spPr>
          <a:xfrm>
            <a:off x="609600" y="6398320"/>
            <a:ext cx="8252936"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Coca-Cola, nota sobre la venta del 75 % de Coca-Cola Beverages Africa (CCBA) a Coca-Cola HBC; análisis propio.</a:t>
            </a:r>
            <a:endParaRPr lang="en-US" sz="1200" dirty="0"/>
          </a:p>
        </p:txBody>
      </p:sp>
      <p:sp>
        <p:nvSpPr>
          <p:cNvPr id="42" name="Text 37"/>
          <p:cNvSpPr/>
          <p:nvPr/>
        </p:nvSpPr>
        <p:spPr>
          <a:xfrm>
            <a:off x="11358166" y="6390680"/>
            <a:ext cx="275034"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05</a:t>
            </a:r>
            <a:endParaRPr lang="en-US" sz="1200" dirty="0"/>
          </a:p>
        </p:txBody>
      </p:sp>
    </p:spTree>
    <p:extLst>
      <p:ext uri="{BB962C8B-B14F-4D97-AF65-F5344CB8AC3E}">
        <p14:creationId xmlns:p14="http://schemas.microsoft.com/office/powerpoint/2010/main" val="2620874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245763"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01 · MARCAS Y CATEGORÍAS</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Coca-Cola Zero Sugar crece un 14 % en volumen en 2025 y sostiene una cartera que, en conjunto, no crece</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Volumen de cajas unitarias por categoría </a:t>
            </a:r>
            <a:r>
              <a:rPr lang="en-US" sz="1200" dirty="0">
                <a:solidFill>
                  <a:srgbClr val="5A5C77"/>
                </a:solidFill>
                <a:latin typeface="Jost" pitchFamily="34" charset="0"/>
                <a:ea typeface="Jost" pitchFamily="34" charset="-122"/>
                <a:cs typeface="Jost" pitchFamily="34" charset="-120"/>
              </a:rPr>
              <a:t>· variación a/a, FY 2025</a:t>
            </a:r>
            <a:endParaRPr lang="en-US" sz="1200" dirty="0"/>
          </a:p>
        </p:txBody>
      </p:sp>
      <p:graphicFrame>
        <p:nvGraphicFramePr>
          <p:cNvPr id="9" name="Table 0"/>
          <p:cNvGraphicFramePr>
            <a:graphicFrameLocks noGrp="1"/>
          </p:cNvGraphicFramePr>
          <p:nvPr/>
        </p:nvGraphicFramePr>
        <p:xfrm>
          <a:off x="622300" y="2207220"/>
          <a:ext cx="6337300" cy="3592710"/>
        </p:xfrm>
        <a:graphic>
          <a:graphicData uri="http://schemas.openxmlformats.org/drawingml/2006/table">
            <a:tbl>
              <a:tblPr/>
              <a:tblGrid>
                <a:gridCol w="2408174">
                  <a:extLst>
                    <a:ext uri="{9D8B030D-6E8A-4147-A177-3AD203B41FA5}">
                      <a16:colId xmlns:a16="http://schemas.microsoft.com/office/drawing/2014/main" val="20000"/>
                    </a:ext>
                  </a:extLst>
                </a:gridCol>
                <a:gridCol w="2788412">
                  <a:extLst>
                    <a:ext uri="{9D8B030D-6E8A-4147-A177-3AD203B41FA5}">
                      <a16:colId xmlns:a16="http://schemas.microsoft.com/office/drawing/2014/main" val="20001"/>
                    </a:ext>
                  </a:extLst>
                </a:gridCol>
                <a:gridCol w="1140714">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Categoría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Marcas principales</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Volumen</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Refrescos con gas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Coca-Cola, Sprite, Fanta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Coca-Cola Zero Sugar</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Coca-Cola Zero Sugar</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+14 %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Diet Coke / Light</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Diet Coke, Coca-Cola Light</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Zumos, lácteos y vegetales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Minute Maid, fairlife, Del Valle</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Agua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Dasani, smartwater, Topo Chico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Bebidas deportivas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Powerade, BodyArmor</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Café</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Costa, Georgia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Té</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Gold Peak, Fuze Tea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8"/>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Total compañía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nSpc>
                          <a:spcPts val="1820"/>
                        </a:lnSpc>
                        <a:buNone/>
                      </a:pP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0 %</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9"/>
                  </a:ext>
                </a:extLst>
              </a:tr>
            </a:tbl>
          </a:graphicData>
        </a:graphic>
      </p:graphicFrame>
      <p:sp>
        <p:nvSpPr>
          <p:cNvPr id="10" name="Shape 7"/>
          <p:cNvSpPr/>
          <p:nvPr/>
        </p:nvSpPr>
        <p:spPr>
          <a:xfrm>
            <a:off x="7366000" y="1909762"/>
            <a:ext cx="4216400" cy="0"/>
          </a:xfrm>
          <a:prstGeom prst="line">
            <a:avLst/>
          </a:prstGeom>
          <a:noFill/>
          <a:ln w="9525">
            <a:solidFill>
              <a:srgbClr val="010736"/>
            </a:solidFill>
            <a:prstDash val="solid"/>
          </a:ln>
        </p:spPr>
        <p:txBody>
          <a:bodyPr/>
          <a:lstStyle/>
          <a:p>
            <a:endParaRPr lang="en-US"/>
          </a:p>
        </p:txBody>
      </p:sp>
      <p:sp>
        <p:nvSpPr>
          <p:cNvPr id="11" name="Text 8"/>
          <p:cNvSpPr/>
          <p:nvPr/>
        </p:nvSpPr>
        <p:spPr>
          <a:xfrm>
            <a:off x="7366000" y="2051050"/>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01</a:t>
            </a:r>
            <a:endParaRPr lang="en-US" sz="1200" dirty="0"/>
          </a:p>
        </p:txBody>
      </p:sp>
      <p:sp>
        <p:nvSpPr>
          <p:cNvPr id="12" name="Text 9"/>
          <p:cNvSpPr/>
          <p:nvPr/>
        </p:nvSpPr>
        <p:spPr>
          <a:xfrm>
            <a:off x="7823200" y="2051050"/>
            <a:ext cx="3871976"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Sin azúcar como motor:</a:t>
            </a:r>
            <a:r>
              <a:rPr lang="en-US" sz="1400" dirty="0">
                <a:solidFill>
                  <a:srgbClr val="010736"/>
                </a:solidFill>
                <a:latin typeface="EB Garamond" pitchFamily="18" charset="0"/>
                <a:ea typeface="EB Garamond" pitchFamily="18" charset="-122"/>
                <a:cs typeface="EB Garamond" pitchFamily="18" charset="-120"/>
              </a:rPr>
              <a:t> Zero Sugar es la mayor palanca de crecimiento de la marca principal.</a:t>
            </a:r>
            <a:endParaRPr lang="en-US" sz="1400" dirty="0"/>
          </a:p>
        </p:txBody>
      </p:sp>
      <p:sp>
        <p:nvSpPr>
          <p:cNvPr id="13" name="Shape 10"/>
          <p:cNvSpPr/>
          <p:nvPr/>
        </p:nvSpPr>
        <p:spPr>
          <a:xfrm>
            <a:off x="7366000" y="2691606"/>
            <a:ext cx="4216400" cy="0"/>
          </a:xfrm>
          <a:prstGeom prst="line">
            <a:avLst/>
          </a:prstGeom>
          <a:noFill/>
          <a:ln w="6350">
            <a:solidFill>
              <a:srgbClr val="D0CECE"/>
            </a:solidFill>
            <a:prstDash val="solid"/>
          </a:ln>
        </p:spPr>
        <p:txBody>
          <a:bodyPr/>
          <a:lstStyle/>
          <a:p>
            <a:endParaRPr lang="en-US"/>
          </a:p>
        </p:txBody>
      </p:sp>
      <p:sp>
        <p:nvSpPr>
          <p:cNvPr id="14" name="Text 11"/>
          <p:cNvSpPr/>
          <p:nvPr/>
        </p:nvSpPr>
        <p:spPr>
          <a:xfrm>
            <a:off x="7366000" y="2834481"/>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02</a:t>
            </a:r>
            <a:endParaRPr lang="en-US" sz="1200" dirty="0"/>
          </a:p>
        </p:txBody>
      </p:sp>
      <p:sp>
        <p:nvSpPr>
          <p:cNvPr id="15" name="Text 12"/>
          <p:cNvSpPr/>
          <p:nvPr/>
        </p:nvSpPr>
        <p:spPr>
          <a:xfrm>
            <a:off x="7823200" y="2834481"/>
            <a:ext cx="3871976"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El precio sostiene los ingresos:</a:t>
            </a:r>
            <a:r>
              <a:rPr lang="en-US" sz="1400" dirty="0">
                <a:solidFill>
                  <a:srgbClr val="010736"/>
                </a:solidFill>
                <a:latin typeface="EB Garamond" pitchFamily="18" charset="0"/>
                <a:ea typeface="EB Garamond" pitchFamily="18" charset="-122"/>
                <a:cs typeface="EB Garamond" pitchFamily="18" charset="-120"/>
              </a:rPr>
              <a:t> +4 % de precio/mix con un volumen plano en 2025.</a:t>
            </a:r>
            <a:endParaRPr lang="en-US" sz="1400" dirty="0"/>
          </a:p>
        </p:txBody>
      </p:sp>
      <p:sp>
        <p:nvSpPr>
          <p:cNvPr id="16" name="Shape 13"/>
          <p:cNvSpPr/>
          <p:nvPr/>
        </p:nvSpPr>
        <p:spPr>
          <a:xfrm>
            <a:off x="7366000" y="3475038"/>
            <a:ext cx="4216400" cy="0"/>
          </a:xfrm>
          <a:prstGeom prst="line">
            <a:avLst/>
          </a:prstGeom>
          <a:noFill/>
          <a:ln w="6350">
            <a:solidFill>
              <a:srgbClr val="D0CECE"/>
            </a:solidFill>
            <a:prstDash val="solid"/>
          </a:ln>
        </p:spPr>
        <p:txBody>
          <a:bodyPr/>
          <a:lstStyle/>
          <a:p>
            <a:endParaRPr lang="en-US"/>
          </a:p>
        </p:txBody>
      </p:sp>
      <p:sp>
        <p:nvSpPr>
          <p:cNvPr id="17" name="Text 14"/>
          <p:cNvSpPr/>
          <p:nvPr/>
        </p:nvSpPr>
        <p:spPr>
          <a:xfrm>
            <a:off x="7366000" y="3617913"/>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03</a:t>
            </a:r>
            <a:endParaRPr lang="en-US" sz="1200" dirty="0"/>
          </a:p>
        </p:txBody>
      </p:sp>
      <p:sp>
        <p:nvSpPr>
          <p:cNvPr id="18" name="Text 15"/>
          <p:cNvSpPr/>
          <p:nvPr/>
        </p:nvSpPr>
        <p:spPr>
          <a:xfrm>
            <a:off x="7823200" y="3617913"/>
            <a:ext cx="3871976"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Cuota al alza:</a:t>
            </a:r>
            <a:r>
              <a:rPr lang="en-US" sz="1400" dirty="0">
                <a:solidFill>
                  <a:srgbClr val="010736"/>
                </a:solidFill>
                <a:latin typeface="EB Garamond" pitchFamily="18" charset="0"/>
                <a:ea typeface="EB Garamond" pitchFamily="18" charset="-122"/>
                <a:cs typeface="EB Garamond" pitchFamily="18" charset="-120"/>
              </a:rPr>
              <a:t> gana cuota en valor en bebidas sin alcohol listas para tomar en 2025.</a:t>
            </a:r>
            <a:endParaRPr lang="en-US" sz="1400" dirty="0"/>
          </a:p>
        </p:txBody>
      </p:sp>
      <p:sp>
        <p:nvSpPr>
          <p:cNvPr id="20" name="Shape 17"/>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1" name="Text 18"/>
          <p:cNvSpPr/>
          <p:nvPr/>
        </p:nvSpPr>
        <p:spPr>
          <a:xfrm>
            <a:off x="609600" y="6398320"/>
            <a:ext cx="6707029"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Coca-Cola, resultados del cuarto trimestre y del ejercicio 2025 (10/02/2026); análisis propio.</a:t>
            </a:r>
            <a:endParaRPr lang="en-US" sz="1200" dirty="0"/>
          </a:p>
        </p:txBody>
      </p:sp>
      <p:sp>
        <p:nvSpPr>
          <p:cNvPr id="23" name="Text 20"/>
          <p:cNvSpPr/>
          <p:nvPr/>
        </p:nvSpPr>
        <p:spPr>
          <a:xfrm>
            <a:off x="11355586" y="6390680"/>
            <a:ext cx="277614"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06</a:t>
            </a:r>
            <a:endParaRPr lang="en-US" sz="1200" dirty="0"/>
          </a:p>
        </p:txBody>
      </p:sp>
    </p:spTree>
    <p:extLst>
      <p:ext uri="{BB962C8B-B14F-4D97-AF65-F5344CB8AC3E}">
        <p14:creationId xmlns:p14="http://schemas.microsoft.com/office/powerpoint/2010/main" val="2134854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671649"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01 · SEGMENTOS GEOGRÁFICOS</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Norteamérica aporta el 42 % de los ingresos, pero Latinoamérica crece más del doble en orgánico (+10 % en 2025)</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588645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Ingresos por segmento, FY 2026E</a:t>
            </a:r>
            <a:endParaRPr lang="en-US" sz="1300" dirty="0"/>
          </a:p>
        </p:txBody>
      </p:sp>
      <p:sp>
        <p:nvSpPr>
          <p:cNvPr id="9" name="Text 7"/>
          <p:cNvSpPr/>
          <p:nvPr/>
        </p:nvSpPr>
        <p:spPr>
          <a:xfrm>
            <a:off x="609600" y="21614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A5C77"/>
                </a:solidFill>
                <a:latin typeface="EB Garamond" pitchFamily="18" charset="0"/>
                <a:ea typeface="EB Garamond" pitchFamily="18" charset="-122"/>
                <a:cs typeface="EB Garamond" pitchFamily="18" charset="-120"/>
              </a:rPr>
              <a:t>M$ y peso sobre el total de 49.135 M$</a:t>
            </a:r>
            <a:endParaRPr lang="en-US" sz="1200" dirty="0"/>
          </a:p>
        </p:txBody>
      </p:sp>
      <p:sp>
        <p:nvSpPr>
          <p:cNvPr id="10" name="Shape 8"/>
          <p:cNvSpPr/>
          <p:nvPr/>
        </p:nvSpPr>
        <p:spPr>
          <a:xfrm>
            <a:off x="609600" y="2517676"/>
            <a:ext cx="5715000" cy="0"/>
          </a:xfrm>
          <a:prstGeom prst="line">
            <a:avLst/>
          </a:prstGeom>
          <a:noFill/>
          <a:ln w="6350">
            <a:solidFill>
              <a:srgbClr val="010736"/>
            </a:solidFill>
            <a:prstDash val="solid"/>
          </a:ln>
        </p:spPr>
        <p:txBody>
          <a:bodyPr/>
          <a:lstStyle/>
          <a:p>
            <a:endParaRPr lang="en-US"/>
          </a:p>
        </p:txBody>
      </p:sp>
      <p:sp>
        <p:nvSpPr>
          <p:cNvPr id="11" name="Text 9"/>
          <p:cNvSpPr/>
          <p:nvPr/>
        </p:nvSpPr>
        <p:spPr>
          <a:xfrm>
            <a:off x="609600" y="2655491"/>
            <a:ext cx="163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Norteamérica</a:t>
            </a:r>
            <a:endParaRPr lang="en-US" sz="1200" dirty="0"/>
          </a:p>
        </p:txBody>
      </p:sp>
      <p:sp>
        <p:nvSpPr>
          <p:cNvPr id="12" name="Shape 10"/>
          <p:cNvSpPr/>
          <p:nvPr/>
        </p:nvSpPr>
        <p:spPr>
          <a:xfrm>
            <a:off x="2324100" y="2635151"/>
            <a:ext cx="2667000" cy="254000"/>
          </a:xfrm>
          <a:prstGeom prst="rect">
            <a:avLst/>
          </a:prstGeom>
          <a:solidFill>
            <a:srgbClr val="22396F"/>
          </a:solidFill>
          <a:ln/>
        </p:spPr>
        <p:txBody>
          <a:bodyPr/>
          <a:lstStyle/>
          <a:p>
            <a:endParaRPr lang="en-US"/>
          </a:p>
        </p:txBody>
      </p:sp>
      <p:sp>
        <p:nvSpPr>
          <p:cNvPr id="13" name="Text 11"/>
          <p:cNvSpPr/>
          <p:nvPr/>
        </p:nvSpPr>
        <p:spPr>
          <a:xfrm>
            <a:off x="5118100" y="2655491"/>
            <a:ext cx="1320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396F"/>
                </a:solidFill>
                <a:latin typeface="Jost" pitchFamily="34" charset="0"/>
                <a:ea typeface="Jost" pitchFamily="34" charset="-122"/>
                <a:cs typeface="Jost" pitchFamily="34" charset="-120"/>
              </a:rPr>
              <a:t>20.552 · 41,8 %</a:t>
            </a:r>
            <a:endParaRPr lang="en-US" sz="1200" dirty="0"/>
          </a:p>
        </p:txBody>
      </p:sp>
      <p:sp>
        <p:nvSpPr>
          <p:cNvPr id="14" name="Text 12"/>
          <p:cNvSpPr/>
          <p:nvPr/>
        </p:nvSpPr>
        <p:spPr>
          <a:xfrm>
            <a:off x="609600" y="3049191"/>
            <a:ext cx="163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EMEA</a:t>
            </a:r>
            <a:endParaRPr lang="en-US" sz="1200" dirty="0"/>
          </a:p>
        </p:txBody>
      </p:sp>
      <p:sp>
        <p:nvSpPr>
          <p:cNvPr id="15" name="Shape 13"/>
          <p:cNvSpPr/>
          <p:nvPr/>
        </p:nvSpPr>
        <p:spPr>
          <a:xfrm>
            <a:off x="2324100" y="3028851"/>
            <a:ext cx="1587500" cy="254000"/>
          </a:xfrm>
          <a:prstGeom prst="rect">
            <a:avLst/>
          </a:prstGeom>
          <a:solidFill>
            <a:srgbClr val="8590A9"/>
          </a:solidFill>
          <a:ln/>
        </p:spPr>
        <p:txBody>
          <a:bodyPr/>
          <a:lstStyle/>
          <a:p>
            <a:endParaRPr lang="en-US"/>
          </a:p>
        </p:txBody>
      </p:sp>
      <p:sp>
        <p:nvSpPr>
          <p:cNvPr id="16" name="Text 14"/>
          <p:cNvSpPr/>
          <p:nvPr/>
        </p:nvSpPr>
        <p:spPr>
          <a:xfrm>
            <a:off x="4038600" y="3049191"/>
            <a:ext cx="24199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12.228 · 24,9 %</a:t>
            </a:r>
            <a:endParaRPr lang="en-US" sz="1200" dirty="0"/>
          </a:p>
        </p:txBody>
      </p:sp>
      <p:sp>
        <p:nvSpPr>
          <p:cNvPr id="17" name="Text 15"/>
          <p:cNvSpPr/>
          <p:nvPr/>
        </p:nvSpPr>
        <p:spPr>
          <a:xfrm>
            <a:off x="609600" y="3442891"/>
            <a:ext cx="163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Latinoamérica</a:t>
            </a:r>
            <a:endParaRPr lang="en-US" sz="1200" dirty="0"/>
          </a:p>
        </p:txBody>
      </p:sp>
      <p:sp>
        <p:nvSpPr>
          <p:cNvPr id="18" name="Shape 16"/>
          <p:cNvSpPr/>
          <p:nvPr/>
        </p:nvSpPr>
        <p:spPr>
          <a:xfrm>
            <a:off x="2324100" y="3422551"/>
            <a:ext cx="889000" cy="254000"/>
          </a:xfrm>
          <a:prstGeom prst="rect">
            <a:avLst/>
          </a:prstGeom>
          <a:solidFill>
            <a:srgbClr val="8590A9"/>
          </a:solidFill>
          <a:ln/>
        </p:spPr>
        <p:txBody>
          <a:bodyPr/>
          <a:lstStyle/>
          <a:p>
            <a:endParaRPr lang="en-US"/>
          </a:p>
        </p:txBody>
      </p:sp>
      <p:sp>
        <p:nvSpPr>
          <p:cNvPr id="19" name="Text 17"/>
          <p:cNvSpPr/>
          <p:nvPr/>
        </p:nvSpPr>
        <p:spPr>
          <a:xfrm>
            <a:off x="3340100" y="3442891"/>
            <a:ext cx="31394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6.858 · 14,0 %</a:t>
            </a:r>
            <a:endParaRPr lang="en-US" sz="1200" dirty="0"/>
          </a:p>
        </p:txBody>
      </p:sp>
      <p:sp>
        <p:nvSpPr>
          <p:cNvPr id="20" name="Text 18"/>
          <p:cNvSpPr/>
          <p:nvPr/>
        </p:nvSpPr>
        <p:spPr>
          <a:xfrm>
            <a:off x="609600" y="3836591"/>
            <a:ext cx="163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Asia-Pacífico</a:t>
            </a:r>
            <a:endParaRPr lang="en-US" sz="1200" dirty="0"/>
          </a:p>
        </p:txBody>
      </p:sp>
      <p:sp>
        <p:nvSpPr>
          <p:cNvPr id="21" name="Shape 19"/>
          <p:cNvSpPr/>
          <p:nvPr/>
        </p:nvSpPr>
        <p:spPr>
          <a:xfrm>
            <a:off x="2324100" y="3816251"/>
            <a:ext cx="749300" cy="254000"/>
          </a:xfrm>
          <a:prstGeom prst="rect">
            <a:avLst/>
          </a:prstGeom>
          <a:solidFill>
            <a:srgbClr val="8590A9"/>
          </a:solidFill>
          <a:ln/>
        </p:spPr>
        <p:txBody>
          <a:bodyPr/>
          <a:lstStyle/>
          <a:p>
            <a:endParaRPr lang="en-US"/>
          </a:p>
        </p:txBody>
      </p:sp>
      <p:sp>
        <p:nvSpPr>
          <p:cNvPr id="22" name="Text 20"/>
          <p:cNvSpPr/>
          <p:nvPr/>
        </p:nvSpPr>
        <p:spPr>
          <a:xfrm>
            <a:off x="3200400" y="3836591"/>
            <a:ext cx="328333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5.779 · 11,8 %</a:t>
            </a:r>
            <a:endParaRPr lang="en-US" sz="1200" dirty="0"/>
          </a:p>
        </p:txBody>
      </p:sp>
      <p:sp>
        <p:nvSpPr>
          <p:cNvPr id="23" name="Text 21"/>
          <p:cNvSpPr/>
          <p:nvPr/>
        </p:nvSpPr>
        <p:spPr>
          <a:xfrm>
            <a:off x="609600" y="4230291"/>
            <a:ext cx="1638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Embotellado y otros</a:t>
            </a:r>
            <a:endParaRPr lang="en-US" sz="1200" dirty="0"/>
          </a:p>
        </p:txBody>
      </p:sp>
      <p:sp>
        <p:nvSpPr>
          <p:cNvPr id="24" name="Shape 22"/>
          <p:cNvSpPr/>
          <p:nvPr/>
        </p:nvSpPr>
        <p:spPr>
          <a:xfrm>
            <a:off x="2324100" y="4209951"/>
            <a:ext cx="482600" cy="254000"/>
          </a:xfrm>
          <a:prstGeom prst="rect">
            <a:avLst/>
          </a:prstGeom>
          <a:solidFill>
            <a:srgbClr val="8590A9"/>
          </a:solidFill>
          <a:ln/>
        </p:spPr>
        <p:txBody>
          <a:bodyPr/>
          <a:lstStyle/>
          <a:p>
            <a:endParaRPr lang="en-US"/>
          </a:p>
        </p:txBody>
      </p:sp>
      <p:sp>
        <p:nvSpPr>
          <p:cNvPr id="25" name="Text 23"/>
          <p:cNvSpPr/>
          <p:nvPr/>
        </p:nvSpPr>
        <p:spPr>
          <a:xfrm>
            <a:off x="2933700" y="4230291"/>
            <a:ext cx="35580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3.717 · 7,6 %</a:t>
            </a:r>
            <a:endParaRPr lang="en-US" sz="1200" dirty="0"/>
          </a:p>
        </p:txBody>
      </p:sp>
      <p:sp>
        <p:nvSpPr>
          <p:cNvPr id="26" name="Text 24"/>
          <p:cNvSpPr/>
          <p:nvPr/>
        </p:nvSpPr>
        <p:spPr>
          <a:xfrm>
            <a:off x="6781800" y="1905000"/>
            <a:ext cx="494461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Crecimiento por segmento, FY 2025 </a:t>
            </a:r>
            <a:r>
              <a:rPr lang="en-US" sz="1300" dirty="0">
                <a:solidFill>
                  <a:srgbClr val="5A5C77"/>
                </a:solidFill>
                <a:latin typeface="Jost" pitchFamily="34" charset="0"/>
                <a:ea typeface="Jost" pitchFamily="34" charset="-122"/>
                <a:cs typeface="Jost" pitchFamily="34" charset="-120"/>
              </a:rPr>
              <a:t>· a/a</a:t>
            </a:r>
            <a:endParaRPr lang="en-US" sz="1300" dirty="0"/>
          </a:p>
        </p:txBody>
      </p:sp>
      <p:graphicFrame>
        <p:nvGraphicFramePr>
          <p:cNvPr id="27" name="Table 0"/>
          <p:cNvGraphicFramePr>
            <a:graphicFrameLocks noGrp="1"/>
          </p:cNvGraphicFramePr>
          <p:nvPr/>
        </p:nvGraphicFramePr>
        <p:xfrm>
          <a:off x="6794500" y="2224980"/>
          <a:ext cx="4787900" cy="2514897"/>
        </p:xfrm>
        <a:graphic>
          <a:graphicData uri="http://schemas.openxmlformats.org/drawingml/2006/table">
            <a:tbl>
              <a:tblPr/>
              <a:tblGrid>
                <a:gridCol w="2393950">
                  <a:extLst>
                    <a:ext uri="{9D8B030D-6E8A-4147-A177-3AD203B41FA5}">
                      <a16:colId xmlns:a16="http://schemas.microsoft.com/office/drawing/2014/main" val="20000"/>
                    </a:ext>
                  </a:extLst>
                </a:gridCol>
                <a:gridCol w="1196975">
                  <a:extLst>
                    <a:ext uri="{9D8B030D-6E8A-4147-A177-3AD203B41FA5}">
                      <a16:colId xmlns:a16="http://schemas.microsoft.com/office/drawing/2014/main" val="20001"/>
                    </a:ext>
                  </a:extLst>
                </a:gridCol>
                <a:gridCol w="1196975">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Segmento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Volumen</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Orgánico</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EMEA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+6 %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Latinoamérica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+10 %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Norteamérica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Asia-Pacífico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+5 %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Embotellado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Total</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0 %</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+5 %</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6"/>
                  </a:ext>
                </a:extLst>
              </a:tr>
            </a:tbl>
          </a:graphicData>
        </a:graphic>
      </p:graphicFrame>
      <p:sp>
        <p:nvSpPr>
          <p:cNvPr id="28" name="Text 25"/>
          <p:cNvSpPr/>
          <p:nvPr/>
        </p:nvSpPr>
        <p:spPr>
          <a:xfrm>
            <a:off x="6781800" y="4892278"/>
            <a:ext cx="494461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EB Garamond" pitchFamily="18" charset="0"/>
                <a:ea typeface="EB Garamond" pitchFamily="18" charset="-122"/>
                <a:cs typeface="EB Garamond" pitchFamily="18" charset="-120"/>
              </a:rPr>
              <a:t>En el 2T 2026 el volumen se reactiva (+5 %) con un orgánico del +6 %.</a:t>
            </a:r>
            <a:endParaRPr lang="en-US" sz="1300" dirty="0"/>
          </a:p>
        </p:txBody>
      </p:sp>
      <p:sp>
        <p:nvSpPr>
          <p:cNvPr id="29" name="Shape 26"/>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30" name="Text 27"/>
          <p:cNvSpPr/>
          <p:nvPr/>
        </p:nvSpPr>
        <p:spPr>
          <a:xfrm>
            <a:off x="609600" y="6398320"/>
            <a:ext cx="7410212"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Coca-Cola, resultados FY 2025 y 2T 2026; modelo Coca-Cola FA (ingresos FY 2026E); análisis propio.</a:t>
            </a:r>
            <a:endParaRPr lang="en-US" sz="1200" dirty="0"/>
          </a:p>
        </p:txBody>
      </p:sp>
      <p:sp>
        <p:nvSpPr>
          <p:cNvPr id="32" name="Text 29"/>
          <p:cNvSpPr/>
          <p:nvPr/>
        </p:nvSpPr>
        <p:spPr>
          <a:xfrm>
            <a:off x="11364218" y="6390680"/>
            <a:ext cx="26898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07</a:t>
            </a:r>
            <a:endParaRPr lang="en-US" sz="1200" dirty="0"/>
          </a:p>
        </p:txBody>
      </p:sp>
    </p:spTree>
    <p:extLst>
      <p:ext uri="{BB962C8B-B14F-4D97-AF65-F5344CB8AC3E}">
        <p14:creationId xmlns:p14="http://schemas.microsoft.com/office/powerpoint/2010/main" val="2726080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412331"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01 · VENTAJAS COMPETITIVAS</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Marca, distribución y escala sostienen un ROIC del 15,8 % en un mercado maduro y muy competido</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Shape 6"/>
          <p:cNvSpPr/>
          <p:nvPr/>
        </p:nvSpPr>
        <p:spPr>
          <a:xfrm>
            <a:off x="609600" y="1914525"/>
            <a:ext cx="3454400" cy="0"/>
          </a:xfrm>
          <a:prstGeom prst="line">
            <a:avLst/>
          </a:prstGeom>
          <a:noFill/>
          <a:ln w="19050">
            <a:solidFill>
              <a:srgbClr val="010736"/>
            </a:solidFill>
            <a:prstDash val="solid"/>
          </a:ln>
        </p:spPr>
        <p:txBody>
          <a:bodyPr/>
          <a:lstStyle/>
          <a:p>
            <a:endParaRPr lang="en-US"/>
          </a:p>
        </p:txBody>
      </p:sp>
      <p:sp>
        <p:nvSpPr>
          <p:cNvPr id="9" name="Text 7"/>
          <p:cNvSpPr/>
          <p:nvPr/>
        </p:nvSpPr>
        <p:spPr>
          <a:xfrm>
            <a:off x="609600" y="2076450"/>
            <a:ext cx="3558032" cy="406400"/>
          </a:xfrm>
          <a:prstGeom prst="rect">
            <a:avLst/>
          </a:prstGeom>
          <a:noFill/>
          <a:ln/>
        </p:spPr>
        <p:txBody>
          <a:bodyPr wrap="square" lIns="0" tIns="0" rIns="0" bIns="0" rtlCol="0" anchor="t">
            <a:normAutofit/>
          </a:bodyPr>
          <a:lstStyle/>
          <a:p>
            <a:pPr marL="0" indent="0" algn="l">
              <a:lnSpc>
                <a:spcPts val="3000"/>
              </a:lnSpc>
              <a:buNone/>
            </a:pPr>
            <a:r>
              <a:rPr lang="en-US" sz="3000" dirty="0">
                <a:solidFill>
                  <a:srgbClr val="22396F"/>
                </a:solidFill>
                <a:latin typeface="Jost" pitchFamily="34" charset="0"/>
                <a:ea typeface="Jost" pitchFamily="34" charset="-122"/>
                <a:cs typeface="Jost" pitchFamily="34" charset="-120"/>
              </a:rPr>
              <a:t>01</a:t>
            </a:r>
            <a:endParaRPr lang="en-US" sz="3000" dirty="0"/>
          </a:p>
        </p:txBody>
      </p:sp>
      <p:sp>
        <p:nvSpPr>
          <p:cNvPr id="10" name="Text 8"/>
          <p:cNvSpPr/>
          <p:nvPr/>
        </p:nvSpPr>
        <p:spPr>
          <a:xfrm>
            <a:off x="609600" y="2559050"/>
            <a:ext cx="3558032" cy="299641"/>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010736"/>
                </a:solidFill>
                <a:latin typeface="Jost" pitchFamily="34" charset="0"/>
                <a:ea typeface="Jost" pitchFamily="34" charset="-122"/>
                <a:cs typeface="Jost" pitchFamily="34" charset="-120"/>
              </a:rPr>
              <a:t>Marca</a:t>
            </a:r>
            <a:endParaRPr lang="en-US" sz="1800" dirty="0"/>
          </a:p>
        </p:txBody>
      </p:sp>
      <p:sp>
        <p:nvSpPr>
          <p:cNvPr id="11" name="Text 9"/>
          <p:cNvSpPr/>
          <p:nvPr/>
        </p:nvSpPr>
        <p:spPr>
          <a:xfrm>
            <a:off x="609600" y="2934891"/>
            <a:ext cx="355803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10736"/>
                </a:solidFill>
                <a:latin typeface="EB Garamond" pitchFamily="18" charset="0"/>
                <a:ea typeface="EB Garamond" pitchFamily="18" charset="-122"/>
                <a:cs typeface="EB Garamond" pitchFamily="18" charset="-120"/>
              </a:rPr>
              <a:t>Una de las marcas más reconocidas del mundo. Su poder de precio permitió un +4 % de precio/mix en 2025 sin perder cuota.</a:t>
            </a:r>
            <a:endParaRPr lang="en-US" sz="1400" dirty="0"/>
          </a:p>
        </p:txBody>
      </p:sp>
      <p:sp>
        <p:nvSpPr>
          <p:cNvPr id="12" name="Shape 10"/>
          <p:cNvSpPr/>
          <p:nvPr/>
        </p:nvSpPr>
        <p:spPr>
          <a:xfrm>
            <a:off x="4368800" y="1914525"/>
            <a:ext cx="3454400" cy="0"/>
          </a:xfrm>
          <a:prstGeom prst="line">
            <a:avLst/>
          </a:prstGeom>
          <a:noFill/>
          <a:ln w="19050">
            <a:solidFill>
              <a:srgbClr val="010736"/>
            </a:solidFill>
            <a:prstDash val="solid"/>
          </a:ln>
        </p:spPr>
        <p:txBody>
          <a:bodyPr/>
          <a:lstStyle/>
          <a:p>
            <a:endParaRPr lang="en-US"/>
          </a:p>
        </p:txBody>
      </p:sp>
      <p:sp>
        <p:nvSpPr>
          <p:cNvPr id="13" name="Text 11"/>
          <p:cNvSpPr/>
          <p:nvPr/>
        </p:nvSpPr>
        <p:spPr>
          <a:xfrm>
            <a:off x="4368800" y="2076450"/>
            <a:ext cx="3558032" cy="406400"/>
          </a:xfrm>
          <a:prstGeom prst="rect">
            <a:avLst/>
          </a:prstGeom>
          <a:noFill/>
          <a:ln/>
        </p:spPr>
        <p:txBody>
          <a:bodyPr wrap="square" lIns="0" tIns="0" rIns="0" bIns="0" rtlCol="0" anchor="t">
            <a:normAutofit/>
          </a:bodyPr>
          <a:lstStyle/>
          <a:p>
            <a:pPr marL="0" indent="0" algn="l">
              <a:lnSpc>
                <a:spcPts val="3000"/>
              </a:lnSpc>
              <a:buNone/>
            </a:pPr>
            <a:r>
              <a:rPr lang="en-US" sz="3000" dirty="0">
                <a:solidFill>
                  <a:srgbClr val="22396F"/>
                </a:solidFill>
                <a:latin typeface="Jost" pitchFamily="34" charset="0"/>
                <a:ea typeface="Jost" pitchFamily="34" charset="-122"/>
                <a:cs typeface="Jost" pitchFamily="34" charset="-120"/>
              </a:rPr>
              <a:t>02</a:t>
            </a:r>
            <a:endParaRPr lang="en-US" sz="3000" dirty="0"/>
          </a:p>
        </p:txBody>
      </p:sp>
      <p:sp>
        <p:nvSpPr>
          <p:cNvPr id="14" name="Text 12"/>
          <p:cNvSpPr/>
          <p:nvPr/>
        </p:nvSpPr>
        <p:spPr>
          <a:xfrm>
            <a:off x="4368800" y="2559050"/>
            <a:ext cx="3558032" cy="299641"/>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010736"/>
                </a:solidFill>
                <a:latin typeface="Jost" pitchFamily="34" charset="0"/>
                <a:ea typeface="Jost" pitchFamily="34" charset="-122"/>
                <a:cs typeface="Jost" pitchFamily="34" charset="-120"/>
              </a:rPr>
              <a:t>Distribución</a:t>
            </a:r>
            <a:endParaRPr lang="en-US" sz="1800" dirty="0"/>
          </a:p>
        </p:txBody>
      </p:sp>
      <p:sp>
        <p:nvSpPr>
          <p:cNvPr id="15" name="Text 13"/>
          <p:cNvSpPr/>
          <p:nvPr/>
        </p:nvSpPr>
        <p:spPr>
          <a:xfrm>
            <a:off x="4368800" y="2934891"/>
            <a:ext cx="355803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10736"/>
                </a:solidFill>
                <a:latin typeface="EB Garamond" pitchFamily="18" charset="0"/>
                <a:ea typeface="EB Garamond" pitchFamily="18" charset="-122"/>
                <a:cs typeface="EB Garamond" pitchFamily="18" charset="-120"/>
              </a:rPr>
              <a:t>Unos 200 embotelladores llegan a millones de puntos de venta. Replicar esa red exige décadas y mucho capital.</a:t>
            </a:r>
            <a:endParaRPr lang="en-US" sz="1400" dirty="0"/>
          </a:p>
        </p:txBody>
      </p:sp>
      <p:sp>
        <p:nvSpPr>
          <p:cNvPr id="16" name="Shape 14"/>
          <p:cNvSpPr/>
          <p:nvPr/>
        </p:nvSpPr>
        <p:spPr>
          <a:xfrm>
            <a:off x="8128000" y="1914525"/>
            <a:ext cx="3454400" cy="0"/>
          </a:xfrm>
          <a:prstGeom prst="line">
            <a:avLst/>
          </a:prstGeom>
          <a:noFill/>
          <a:ln w="19050">
            <a:solidFill>
              <a:srgbClr val="010736"/>
            </a:solidFill>
            <a:prstDash val="solid"/>
          </a:ln>
        </p:spPr>
        <p:txBody>
          <a:bodyPr/>
          <a:lstStyle/>
          <a:p>
            <a:endParaRPr lang="en-US"/>
          </a:p>
        </p:txBody>
      </p:sp>
      <p:sp>
        <p:nvSpPr>
          <p:cNvPr id="17" name="Text 15"/>
          <p:cNvSpPr/>
          <p:nvPr/>
        </p:nvSpPr>
        <p:spPr>
          <a:xfrm>
            <a:off x="8128000" y="2076450"/>
            <a:ext cx="3558032" cy="406400"/>
          </a:xfrm>
          <a:prstGeom prst="rect">
            <a:avLst/>
          </a:prstGeom>
          <a:noFill/>
          <a:ln/>
        </p:spPr>
        <p:txBody>
          <a:bodyPr wrap="square" lIns="0" tIns="0" rIns="0" bIns="0" rtlCol="0" anchor="t">
            <a:normAutofit/>
          </a:bodyPr>
          <a:lstStyle/>
          <a:p>
            <a:pPr marL="0" indent="0" algn="l">
              <a:lnSpc>
                <a:spcPts val="3000"/>
              </a:lnSpc>
              <a:buNone/>
            </a:pPr>
            <a:r>
              <a:rPr lang="en-US" sz="3000" dirty="0">
                <a:solidFill>
                  <a:srgbClr val="22396F"/>
                </a:solidFill>
                <a:latin typeface="Jost" pitchFamily="34" charset="0"/>
                <a:ea typeface="Jost" pitchFamily="34" charset="-122"/>
                <a:cs typeface="Jost" pitchFamily="34" charset="-120"/>
              </a:rPr>
              <a:t>03</a:t>
            </a:r>
            <a:endParaRPr lang="en-US" sz="3000" dirty="0"/>
          </a:p>
        </p:txBody>
      </p:sp>
      <p:sp>
        <p:nvSpPr>
          <p:cNvPr id="18" name="Text 16"/>
          <p:cNvSpPr/>
          <p:nvPr/>
        </p:nvSpPr>
        <p:spPr>
          <a:xfrm>
            <a:off x="8128000" y="2559050"/>
            <a:ext cx="3558032" cy="299641"/>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010736"/>
                </a:solidFill>
                <a:latin typeface="Jost" pitchFamily="34" charset="0"/>
                <a:ea typeface="Jost" pitchFamily="34" charset="-122"/>
                <a:cs typeface="Jost" pitchFamily="34" charset="-120"/>
              </a:rPr>
              <a:t>Escala</a:t>
            </a:r>
            <a:endParaRPr lang="en-US" sz="1800" dirty="0"/>
          </a:p>
        </p:txBody>
      </p:sp>
      <p:sp>
        <p:nvSpPr>
          <p:cNvPr id="19" name="Text 17"/>
          <p:cNvSpPr/>
          <p:nvPr/>
        </p:nvSpPr>
        <p:spPr>
          <a:xfrm>
            <a:off x="8128000" y="2934891"/>
            <a:ext cx="355803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10736"/>
                </a:solidFill>
                <a:latin typeface="EB Garamond" pitchFamily="18" charset="0"/>
                <a:ea typeface="EB Garamond" pitchFamily="18" charset="-122"/>
                <a:cs typeface="EB Garamond" pitchFamily="18" charset="-120"/>
              </a:rPr>
              <a:t>El mayor presupuesto de marketing del sector y la compra centralizada reducen el coste por unidad frente a los rivales.</a:t>
            </a:r>
            <a:endParaRPr lang="en-US" sz="1400" dirty="0"/>
          </a:p>
        </p:txBody>
      </p:sp>
      <p:sp>
        <p:nvSpPr>
          <p:cNvPr id="20" name="Shape 18"/>
          <p:cNvSpPr/>
          <p:nvPr/>
        </p:nvSpPr>
        <p:spPr>
          <a:xfrm>
            <a:off x="609600" y="3960813"/>
            <a:ext cx="10972800" cy="1111052"/>
          </a:xfrm>
          <a:prstGeom prst="rect">
            <a:avLst/>
          </a:prstGeom>
          <a:solidFill>
            <a:srgbClr val="FCF1D0"/>
          </a:solidFill>
          <a:ln/>
        </p:spPr>
        <p:txBody>
          <a:bodyPr/>
          <a:lstStyle/>
          <a:p>
            <a:endParaRPr lang="en-US"/>
          </a:p>
        </p:txBody>
      </p:sp>
      <p:sp>
        <p:nvSpPr>
          <p:cNvPr id="21" name="Shape 19"/>
          <p:cNvSpPr/>
          <p:nvPr/>
        </p:nvSpPr>
        <p:spPr>
          <a:xfrm>
            <a:off x="609600" y="3965575"/>
            <a:ext cx="10972800" cy="0"/>
          </a:xfrm>
          <a:prstGeom prst="line">
            <a:avLst/>
          </a:prstGeom>
          <a:noFill/>
          <a:ln w="9525">
            <a:solidFill>
              <a:srgbClr val="010736"/>
            </a:solidFill>
            <a:prstDash val="solid"/>
          </a:ln>
        </p:spPr>
        <p:txBody>
          <a:bodyPr/>
          <a:lstStyle/>
          <a:p>
            <a:endParaRPr lang="en-US"/>
          </a:p>
        </p:txBody>
      </p:sp>
      <p:sp>
        <p:nvSpPr>
          <p:cNvPr id="22" name="Text 20"/>
          <p:cNvSpPr/>
          <p:nvPr/>
        </p:nvSpPr>
        <p:spPr>
          <a:xfrm>
            <a:off x="812800" y="4119562"/>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COMPETIDORES</a:t>
            </a:r>
            <a:endParaRPr lang="en-US" sz="1200" dirty="0"/>
          </a:p>
        </p:txBody>
      </p:sp>
      <p:sp>
        <p:nvSpPr>
          <p:cNvPr id="23" name="Text 21"/>
          <p:cNvSpPr/>
          <p:nvPr/>
        </p:nvSpPr>
        <p:spPr>
          <a:xfrm>
            <a:off x="812800" y="4421783"/>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10736"/>
                </a:solidFill>
                <a:latin typeface="EB Garamond" pitchFamily="18" charset="0"/>
                <a:ea typeface="EB Garamond" pitchFamily="18" charset="-122"/>
                <a:cs typeface="EB Garamond" pitchFamily="18" charset="-120"/>
              </a:rPr>
              <a:t>PepsiCo (refrescos y snacks), Keurig Dr Pepper, Monster Beverage y Celsius (energéticas), National Beverage y las marcas blancas de la distribución. Ninguno combina las tres ventajas a escala global.</a:t>
            </a:r>
            <a:endParaRPr lang="en-US" sz="1400" dirty="0"/>
          </a:p>
        </p:txBody>
      </p:sp>
      <p:sp>
        <p:nvSpPr>
          <p:cNvPr id="24" name="Shape 22"/>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5" name="Text 23"/>
          <p:cNvSpPr/>
          <p:nvPr/>
        </p:nvSpPr>
        <p:spPr>
          <a:xfrm>
            <a:off x="609600" y="6398320"/>
            <a:ext cx="6477119"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Coca-Cola, resultados FY 2025; modelo Coca-Cola FA (ROIC FY 2025); análisis propio.</a:t>
            </a:r>
            <a:endParaRPr lang="en-US" sz="1200" dirty="0"/>
          </a:p>
        </p:txBody>
      </p:sp>
      <p:sp>
        <p:nvSpPr>
          <p:cNvPr id="27" name="Text 25"/>
          <p:cNvSpPr/>
          <p:nvPr/>
        </p:nvSpPr>
        <p:spPr>
          <a:xfrm>
            <a:off x="11360944" y="6390680"/>
            <a:ext cx="272256"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08</a:t>
            </a:r>
            <a:endParaRPr lang="en-US" sz="1200" dirty="0"/>
          </a:p>
        </p:txBody>
      </p:sp>
    </p:spTree>
    <p:extLst>
      <p:ext uri="{BB962C8B-B14F-4D97-AF65-F5344CB8AC3E}">
        <p14:creationId xmlns:p14="http://schemas.microsoft.com/office/powerpoint/2010/main" val="1628896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171587"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01 · SECTOR Y TENDENCIAS</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El sector crece por precio y por los mercados emergentes, mientras la salud y la regulación presionan al azúcar</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5415534"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TENDENCIAS DE DEMANDA</a:t>
            </a:r>
            <a:endParaRPr lang="en-US" sz="1200" dirty="0"/>
          </a:p>
        </p:txBody>
      </p:sp>
      <p:sp>
        <p:nvSpPr>
          <p:cNvPr id="9" name="Shape 7"/>
          <p:cNvSpPr/>
          <p:nvPr/>
        </p:nvSpPr>
        <p:spPr>
          <a:xfrm>
            <a:off x="609600" y="2211983"/>
            <a:ext cx="5257800" cy="0"/>
          </a:xfrm>
          <a:prstGeom prst="line">
            <a:avLst/>
          </a:prstGeom>
          <a:noFill/>
          <a:ln w="9525">
            <a:solidFill>
              <a:srgbClr val="010736"/>
            </a:solidFill>
            <a:prstDash val="solid"/>
          </a:ln>
        </p:spPr>
        <p:txBody>
          <a:bodyPr/>
          <a:lstStyle/>
          <a:p>
            <a:endParaRPr lang="en-US"/>
          </a:p>
        </p:txBody>
      </p:sp>
      <p:sp>
        <p:nvSpPr>
          <p:cNvPr id="10" name="Text 8"/>
          <p:cNvSpPr/>
          <p:nvPr/>
        </p:nvSpPr>
        <p:spPr>
          <a:xfrm>
            <a:off x="609600" y="2353270"/>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01</a:t>
            </a:r>
            <a:endParaRPr lang="en-US" sz="1200" dirty="0"/>
          </a:p>
        </p:txBody>
      </p:sp>
      <p:sp>
        <p:nvSpPr>
          <p:cNvPr id="11" name="Text 9"/>
          <p:cNvSpPr/>
          <p:nvPr/>
        </p:nvSpPr>
        <p:spPr>
          <a:xfrm>
            <a:off x="1066800" y="2353270"/>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Menos azúcar:</a:t>
            </a:r>
            <a:r>
              <a:rPr lang="en-US" sz="1400" dirty="0">
                <a:solidFill>
                  <a:srgbClr val="010736"/>
                </a:solidFill>
                <a:latin typeface="EB Garamond" pitchFamily="18" charset="0"/>
                <a:ea typeface="EB Garamond" pitchFamily="18" charset="-122"/>
                <a:cs typeface="EB Garamond" pitchFamily="18" charset="-120"/>
              </a:rPr>
              <a:t> el consumo migra a versiones sin azúcar, agua y bebidas funcionales.</a:t>
            </a:r>
            <a:endParaRPr lang="en-US" sz="1400" dirty="0"/>
          </a:p>
        </p:txBody>
      </p:sp>
      <p:sp>
        <p:nvSpPr>
          <p:cNvPr id="12" name="Shape 10"/>
          <p:cNvSpPr/>
          <p:nvPr/>
        </p:nvSpPr>
        <p:spPr>
          <a:xfrm>
            <a:off x="609600" y="2993827"/>
            <a:ext cx="5257800" cy="0"/>
          </a:xfrm>
          <a:prstGeom prst="line">
            <a:avLst/>
          </a:prstGeom>
          <a:noFill/>
          <a:ln w="6350">
            <a:solidFill>
              <a:srgbClr val="D0CECE"/>
            </a:solidFill>
            <a:prstDash val="solid"/>
          </a:ln>
        </p:spPr>
        <p:txBody>
          <a:bodyPr/>
          <a:lstStyle/>
          <a:p>
            <a:endParaRPr lang="en-US"/>
          </a:p>
        </p:txBody>
      </p:sp>
      <p:sp>
        <p:nvSpPr>
          <p:cNvPr id="13" name="Text 11"/>
          <p:cNvSpPr/>
          <p:nvPr/>
        </p:nvSpPr>
        <p:spPr>
          <a:xfrm>
            <a:off x="609600" y="3136702"/>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02</a:t>
            </a:r>
            <a:endParaRPr lang="en-US" sz="1200" dirty="0"/>
          </a:p>
        </p:txBody>
      </p:sp>
      <p:sp>
        <p:nvSpPr>
          <p:cNvPr id="14" name="Text 12"/>
          <p:cNvSpPr/>
          <p:nvPr/>
        </p:nvSpPr>
        <p:spPr>
          <a:xfrm>
            <a:off x="1066800" y="3136702"/>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Emergentes:</a:t>
            </a:r>
            <a:r>
              <a:rPr lang="en-US" sz="1400" dirty="0">
                <a:solidFill>
                  <a:srgbClr val="010736"/>
                </a:solidFill>
                <a:latin typeface="EB Garamond" pitchFamily="18" charset="0"/>
                <a:ea typeface="EB Garamond" pitchFamily="18" charset="-122"/>
                <a:cs typeface="EB Garamond" pitchFamily="18" charset="-120"/>
              </a:rPr>
              <a:t> el consumo por habitante en África, India y el Sudeste Asiático sigue muy por debajo del de EE. UU.</a:t>
            </a:r>
            <a:endParaRPr lang="en-US" sz="1400" dirty="0"/>
          </a:p>
        </p:txBody>
      </p:sp>
      <p:sp>
        <p:nvSpPr>
          <p:cNvPr id="15" name="Shape 13"/>
          <p:cNvSpPr/>
          <p:nvPr/>
        </p:nvSpPr>
        <p:spPr>
          <a:xfrm>
            <a:off x="609600" y="3777258"/>
            <a:ext cx="5257800" cy="0"/>
          </a:xfrm>
          <a:prstGeom prst="line">
            <a:avLst/>
          </a:prstGeom>
          <a:noFill/>
          <a:ln w="6350">
            <a:solidFill>
              <a:srgbClr val="D0CECE"/>
            </a:solidFill>
            <a:prstDash val="solid"/>
          </a:ln>
        </p:spPr>
        <p:txBody>
          <a:bodyPr/>
          <a:lstStyle/>
          <a:p>
            <a:endParaRPr lang="en-US"/>
          </a:p>
        </p:txBody>
      </p:sp>
      <p:sp>
        <p:nvSpPr>
          <p:cNvPr id="16" name="Text 14"/>
          <p:cNvSpPr/>
          <p:nvPr/>
        </p:nvSpPr>
        <p:spPr>
          <a:xfrm>
            <a:off x="609600" y="3920133"/>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03</a:t>
            </a:r>
            <a:endParaRPr lang="en-US" sz="1200" dirty="0"/>
          </a:p>
        </p:txBody>
      </p:sp>
      <p:sp>
        <p:nvSpPr>
          <p:cNvPr id="17" name="Text 15"/>
          <p:cNvSpPr/>
          <p:nvPr/>
        </p:nvSpPr>
        <p:spPr>
          <a:xfrm>
            <a:off x="1066800" y="3920133"/>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Fármacos GLP-1:</a:t>
            </a:r>
            <a:r>
              <a:rPr lang="en-US" sz="1400" dirty="0">
                <a:solidFill>
                  <a:srgbClr val="010736"/>
                </a:solidFill>
                <a:latin typeface="EB Garamond" pitchFamily="18" charset="0"/>
                <a:ea typeface="EB Garamond" pitchFamily="18" charset="-122"/>
                <a:cs typeface="EB Garamond" pitchFamily="18" charset="-120"/>
              </a:rPr>
              <a:t> los tratamientos contra la obesidad pueden reducir el consumo de bebidas azucaradas a largo plazo.</a:t>
            </a:r>
            <a:endParaRPr lang="en-US" sz="1400" dirty="0"/>
          </a:p>
        </p:txBody>
      </p:sp>
      <p:sp>
        <p:nvSpPr>
          <p:cNvPr id="18" name="Text 16"/>
          <p:cNvSpPr/>
          <p:nvPr/>
        </p:nvSpPr>
        <p:spPr>
          <a:xfrm>
            <a:off x="6324600" y="1905000"/>
            <a:ext cx="5415534"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REGULACIÓN Y COSTES</a:t>
            </a:r>
            <a:endParaRPr lang="en-US" sz="1200" dirty="0"/>
          </a:p>
        </p:txBody>
      </p:sp>
      <p:sp>
        <p:nvSpPr>
          <p:cNvPr id="19" name="Shape 17"/>
          <p:cNvSpPr/>
          <p:nvPr/>
        </p:nvSpPr>
        <p:spPr>
          <a:xfrm>
            <a:off x="6324600" y="2211983"/>
            <a:ext cx="5257800" cy="0"/>
          </a:xfrm>
          <a:prstGeom prst="line">
            <a:avLst/>
          </a:prstGeom>
          <a:noFill/>
          <a:ln w="9525">
            <a:solidFill>
              <a:srgbClr val="010736"/>
            </a:solidFill>
            <a:prstDash val="solid"/>
          </a:ln>
        </p:spPr>
        <p:txBody>
          <a:bodyPr/>
          <a:lstStyle/>
          <a:p>
            <a:endParaRPr lang="en-US"/>
          </a:p>
        </p:txBody>
      </p:sp>
      <p:sp>
        <p:nvSpPr>
          <p:cNvPr id="20" name="Text 18"/>
          <p:cNvSpPr/>
          <p:nvPr/>
        </p:nvSpPr>
        <p:spPr>
          <a:xfrm>
            <a:off x="6324600" y="2353270"/>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04</a:t>
            </a:r>
            <a:endParaRPr lang="en-US" sz="1200" dirty="0"/>
          </a:p>
        </p:txBody>
      </p:sp>
      <p:sp>
        <p:nvSpPr>
          <p:cNvPr id="21" name="Text 19"/>
          <p:cNvSpPr/>
          <p:nvPr/>
        </p:nvSpPr>
        <p:spPr>
          <a:xfrm>
            <a:off x="6781800" y="2353270"/>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Impuestos al azúcar:</a:t>
            </a:r>
            <a:r>
              <a:rPr lang="en-US" sz="1400" dirty="0">
                <a:solidFill>
                  <a:srgbClr val="010736"/>
                </a:solidFill>
                <a:latin typeface="EB Garamond" pitchFamily="18" charset="0"/>
                <a:ea typeface="EB Garamond" pitchFamily="18" charset="-122"/>
                <a:cs typeface="EB Garamond" pitchFamily="18" charset="-120"/>
              </a:rPr>
              <a:t> cada vez más países gravan las bebidas azucaradas, lo que empuja la reformulación.</a:t>
            </a:r>
            <a:endParaRPr lang="en-US" sz="1400" dirty="0"/>
          </a:p>
        </p:txBody>
      </p:sp>
      <p:sp>
        <p:nvSpPr>
          <p:cNvPr id="22" name="Shape 20"/>
          <p:cNvSpPr/>
          <p:nvPr/>
        </p:nvSpPr>
        <p:spPr>
          <a:xfrm>
            <a:off x="6324600" y="2993827"/>
            <a:ext cx="5257800" cy="0"/>
          </a:xfrm>
          <a:prstGeom prst="line">
            <a:avLst/>
          </a:prstGeom>
          <a:noFill/>
          <a:ln w="6350">
            <a:solidFill>
              <a:srgbClr val="D0CECE"/>
            </a:solidFill>
            <a:prstDash val="solid"/>
          </a:ln>
        </p:spPr>
        <p:txBody>
          <a:bodyPr/>
          <a:lstStyle/>
          <a:p>
            <a:endParaRPr lang="en-US"/>
          </a:p>
        </p:txBody>
      </p:sp>
      <p:sp>
        <p:nvSpPr>
          <p:cNvPr id="23" name="Text 21"/>
          <p:cNvSpPr/>
          <p:nvPr/>
        </p:nvSpPr>
        <p:spPr>
          <a:xfrm>
            <a:off x="6324600" y="3136702"/>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05</a:t>
            </a:r>
            <a:endParaRPr lang="en-US" sz="1200" dirty="0"/>
          </a:p>
        </p:txBody>
      </p:sp>
      <p:sp>
        <p:nvSpPr>
          <p:cNvPr id="24" name="Text 22"/>
          <p:cNvSpPr/>
          <p:nvPr/>
        </p:nvSpPr>
        <p:spPr>
          <a:xfrm>
            <a:off x="6781800" y="3136702"/>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Aranceles al aluminio:</a:t>
            </a:r>
            <a:r>
              <a:rPr lang="en-US" sz="1400" dirty="0">
                <a:solidFill>
                  <a:srgbClr val="010736"/>
                </a:solidFill>
                <a:latin typeface="EB Garamond" pitchFamily="18" charset="0"/>
                <a:ea typeface="EB Garamond" pitchFamily="18" charset="-122"/>
                <a:cs typeface="EB Garamond" pitchFamily="18" charset="-120"/>
              </a:rPr>
              <a:t> encarecen la lata en EE. UU. y presionan el margen de los embotelladores.</a:t>
            </a:r>
            <a:endParaRPr lang="en-US" sz="1400" dirty="0"/>
          </a:p>
        </p:txBody>
      </p:sp>
      <p:sp>
        <p:nvSpPr>
          <p:cNvPr id="25" name="Shape 23"/>
          <p:cNvSpPr/>
          <p:nvPr/>
        </p:nvSpPr>
        <p:spPr>
          <a:xfrm>
            <a:off x="6324600" y="3777258"/>
            <a:ext cx="5257800" cy="0"/>
          </a:xfrm>
          <a:prstGeom prst="line">
            <a:avLst/>
          </a:prstGeom>
          <a:noFill/>
          <a:ln w="6350">
            <a:solidFill>
              <a:srgbClr val="D0CECE"/>
            </a:solidFill>
            <a:prstDash val="solid"/>
          </a:ln>
        </p:spPr>
        <p:txBody>
          <a:bodyPr/>
          <a:lstStyle/>
          <a:p>
            <a:endParaRPr lang="en-US"/>
          </a:p>
        </p:txBody>
      </p:sp>
      <p:sp>
        <p:nvSpPr>
          <p:cNvPr id="26" name="Text 24"/>
          <p:cNvSpPr/>
          <p:nvPr/>
        </p:nvSpPr>
        <p:spPr>
          <a:xfrm>
            <a:off x="6324600" y="3920133"/>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06</a:t>
            </a:r>
            <a:endParaRPr lang="en-US" sz="1200" dirty="0"/>
          </a:p>
        </p:txBody>
      </p:sp>
      <p:sp>
        <p:nvSpPr>
          <p:cNvPr id="27" name="Text 25"/>
          <p:cNvSpPr/>
          <p:nvPr/>
        </p:nvSpPr>
        <p:spPr>
          <a:xfrm>
            <a:off x="6781800" y="3920133"/>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Divisa:</a:t>
            </a:r>
            <a:r>
              <a:rPr lang="en-US" sz="1400" dirty="0">
                <a:solidFill>
                  <a:srgbClr val="010736"/>
                </a:solidFill>
                <a:latin typeface="EB Garamond" pitchFamily="18" charset="0"/>
                <a:ea typeface="EB Garamond" pitchFamily="18" charset="-122"/>
                <a:cs typeface="EB Garamond" pitchFamily="18" charset="-120"/>
              </a:rPr>
              <a:t> en 2025 Latinoamérica creció un 10 % en orgánico, pero sus ingresos en dólares cayeron un 2 %.</a:t>
            </a:r>
            <a:endParaRPr lang="en-US" sz="1400" dirty="0"/>
          </a:p>
        </p:txBody>
      </p:sp>
      <p:sp>
        <p:nvSpPr>
          <p:cNvPr id="28" name="Shape 26"/>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9" name="Text 27"/>
          <p:cNvSpPr/>
          <p:nvPr/>
        </p:nvSpPr>
        <p:spPr>
          <a:xfrm>
            <a:off x="609600" y="6398320"/>
            <a:ext cx="5817870"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Coca-Cola, resultados FY 2025; información pública del sector; análisis propio.</a:t>
            </a:r>
            <a:endParaRPr lang="en-US" sz="1200" dirty="0"/>
          </a:p>
        </p:txBody>
      </p:sp>
      <p:sp>
        <p:nvSpPr>
          <p:cNvPr id="31" name="Text 29"/>
          <p:cNvSpPr/>
          <p:nvPr/>
        </p:nvSpPr>
        <p:spPr>
          <a:xfrm>
            <a:off x="11355586" y="6390680"/>
            <a:ext cx="277614"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09</a:t>
            </a:r>
            <a:endParaRPr lang="en-US" sz="1200" dirty="0"/>
          </a:p>
        </p:txBody>
      </p:sp>
    </p:spTree>
    <p:extLst>
      <p:ext uri="{BB962C8B-B14F-4D97-AF65-F5344CB8AC3E}">
        <p14:creationId xmlns:p14="http://schemas.microsoft.com/office/powerpoint/2010/main" val="2335913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2546747"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01 · HITOS RECIENTES</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La nueva dirección hereda una guía al alza: BPA comparable del +9–10 % en 2026 y unos 12,4 mil M$ de caja libre</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graphicFrame>
        <p:nvGraphicFramePr>
          <p:cNvPr id="8" name="Table 0"/>
          <p:cNvGraphicFramePr>
            <a:graphicFrameLocks noGrp="1"/>
          </p:cNvGraphicFramePr>
          <p:nvPr/>
        </p:nvGraphicFramePr>
        <p:xfrm>
          <a:off x="622300" y="1917700"/>
          <a:ext cx="10960100" cy="2514897"/>
        </p:xfrm>
        <a:graphic>
          <a:graphicData uri="http://schemas.openxmlformats.org/drawingml/2006/table">
            <a:tbl>
              <a:tblPr/>
              <a:tblGrid>
                <a:gridCol w="1644015">
                  <a:extLst>
                    <a:ext uri="{9D8B030D-6E8A-4147-A177-3AD203B41FA5}">
                      <a16:colId xmlns:a16="http://schemas.microsoft.com/office/drawing/2014/main" val="20000"/>
                    </a:ext>
                  </a:extLst>
                </a:gridCol>
                <a:gridCol w="5151247">
                  <a:extLst>
                    <a:ext uri="{9D8B030D-6E8A-4147-A177-3AD203B41FA5}">
                      <a16:colId xmlns:a16="http://schemas.microsoft.com/office/drawing/2014/main" val="20001"/>
                    </a:ext>
                  </a:extLst>
                </a:gridCol>
                <a:gridCol w="4164838">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Fecha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Hito</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Implicación</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Jul. 2025</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Venta del 40 % de Hindustan Coca-Cola Beverages (India)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Refranquicia; conserva el 60 %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2S 2025</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Venta del 75 % de CCBA a Coca-Cola HBC; 3,4 mil M$ por el 100 %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Embotellado ≈ 5 % de ingresos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Dic. 2025</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Henrique Braun, nombrado consejero delegado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Continuidad; Quincey, presidente</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Feb. 2026</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FY 2025: orgánico +5 %, BPA comparable +4 %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Pago de 6,1 mil M$ por fairlife</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Jul. 2026</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2T 2026: orgánico +6 %, volumen +5 %; guía al alza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BPA comparable 2026 +9–10 %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27/10/2026</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Resultados del 3T 2026</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Consenso: BPA 0,88 $; 12,9 mil M$</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6"/>
                  </a:ext>
                </a:extLst>
              </a:tr>
            </a:tbl>
          </a:graphicData>
        </a:graphic>
      </p:graphicFrame>
      <p:sp>
        <p:nvSpPr>
          <p:cNvPr id="9" name="Shape 6"/>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10" name="Text 7"/>
          <p:cNvSpPr/>
          <p:nvPr/>
        </p:nvSpPr>
        <p:spPr>
          <a:xfrm>
            <a:off x="609600" y="6398320"/>
            <a:ext cx="8305681"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Coca-Cola (notas de prensa y resultados FY 2025, 2T 2026); Business Wire; MarketBeat (consenso); análisis propio.</a:t>
            </a:r>
            <a:endParaRPr lang="en-US" sz="1200" dirty="0"/>
          </a:p>
        </p:txBody>
      </p:sp>
      <p:sp>
        <p:nvSpPr>
          <p:cNvPr id="12" name="Text 9"/>
          <p:cNvSpPr/>
          <p:nvPr/>
        </p:nvSpPr>
        <p:spPr>
          <a:xfrm>
            <a:off x="11376720" y="6390680"/>
            <a:ext cx="256480"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10</a:t>
            </a:r>
            <a:endParaRPr lang="en-US" sz="1200" dirty="0"/>
          </a:p>
        </p:txBody>
      </p:sp>
    </p:spTree>
    <p:extLst>
      <p:ext uri="{BB962C8B-B14F-4D97-AF65-F5344CB8AC3E}">
        <p14:creationId xmlns:p14="http://schemas.microsoft.com/office/powerpoint/2010/main" val="239328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C42"/>
        </a:solidFill>
        <a:effectLst/>
      </p:bgPr>
    </p:bg>
    <p:spTree>
      <p:nvGrpSpPr>
        <p:cNvPr id="1" name=""/>
        <p:cNvGrpSpPr/>
        <p:nvPr/>
      </p:nvGrpSpPr>
      <p:grpSpPr>
        <a:xfrm>
          <a:off x="0" y="0"/>
          <a:ext cx="0" cy="0"/>
          <a:chOff x="0" y="0"/>
          <a:chExt cx="0" cy="0"/>
        </a:xfrm>
      </p:grpSpPr>
      <p:sp>
        <p:nvSpPr>
          <p:cNvPr id="2" name="Shape 0"/>
          <p:cNvSpPr/>
          <p:nvPr/>
        </p:nvSpPr>
        <p:spPr>
          <a:xfrm>
            <a:off x="387350" y="387350"/>
            <a:ext cx="11417300" cy="6083300"/>
          </a:xfrm>
          <a:prstGeom prst="rect">
            <a:avLst/>
          </a:prstGeom>
          <a:noFill/>
          <a:ln w="12700">
            <a:solidFill>
              <a:srgbClr val="FCF1D0"/>
            </a:solidFill>
            <a:prstDash val="solid"/>
          </a:ln>
        </p:spPr>
        <p:txBody>
          <a:bodyPr/>
          <a:lstStyle/>
          <a:p>
            <a:endParaRPr lang="en-US"/>
          </a:p>
        </p:txBody>
      </p:sp>
      <p:sp>
        <p:nvSpPr>
          <p:cNvPr id="3" name="Text 1"/>
          <p:cNvSpPr/>
          <p:nvPr/>
        </p:nvSpPr>
        <p:spPr>
          <a:xfrm>
            <a:off x="952500" y="1016000"/>
            <a:ext cx="3924300" cy="1739900"/>
          </a:xfrm>
          <a:prstGeom prst="rect">
            <a:avLst/>
          </a:prstGeom>
          <a:noFill/>
          <a:ln/>
        </p:spPr>
        <p:txBody>
          <a:bodyPr wrap="square" lIns="0" tIns="0" rIns="0" bIns="0" rtlCol="0" anchor="t">
            <a:normAutofit fontScale="85000" lnSpcReduction="10000"/>
          </a:bodyPr>
          <a:lstStyle/>
          <a:p>
            <a:pPr marL="0" indent="0" algn="l">
              <a:lnSpc>
                <a:spcPts val="13500"/>
              </a:lnSpc>
              <a:buNone/>
            </a:pPr>
            <a:r>
              <a:rPr lang="en-US" sz="13500" kern="0" spc="-200" dirty="0">
                <a:solidFill>
                  <a:srgbClr val="FCF1D0"/>
                </a:solidFill>
                <a:latin typeface="Jost" pitchFamily="34" charset="0"/>
                <a:ea typeface="Jost" pitchFamily="34" charset="-122"/>
                <a:cs typeface="Jost" pitchFamily="34" charset="-120"/>
              </a:rPr>
              <a:t>02</a:t>
            </a:r>
            <a:endParaRPr lang="en-US" sz="13500" dirty="0"/>
          </a:p>
        </p:txBody>
      </p:sp>
      <p:sp>
        <p:nvSpPr>
          <p:cNvPr id="4" name="Text 2"/>
          <p:cNvSpPr/>
          <p:nvPr/>
        </p:nvSpPr>
        <p:spPr>
          <a:xfrm>
            <a:off x="1066800" y="35560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CF1D0"/>
                </a:solidFill>
                <a:latin typeface="Jost" pitchFamily="34" charset="0"/>
                <a:ea typeface="Jost" pitchFamily="34" charset="-122"/>
                <a:cs typeface="Jost" pitchFamily="34" charset="-120"/>
              </a:rPr>
              <a:t>SECCIÓN</a:t>
            </a:r>
            <a:endParaRPr lang="en-US" sz="1200" dirty="0"/>
          </a:p>
        </p:txBody>
      </p:sp>
      <p:sp>
        <p:nvSpPr>
          <p:cNvPr id="5" name="Text 3"/>
          <p:cNvSpPr>
            <a:spLocks noGrp="1"/>
          </p:cNvSpPr>
          <p:nvPr>
            <p:ph type="title"/>
          </p:nvPr>
        </p:nvSpPr>
        <p:spPr>
          <a:xfrm>
            <a:off x="1066800" y="3870920"/>
            <a:ext cx="7848600" cy="551160"/>
          </a:xfrm>
          <a:prstGeom prst="rect">
            <a:avLst/>
          </a:prstGeom>
          <a:noFill/>
          <a:ln/>
        </p:spPr>
        <p:txBody>
          <a:bodyPr wrap="square" lIns="0" tIns="0" rIns="0" bIns="0" rtlCol="0" anchor="t">
            <a:normAutofit/>
          </a:bodyPr>
          <a:lstStyle/>
          <a:p>
            <a:pPr marL="0" indent="0" algn="l">
              <a:lnSpc>
                <a:spcPts val="4140"/>
              </a:lnSpc>
              <a:buNone/>
            </a:pPr>
            <a:r>
              <a:rPr lang="en-US" sz="3600" b="0" i="0" kern="0" spc="-50" dirty="0">
                <a:solidFill>
                  <a:srgbClr val="FCF1D0"/>
                </a:solidFill>
                <a:latin typeface="Jost" pitchFamily="34" charset="0"/>
                <a:ea typeface="Jost" pitchFamily="34" charset="-122"/>
                <a:cs typeface="Jost" pitchFamily="34" charset="-120"/>
              </a:rPr>
              <a:t>Finanzas</a:t>
            </a:r>
            <a:endParaRPr lang="en-US" sz="3600" dirty="0"/>
          </a:p>
        </p:txBody>
      </p:sp>
      <p:sp>
        <p:nvSpPr>
          <p:cNvPr id="6" name="Text 4"/>
          <p:cNvSpPr/>
          <p:nvPr/>
        </p:nvSpPr>
        <p:spPr>
          <a:xfrm>
            <a:off x="1066800" y="4498280"/>
            <a:ext cx="7848600" cy="405110"/>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FCF1D0"/>
                </a:solidFill>
                <a:latin typeface="Pinyon Script" pitchFamily="18" charset="0"/>
                <a:ea typeface="Pinyon Script" pitchFamily="18" charset="-122"/>
                <a:cs typeface="Pinyon Script" pitchFamily="18" charset="-120"/>
              </a:rPr>
              <a:t>Cinco años de disciplina</a:t>
            </a:r>
            <a:endParaRPr lang="en-US" sz="2300" dirty="0"/>
          </a:p>
        </p:txBody>
      </p:sp>
      <p:sp>
        <p:nvSpPr>
          <p:cNvPr id="7" name="Shape 5"/>
          <p:cNvSpPr/>
          <p:nvPr/>
        </p:nvSpPr>
        <p:spPr>
          <a:xfrm>
            <a:off x="1066800" y="5816005"/>
            <a:ext cx="10058400" cy="0"/>
          </a:xfrm>
          <a:prstGeom prst="line">
            <a:avLst/>
          </a:prstGeom>
          <a:noFill/>
          <a:ln w="6350">
            <a:solidFill>
              <a:srgbClr val="FCF1D0"/>
            </a:solidFill>
            <a:prstDash val="solid"/>
          </a:ln>
        </p:spPr>
        <p:txBody>
          <a:bodyPr/>
          <a:lstStyle/>
          <a:p>
            <a:endParaRPr lang="en-US"/>
          </a:p>
        </p:txBody>
      </p:sp>
      <p:sp>
        <p:nvSpPr>
          <p:cNvPr id="8" name="Text 6"/>
          <p:cNvSpPr/>
          <p:nvPr/>
        </p:nvSpPr>
        <p:spPr>
          <a:xfrm>
            <a:off x="1066800" y="5920780"/>
            <a:ext cx="4088368"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FCF1D0"/>
                </a:solidFill>
                <a:latin typeface="Jost" pitchFamily="34" charset="0"/>
                <a:ea typeface="Jost" pitchFamily="34" charset="-122"/>
                <a:cs typeface="Jost" pitchFamily="34" charset="-120"/>
              </a:rPr>
              <a:t>Negocio | </a:t>
            </a:r>
            <a:r>
              <a:rPr lang="en-US" sz="1200" b="1" kern="0" spc="50" dirty="0">
                <a:solidFill>
                  <a:srgbClr val="FCF1D0"/>
                </a:solidFill>
                <a:latin typeface="Jost" pitchFamily="34" charset="0"/>
                <a:ea typeface="Jost" pitchFamily="34" charset="-122"/>
                <a:cs typeface="Jost" pitchFamily="34" charset="-120"/>
              </a:rPr>
              <a:t>Finanzas</a:t>
            </a:r>
            <a:r>
              <a:rPr lang="en-US" sz="1200" kern="0" spc="50" dirty="0">
                <a:solidFill>
                  <a:srgbClr val="FCF1D0"/>
                </a:solidFill>
                <a:latin typeface="Jost" pitchFamily="34" charset="0"/>
                <a:ea typeface="Jost" pitchFamily="34" charset="-122"/>
                <a:cs typeface="Jost" pitchFamily="34" charset="-120"/>
              </a:rPr>
              <a:t> | Valoración | Conclusiones</a:t>
            </a:r>
            <a:endParaRPr lang="en-US" sz="1200" dirty="0"/>
          </a:p>
        </p:txBody>
      </p:sp>
      <p:sp>
        <p:nvSpPr>
          <p:cNvPr id="9" name="Text 7"/>
          <p:cNvSpPr/>
          <p:nvPr/>
        </p:nvSpPr>
        <p:spPr>
          <a:xfrm>
            <a:off x="10361652" y="5920780"/>
            <a:ext cx="763548" cy="238720"/>
          </a:xfrm>
          <a:prstGeom prst="rect">
            <a:avLst/>
          </a:prstGeom>
          <a:noFill/>
          <a:ln/>
        </p:spPr>
        <p:txBody>
          <a:bodyPr wrap="square" lIns="0" tIns="0" rIns="0" bIns="0" rtlCol="0" anchor="t">
            <a:normAutofit/>
          </a:bodyPr>
          <a:lstStyle/>
          <a:p>
            <a:pPr marL="0" indent="0" algn="r">
              <a:lnSpc>
                <a:spcPts val="1680"/>
              </a:lnSpc>
              <a:buNone/>
            </a:pPr>
            <a:r>
              <a:rPr lang="en-US" sz="1200" kern="0" spc="150" dirty="0">
                <a:solidFill>
                  <a:srgbClr val="FCF1D0"/>
                </a:solidFill>
                <a:latin typeface="Jost" pitchFamily="34" charset="0"/>
                <a:ea typeface="Jost" pitchFamily="34" charset="-122"/>
                <a:cs typeface="Jost" pitchFamily="34" charset="-120"/>
              </a:rPr>
              <a:t>11 / 25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57866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02 · CIFRAS CLAVE 2021–2025</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Los ingresos crecen al 5,6 % anual entre 2021 y 2025 con un margen bruto estable en torno al 60 %</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graphicFrame>
        <p:nvGraphicFramePr>
          <p:cNvPr id="8" name="Table 0"/>
          <p:cNvGraphicFramePr>
            <a:graphicFrameLocks noGrp="1"/>
          </p:cNvGraphicFramePr>
          <p:nvPr/>
        </p:nvGraphicFramePr>
        <p:xfrm>
          <a:off x="622300" y="1854200"/>
          <a:ext cx="10960100" cy="3928860"/>
        </p:xfrm>
        <a:graphic>
          <a:graphicData uri="http://schemas.openxmlformats.org/drawingml/2006/table">
            <a:tbl>
              <a:tblPr/>
              <a:tblGrid>
                <a:gridCol w="3288030">
                  <a:extLst>
                    <a:ext uri="{9D8B030D-6E8A-4147-A177-3AD203B41FA5}">
                      <a16:colId xmlns:a16="http://schemas.microsoft.com/office/drawing/2014/main" val="20000"/>
                    </a:ext>
                  </a:extLst>
                </a:gridCol>
                <a:gridCol w="1205611">
                  <a:extLst>
                    <a:ext uri="{9D8B030D-6E8A-4147-A177-3AD203B41FA5}">
                      <a16:colId xmlns:a16="http://schemas.microsoft.com/office/drawing/2014/main" val="20001"/>
                    </a:ext>
                  </a:extLst>
                </a:gridCol>
                <a:gridCol w="1205611">
                  <a:extLst>
                    <a:ext uri="{9D8B030D-6E8A-4147-A177-3AD203B41FA5}">
                      <a16:colId xmlns:a16="http://schemas.microsoft.com/office/drawing/2014/main" val="20002"/>
                    </a:ext>
                  </a:extLst>
                </a:gridCol>
                <a:gridCol w="1205611">
                  <a:extLst>
                    <a:ext uri="{9D8B030D-6E8A-4147-A177-3AD203B41FA5}">
                      <a16:colId xmlns:a16="http://schemas.microsoft.com/office/drawing/2014/main" val="20003"/>
                    </a:ext>
                  </a:extLst>
                </a:gridCol>
                <a:gridCol w="1205611">
                  <a:extLst>
                    <a:ext uri="{9D8B030D-6E8A-4147-A177-3AD203B41FA5}">
                      <a16:colId xmlns:a16="http://schemas.microsoft.com/office/drawing/2014/main" val="20004"/>
                    </a:ext>
                  </a:extLst>
                </a:gridCol>
                <a:gridCol w="1424813">
                  <a:extLst>
                    <a:ext uri="{9D8B030D-6E8A-4147-A177-3AD203B41FA5}">
                      <a16:colId xmlns:a16="http://schemas.microsoft.com/office/drawing/2014/main" val="20005"/>
                    </a:ext>
                  </a:extLst>
                </a:gridCol>
                <a:gridCol w="1424813">
                  <a:extLst>
                    <a:ext uri="{9D8B030D-6E8A-4147-A177-3AD203B41FA5}">
                      <a16:colId xmlns:a16="http://schemas.microsoft.com/office/drawing/2014/main" val="20006"/>
                    </a:ext>
                  </a:extLst>
                </a:gridCol>
              </a:tblGrid>
              <a:tr h="302220">
                <a:tc>
                  <a:txBody>
                    <a:bodyPr/>
                    <a:lstStyle/>
                    <a:p>
                      <a:pPr marL="0" indent="0">
                        <a:lnSpc>
                          <a:spcPts val="1680"/>
                        </a:lnSpc>
                        <a:buNone/>
                      </a:pPr>
                      <a:r>
                        <a:rPr lang="en-US" sz="1200" b="1" dirty="0">
                          <a:solidFill>
                            <a:srgbClr val="010736"/>
                          </a:solidFill>
                          <a:latin typeface="EB Garamond" pitchFamily="18" charset="0"/>
                          <a:ea typeface="EB Garamond" pitchFamily="18" charset="-122"/>
                          <a:cs typeface="EB Garamond" pitchFamily="18" charset="-120"/>
                        </a:rPr>
                        <a:t>M$</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FY 2021</a:t>
                      </a:r>
                      <a:endParaRPr lang="en-US" sz="120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FY 2022</a:t>
                      </a:r>
                      <a:endParaRPr lang="en-US" sz="120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FY 2023</a:t>
                      </a:r>
                      <a:endParaRPr lang="en-US" sz="120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FY 2024</a:t>
                      </a:r>
                      <a:endParaRPr lang="en-US" sz="120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FY 2025</a:t>
                      </a:r>
                      <a:endParaRPr lang="en-US" sz="120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TACC</a:t>
                      </a:r>
                      <a:endParaRPr lang="en-US" sz="120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022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Ingresos</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38.658</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43.046</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45.784</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46.897</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48.062</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5,6 %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02220">
                <a:tc>
                  <a:txBody>
                    <a:bodyPr/>
                    <a:lstStyle/>
                    <a:p>
                      <a:pPr marL="0" indent="0">
                        <a:lnSpc>
                          <a:spcPts val="1680"/>
                        </a:lnSpc>
                        <a:buNone/>
                      </a:pPr>
                      <a:r>
                        <a:rPr lang="en-US" sz="1200" dirty="0">
                          <a:solidFill>
                            <a:srgbClr val="5A5C77"/>
                          </a:solidFill>
                          <a:latin typeface="EB Garamond" pitchFamily="18" charset="0"/>
                          <a:ea typeface="EB Garamond" pitchFamily="18" charset="-122"/>
                          <a:cs typeface="EB Garamond" pitchFamily="18" charset="-120"/>
                        </a:rPr>
                        <a:t>Crecimiento a/a</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+17,1 %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+11,4 %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+6,4 %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+2,4 %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+2,5 %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02220">
                <a:tc>
                  <a:txBody>
                    <a:bodyPr/>
                    <a:lstStyle/>
                    <a:p>
                      <a:pPr marL="0" indent="0">
                        <a:lnSpc>
                          <a:spcPts val="1680"/>
                        </a:lnSpc>
                        <a:buNone/>
                      </a:pPr>
                      <a:r>
                        <a:rPr lang="en-US" sz="1200" dirty="0">
                          <a:solidFill>
                            <a:srgbClr val="5A5C77"/>
                          </a:solidFill>
                          <a:latin typeface="EB Garamond" pitchFamily="18" charset="0"/>
                          <a:ea typeface="EB Garamond" pitchFamily="18" charset="-122"/>
                          <a:cs typeface="EB Garamond" pitchFamily="18" charset="-120"/>
                        </a:rPr>
                        <a:t>Margen bruto</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60,1 %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57,8 %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59,7 %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61,1 %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62,0 %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022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EBITDA</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12.903</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14.257</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14.861</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12.084</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15.770</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5,1 %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02220">
                <a:tc>
                  <a:txBody>
                    <a:bodyPr/>
                    <a:lstStyle/>
                    <a:p>
                      <a:pPr marL="0" indent="0">
                        <a:lnSpc>
                          <a:spcPts val="1680"/>
                        </a:lnSpc>
                        <a:buNone/>
                      </a:pPr>
                      <a:r>
                        <a:rPr lang="en-US" sz="1200" dirty="0">
                          <a:solidFill>
                            <a:srgbClr val="5A5C77"/>
                          </a:solidFill>
                          <a:latin typeface="EB Garamond" pitchFamily="18" charset="0"/>
                          <a:ea typeface="EB Garamond" pitchFamily="18" charset="-122"/>
                          <a:cs typeface="EB Garamond" pitchFamily="18" charset="-120"/>
                        </a:rPr>
                        <a:t>Margen EBITDA</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33,4 %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33,1 %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32,5 %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25,8 %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32,8 %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3022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EBIT</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11.109</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12.600</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13.336</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10.647</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14.315</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6,5 %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6"/>
                  </a:ext>
                </a:extLst>
              </a:tr>
              <a:tr h="3022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Beneficio neto</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9.771</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9.542</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10.714</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10.631</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13.107</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7,6 %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7"/>
                  </a:ext>
                </a:extLst>
              </a:tr>
              <a:tr h="3022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BPA diluido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2,25</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2,19</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2,47</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2,46</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3,04</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7,8 %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8"/>
                  </a:ext>
                </a:extLst>
              </a:tr>
              <a:tr h="3022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Caja libre</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11.258</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9.534</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9.747</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4.741</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5.296</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n. s.</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9"/>
                  </a:ext>
                </a:extLst>
              </a:tr>
              <a:tr h="3022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Deuda neta / EBITDA</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2,6x</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2,1x</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2,2x</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2,7x</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2,1x</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10"/>
                  </a:ext>
                </a:extLst>
              </a:tr>
              <a:tr h="3022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Dividendo por acción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1,68</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1,76</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1,84</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1,94</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2,04</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5,0 %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11"/>
                  </a:ext>
                </a:extLst>
              </a:tr>
              <a:tr h="3022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ROIC</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14,1 %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14,7 %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14,4 %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11,4 %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15,8 %</a:t>
                      </a: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endParaRPr lang="en-US" sz="120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9" name="Shape 6"/>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10" name="Text 7"/>
          <p:cNvSpPr/>
          <p:nvPr/>
        </p:nvSpPr>
        <p:spPr>
          <a:xfrm>
            <a:off x="609600" y="6398320"/>
            <a:ext cx="8600718"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cuentas anuales (US GAAP) vía Bloomberg; modelo Coca-Cola FA; análisis propio. Caja libre = flujo operativo − capex.</a:t>
            </a:r>
            <a:endParaRPr lang="en-US" sz="1200" dirty="0"/>
          </a:p>
        </p:txBody>
      </p:sp>
      <p:sp>
        <p:nvSpPr>
          <p:cNvPr id="12" name="Text 9"/>
          <p:cNvSpPr/>
          <p:nvPr/>
        </p:nvSpPr>
        <p:spPr>
          <a:xfrm>
            <a:off x="11379994" y="6390680"/>
            <a:ext cx="253206"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12</a:t>
            </a:r>
            <a:endParaRPr lang="en-US" sz="1200" dirty="0"/>
          </a:p>
        </p:txBody>
      </p:sp>
    </p:spTree>
    <p:extLst>
      <p:ext uri="{BB962C8B-B14F-4D97-AF65-F5344CB8AC3E}">
        <p14:creationId xmlns:p14="http://schemas.microsoft.com/office/powerpoint/2010/main" val="80920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2691051"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02 · MÁRGENES Y CAJA</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El margen EBITDA vuelve al 32,8 % en 2025 tras el cargo puntual de fairlife que lo hundió al 25,8 % en 2024</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6278880" cy="243979"/>
          </a:xfrm>
          <a:prstGeom prst="rect">
            <a:avLst/>
          </a:prstGeom>
          <a:noFill/>
          <a:ln/>
        </p:spPr>
        <p:txBody>
          <a:bodyPr wrap="square" lIns="0" tIns="0" rIns="0" bIns="0" rtlCol="0" anchor="t">
            <a:normAutofit/>
          </a:bodyPr>
          <a:lstStyle/>
          <a:p>
            <a:pPr marL="0" indent="0" algn="l">
              <a:lnSpc>
                <a:spcPts val="1723"/>
              </a:lnSpc>
              <a:buNone/>
            </a:pPr>
            <a:r>
              <a:rPr lang="en-US" sz="1231" dirty="0">
                <a:solidFill>
                  <a:srgbClr val="010736"/>
                </a:solidFill>
                <a:latin typeface="Jost" pitchFamily="34" charset="0"/>
                <a:ea typeface="Jost" pitchFamily="34" charset="-122"/>
                <a:cs typeface="Jost" pitchFamily="34" charset="-120"/>
              </a:rPr>
              <a:t>Ingresos y margen EBITDA</a:t>
            </a:r>
            <a:endParaRPr lang="en-US" sz="1231" dirty="0"/>
          </a:p>
        </p:txBody>
      </p:sp>
      <p:sp>
        <p:nvSpPr>
          <p:cNvPr id="9" name="Text 7"/>
          <p:cNvSpPr/>
          <p:nvPr/>
        </p:nvSpPr>
        <p:spPr>
          <a:xfrm>
            <a:off x="609600" y="2161679"/>
            <a:ext cx="6278880" cy="227211"/>
          </a:xfrm>
          <a:prstGeom prst="rect">
            <a:avLst/>
          </a:prstGeom>
          <a:noFill/>
          <a:ln/>
        </p:spPr>
        <p:txBody>
          <a:bodyPr wrap="square" lIns="0" tIns="0" rIns="0" bIns="0" rtlCol="0" anchor="t">
            <a:normAutofit/>
          </a:bodyPr>
          <a:lstStyle/>
          <a:p>
            <a:pPr marL="0" indent="0" algn="l">
              <a:lnSpc>
                <a:spcPts val="1622"/>
              </a:lnSpc>
              <a:buNone/>
            </a:pPr>
            <a:r>
              <a:rPr lang="en-US" sz="1159" i="1" dirty="0">
                <a:solidFill>
                  <a:srgbClr val="5A5C77"/>
                </a:solidFill>
                <a:latin typeface="EB Garamond" pitchFamily="18" charset="0"/>
                <a:ea typeface="EB Garamond" pitchFamily="18" charset="-122"/>
                <a:cs typeface="EB Garamond" pitchFamily="18" charset="-120"/>
              </a:rPr>
              <a:t>mil M$ (columnas) y % sobre ingresos (cifra superior), FY 2021–2025</a:t>
            </a:r>
            <a:endParaRPr lang="en-US" sz="1159" dirty="0"/>
          </a:p>
        </p:txBody>
      </p:sp>
      <p:sp>
        <p:nvSpPr>
          <p:cNvPr id="10" name="Shape 8"/>
          <p:cNvSpPr/>
          <p:nvPr/>
        </p:nvSpPr>
        <p:spPr>
          <a:xfrm>
            <a:off x="609600" y="5573415"/>
            <a:ext cx="6096000" cy="0"/>
          </a:xfrm>
          <a:prstGeom prst="line">
            <a:avLst/>
          </a:prstGeom>
          <a:noFill/>
          <a:ln w="6350">
            <a:solidFill>
              <a:srgbClr val="010736"/>
            </a:solidFill>
            <a:prstDash val="solid"/>
          </a:ln>
        </p:spPr>
        <p:txBody>
          <a:bodyPr/>
          <a:lstStyle/>
          <a:p>
            <a:endParaRPr lang="en-US"/>
          </a:p>
        </p:txBody>
      </p:sp>
      <p:sp>
        <p:nvSpPr>
          <p:cNvPr id="11" name="Text 9"/>
          <p:cNvSpPr/>
          <p:nvPr/>
        </p:nvSpPr>
        <p:spPr>
          <a:xfrm>
            <a:off x="930394" y="3233539"/>
            <a:ext cx="55221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33,4 %</a:t>
            </a:r>
            <a:endParaRPr lang="en-US" sz="1200" dirty="0"/>
          </a:p>
        </p:txBody>
      </p:sp>
      <p:sp>
        <p:nvSpPr>
          <p:cNvPr id="12" name="Text 10"/>
          <p:cNvSpPr/>
          <p:nvPr/>
        </p:nvSpPr>
        <p:spPr>
          <a:xfrm>
            <a:off x="1007437" y="3497659"/>
            <a:ext cx="398026"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010736"/>
                </a:solidFill>
                <a:latin typeface="Jost" pitchFamily="34" charset="0"/>
                <a:ea typeface="Jost" pitchFamily="34" charset="-122"/>
                <a:cs typeface="Jost" pitchFamily="34" charset="-120"/>
              </a:rPr>
              <a:t>38,7</a:t>
            </a:r>
            <a:endParaRPr lang="en-US" sz="1300" dirty="0"/>
          </a:p>
        </p:txBody>
      </p:sp>
      <p:sp>
        <p:nvSpPr>
          <p:cNvPr id="13" name="Shape 11"/>
          <p:cNvSpPr/>
          <p:nvPr/>
        </p:nvSpPr>
        <p:spPr>
          <a:xfrm>
            <a:off x="825500" y="3779540"/>
            <a:ext cx="762000" cy="1790700"/>
          </a:xfrm>
          <a:prstGeom prst="rect">
            <a:avLst/>
          </a:prstGeom>
          <a:solidFill>
            <a:srgbClr val="8590A9"/>
          </a:solidFill>
          <a:ln/>
        </p:spPr>
        <p:txBody>
          <a:bodyPr/>
          <a:lstStyle/>
          <a:p>
            <a:endParaRPr lang="en-US"/>
          </a:p>
        </p:txBody>
      </p:sp>
      <p:sp>
        <p:nvSpPr>
          <p:cNvPr id="14" name="Text 12"/>
          <p:cNvSpPr/>
          <p:nvPr/>
        </p:nvSpPr>
        <p:spPr>
          <a:xfrm>
            <a:off x="2168098" y="3030339"/>
            <a:ext cx="52780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33,1 %</a:t>
            </a:r>
            <a:endParaRPr lang="en-US" sz="1200" dirty="0"/>
          </a:p>
        </p:txBody>
      </p:sp>
      <p:sp>
        <p:nvSpPr>
          <p:cNvPr id="15" name="Text 13"/>
          <p:cNvSpPr/>
          <p:nvPr/>
        </p:nvSpPr>
        <p:spPr>
          <a:xfrm>
            <a:off x="2221081" y="3294459"/>
            <a:ext cx="421838"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010736"/>
                </a:solidFill>
                <a:latin typeface="Jost" pitchFamily="34" charset="0"/>
                <a:ea typeface="Jost" pitchFamily="34" charset="-122"/>
                <a:cs typeface="Jost" pitchFamily="34" charset="-120"/>
              </a:rPr>
              <a:t>43,0</a:t>
            </a:r>
            <a:endParaRPr lang="en-US" sz="1300" dirty="0"/>
          </a:p>
        </p:txBody>
      </p:sp>
      <p:sp>
        <p:nvSpPr>
          <p:cNvPr id="16" name="Shape 14"/>
          <p:cNvSpPr/>
          <p:nvPr/>
        </p:nvSpPr>
        <p:spPr>
          <a:xfrm>
            <a:off x="2051050" y="3576340"/>
            <a:ext cx="762000" cy="1993900"/>
          </a:xfrm>
          <a:prstGeom prst="rect">
            <a:avLst/>
          </a:prstGeom>
          <a:solidFill>
            <a:srgbClr val="8590A9"/>
          </a:solidFill>
          <a:ln/>
        </p:spPr>
        <p:txBody>
          <a:bodyPr/>
          <a:lstStyle/>
          <a:p>
            <a:endParaRPr lang="en-US"/>
          </a:p>
        </p:txBody>
      </p:sp>
      <p:sp>
        <p:nvSpPr>
          <p:cNvPr id="17" name="Text 15"/>
          <p:cNvSpPr/>
          <p:nvPr/>
        </p:nvSpPr>
        <p:spPr>
          <a:xfrm>
            <a:off x="3379718" y="2903339"/>
            <a:ext cx="55566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32,5 %</a:t>
            </a:r>
            <a:endParaRPr lang="en-US" sz="1200" dirty="0"/>
          </a:p>
        </p:txBody>
      </p:sp>
      <p:sp>
        <p:nvSpPr>
          <p:cNvPr id="18" name="Text 16"/>
          <p:cNvSpPr/>
          <p:nvPr/>
        </p:nvSpPr>
        <p:spPr>
          <a:xfrm>
            <a:off x="3447822" y="3167459"/>
            <a:ext cx="419457"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010736"/>
                </a:solidFill>
                <a:latin typeface="Jost" pitchFamily="34" charset="0"/>
                <a:ea typeface="Jost" pitchFamily="34" charset="-122"/>
                <a:cs typeface="Jost" pitchFamily="34" charset="-120"/>
              </a:rPr>
              <a:t>45,8</a:t>
            </a:r>
            <a:endParaRPr lang="en-US" sz="1300" dirty="0"/>
          </a:p>
        </p:txBody>
      </p:sp>
      <p:sp>
        <p:nvSpPr>
          <p:cNvPr id="19" name="Shape 17"/>
          <p:cNvSpPr/>
          <p:nvPr/>
        </p:nvSpPr>
        <p:spPr>
          <a:xfrm>
            <a:off x="3276600" y="3449340"/>
            <a:ext cx="762000" cy="2120900"/>
          </a:xfrm>
          <a:prstGeom prst="rect">
            <a:avLst/>
          </a:prstGeom>
          <a:solidFill>
            <a:srgbClr val="8590A9"/>
          </a:solidFill>
          <a:ln/>
        </p:spPr>
        <p:txBody>
          <a:bodyPr/>
          <a:lstStyle/>
          <a:p>
            <a:endParaRPr lang="en-US"/>
          </a:p>
        </p:txBody>
      </p:sp>
      <p:sp>
        <p:nvSpPr>
          <p:cNvPr id="20" name="Text 18"/>
          <p:cNvSpPr/>
          <p:nvPr/>
        </p:nvSpPr>
        <p:spPr>
          <a:xfrm>
            <a:off x="4577993" y="2852539"/>
            <a:ext cx="610314"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2396F"/>
                </a:solidFill>
                <a:latin typeface="Jost" pitchFamily="34" charset="0"/>
                <a:ea typeface="Jost" pitchFamily="34" charset="-122"/>
                <a:cs typeface="Jost" pitchFamily="34" charset="-120"/>
              </a:rPr>
              <a:t>25,8 %</a:t>
            </a:r>
            <a:endParaRPr lang="en-US" sz="1200" dirty="0"/>
          </a:p>
        </p:txBody>
      </p:sp>
      <p:sp>
        <p:nvSpPr>
          <p:cNvPr id="21" name="Text 19"/>
          <p:cNvSpPr/>
          <p:nvPr/>
        </p:nvSpPr>
        <p:spPr>
          <a:xfrm>
            <a:off x="4668242" y="3116659"/>
            <a:ext cx="429816"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010736"/>
                </a:solidFill>
                <a:latin typeface="Jost" pitchFamily="34" charset="0"/>
                <a:ea typeface="Jost" pitchFamily="34" charset="-122"/>
                <a:cs typeface="Jost" pitchFamily="34" charset="-120"/>
              </a:rPr>
              <a:t>46,9</a:t>
            </a:r>
            <a:endParaRPr lang="en-US" sz="1300" dirty="0"/>
          </a:p>
        </p:txBody>
      </p:sp>
      <p:sp>
        <p:nvSpPr>
          <p:cNvPr id="22" name="Shape 20"/>
          <p:cNvSpPr/>
          <p:nvPr/>
        </p:nvSpPr>
        <p:spPr>
          <a:xfrm>
            <a:off x="4502150" y="3398540"/>
            <a:ext cx="762000" cy="2171700"/>
          </a:xfrm>
          <a:prstGeom prst="rect">
            <a:avLst/>
          </a:prstGeom>
          <a:solidFill>
            <a:srgbClr val="8590A9"/>
          </a:solidFill>
          <a:ln/>
        </p:spPr>
        <p:txBody>
          <a:bodyPr/>
          <a:lstStyle/>
          <a:p>
            <a:endParaRPr lang="en-US"/>
          </a:p>
        </p:txBody>
      </p:sp>
      <p:sp>
        <p:nvSpPr>
          <p:cNvPr id="23" name="Text 21"/>
          <p:cNvSpPr/>
          <p:nvPr/>
        </p:nvSpPr>
        <p:spPr>
          <a:xfrm>
            <a:off x="5832485" y="2801739"/>
            <a:ext cx="552331"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32,8 %</a:t>
            </a:r>
            <a:endParaRPr lang="en-US" sz="1200" dirty="0"/>
          </a:p>
        </p:txBody>
      </p:sp>
      <p:sp>
        <p:nvSpPr>
          <p:cNvPr id="24" name="Text 22"/>
          <p:cNvSpPr/>
          <p:nvPr/>
        </p:nvSpPr>
        <p:spPr>
          <a:xfrm>
            <a:off x="5904637" y="3065859"/>
            <a:ext cx="408027"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22396F"/>
                </a:solidFill>
                <a:latin typeface="Jost" pitchFamily="34" charset="0"/>
                <a:ea typeface="Jost" pitchFamily="34" charset="-122"/>
                <a:cs typeface="Jost" pitchFamily="34" charset="-120"/>
              </a:rPr>
              <a:t>48,1</a:t>
            </a:r>
            <a:endParaRPr lang="en-US" sz="1300" dirty="0"/>
          </a:p>
        </p:txBody>
      </p:sp>
      <p:sp>
        <p:nvSpPr>
          <p:cNvPr id="25" name="Shape 23"/>
          <p:cNvSpPr/>
          <p:nvPr/>
        </p:nvSpPr>
        <p:spPr>
          <a:xfrm>
            <a:off x="5727700" y="3347740"/>
            <a:ext cx="762000" cy="2222500"/>
          </a:xfrm>
          <a:prstGeom prst="rect">
            <a:avLst/>
          </a:prstGeom>
          <a:solidFill>
            <a:srgbClr val="22396F"/>
          </a:solidFill>
          <a:ln/>
        </p:spPr>
        <p:txBody>
          <a:bodyPr/>
          <a:lstStyle/>
          <a:p>
            <a:endParaRPr lang="en-US"/>
          </a:p>
        </p:txBody>
      </p:sp>
      <p:sp>
        <p:nvSpPr>
          <p:cNvPr id="26" name="Text 24"/>
          <p:cNvSpPr/>
          <p:nvPr/>
        </p:nvSpPr>
        <p:spPr>
          <a:xfrm>
            <a:off x="736600" y="5640090"/>
            <a:ext cx="939800" cy="22731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2021</a:t>
            </a:r>
            <a:endParaRPr lang="en-US" sz="1200" dirty="0"/>
          </a:p>
        </p:txBody>
      </p:sp>
      <p:sp>
        <p:nvSpPr>
          <p:cNvPr id="27" name="Text 25"/>
          <p:cNvSpPr/>
          <p:nvPr/>
        </p:nvSpPr>
        <p:spPr>
          <a:xfrm>
            <a:off x="1962150" y="5640090"/>
            <a:ext cx="939800" cy="22731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2022</a:t>
            </a:r>
            <a:endParaRPr lang="en-US" sz="1200" dirty="0"/>
          </a:p>
        </p:txBody>
      </p:sp>
      <p:sp>
        <p:nvSpPr>
          <p:cNvPr id="28" name="Text 26"/>
          <p:cNvSpPr/>
          <p:nvPr/>
        </p:nvSpPr>
        <p:spPr>
          <a:xfrm>
            <a:off x="3187700" y="5640090"/>
            <a:ext cx="939800" cy="22731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2023</a:t>
            </a:r>
            <a:endParaRPr lang="en-US" sz="1200" dirty="0"/>
          </a:p>
        </p:txBody>
      </p:sp>
      <p:sp>
        <p:nvSpPr>
          <p:cNvPr id="29" name="Text 27"/>
          <p:cNvSpPr/>
          <p:nvPr/>
        </p:nvSpPr>
        <p:spPr>
          <a:xfrm>
            <a:off x="4413250" y="5640090"/>
            <a:ext cx="939800" cy="22731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2024</a:t>
            </a:r>
            <a:endParaRPr lang="en-US" sz="1200" dirty="0"/>
          </a:p>
        </p:txBody>
      </p:sp>
      <p:sp>
        <p:nvSpPr>
          <p:cNvPr id="30" name="Text 28"/>
          <p:cNvSpPr/>
          <p:nvPr/>
        </p:nvSpPr>
        <p:spPr>
          <a:xfrm>
            <a:off x="5638800" y="5640090"/>
            <a:ext cx="939800" cy="22731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2025</a:t>
            </a:r>
            <a:endParaRPr lang="en-US" sz="1200" dirty="0"/>
          </a:p>
        </p:txBody>
      </p:sp>
      <p:sp>
        <p:nvSpPr>
          <p:cNvPr id="31" name="Shape 29"/>
          <p:cNvSpPr/>
          <p:nvPr/>
        </p:nvSpPr>
        <p:spPr>
          <a:xfrm>
            <a:off x="7162800" y="1909762"/>
            <a:ext cx="4419600" cy="0"/>
          </a:xfrm>
          <a:prstGeom prst="line">
            <a:avLst/>
          </a:prstGeom>
          <a:noFill/>
          <a:ln w="9525">
            <a:solidFill>
              <a:srgbClr val="010736"/>
            </a:solidFill>
            <a:prstDash val="solid"/>
          </a:ln>
        </p:spPr>
        <p:txBody>
          <a:bodyPr/>
          <a:lstStyle/>
          <a:p>
            <a:endParaRPr lang="en-US"/>
          </a:p>
        </p:txBody>
      </p:sp>
      <p:sp>
        <p:nvSpPr>
          <p:cNvPr id="32" name="Text 30"/>
          <p:cNvSpPr/>
          <p:nvPr/>
        </p:nvSpPr>
        <p:spPr>
          <a:xfrm>
            <a:off x="7162800" y="2051050"/>
            <a:ext cx="406400" cy="771922"/>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01</a:t>
            </a:r>
            <a:endParaRPr lang="en-US" sz="1200" dirty="0"/>
          </a:p>
        </p:txBody>
      </p:sp>
      <p:sp>
        <p:nvSpPr>
          <p:cNvPr id="33" name="Text 31"/>
          <p:cNvSpPr/>
          <p:nvPr/>
        </p:nvSpPr>
        <p:spPr>
          <a:xfrm>
            <a:off x="7620000" y="2051050"/>
            <a:ext cx="4081272" cy="771922"/>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2024, año atípico:</a:t>
            </a:r>
            <a:r>
              <a:rPr lang="en-US" sz="1400" dirty="0">
                <a:solidFill>
                  <a:srgbClr val="010736"/>
                </a:solidFill>
                <a:latin typeface="EB Garamond" pitchFamily="18" charset="0"/>
                <a:ea typeface="EB Garamond" pitchFamily="18" charset="-122"/>
                <a:cs typeface="EB Garamond" pitchFamily="18" charset="-120"/>
              </a:rPr>
              <a:t> 3.414 M$ de otros gastos operativos, sobre todo por la revaluación del pago contingente de fairlife.</a:t>
            </a:r>
            <a:endParaRPr lang="en-US" sz="1400" dirty="0"/>
          </a:p>
        </p:txBody>
      </p:sp>
      <p:sp>
        <p:nvSpPr>
          <p:cNvPr id="34" name="Shape 32"/>
          <p:cNvSpPr/>
          <p:nvPr/>
        </p:nvSpPr>
        <p:spPr>
          <a:xfrm>
            <a:off x="7162800" y="2940447"/>
            <a:ext cx="4419600" cy="0"/>
          </a:xfrm>
          <a:prstGeom prst="line">
            <a:avLst/>
          </a:prstGeom>
          <a:noFill/>
          <a:ln w="6350">
            <a:solidFill>
              <a:srgbClr val="D0CECE"/>
            </a:solidFill>
            <a:prstDash val="solid"/>
          </a:ln>
        </p:spPr>
        <p:txBody>
          <a:bodyPr/>
          <a:lstStyle/>
          <a:p>
            <a:endParaRPr lang="en-US"/>
          </a:p>
        </p:txBody>
      </p:sp>
      <p:sp>
        <p:nvSpPr>
          <p:cNvPr id="35" name="Text 33"/>
          <p:cNvSpPr/>
          <p:nvPr/>
        </p:nvSpPr>
        <p:spPr>
          <a:xfrm>
            <a:off x="7162800" y="3083322"/>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02</a:t>
            </a:r>
            <a:endParaRPr lang="en-US" sz="1200" dirty="0"/>
          </a:p>
        </p:txBody>
      </p:sp>
      <p:sp>
        <p:nvSpPr>
          <p:cNvPr id="36" name="Text 34"/>
          <p:cNvSpPr/>
          <p:nvPr/>
        </p:nvSpPr>
        <p:spPr>
          <a:xfrm>
            <a:off x="7620000" y="3083322"/>
            <a:ext cx="4081272"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Caja de 2025 distorsionada:</a:t>
            </a:r>
            <a:r>
              <a:rPr lang="en-US" sz="1400" dirty="0">
                <a:solidFill>
                  <a:srgbClr val="010736"/>
                </a:solidFill>
                <a:latin typeface="EB Garamond" pitchFamily="18" charset="0"/>
                <a:ea typeface="EB Garamond" pitchFamily="18" charset="-122"/>
                <a:cs typeface="EB Garamond" pitchFamily="18" charset="-120"/>
              </a:rPr>
              <a:t> los 5,3 mil M$ incluyen el pago de 6,1 mil M$ por fairlife; sin él, 11,4 mil M$.</a:t>
            </a:r>
            <a:endParaRPr lang="en-US" sz="1400" dirty="0"/>
          </a:p>
        </p:txBody>
      </p:sp>
      <p:sp>
        <p:nvSpPr>
          <p:cNvPr id="37" name="Shape 35"/>
          <p:cNvSpPr/>
          <p:nvPr/>
        </p:nvSpPr>
        <p:spPr>
          <a:xfrm>
            <a:off x="7162800" y="3723878"/>
            <a:ext cx="4419600" cy="0"/>
          </a:xfrm>
          <a:prstGeom prst="line">
            <a:avLst/>
          </a:prstGeom>
          <a:noFill/>
          <a:ln w="6350">
            <a:solidFill>
              <a:srgbClr val="D0CECE"/>
            </a:solidFill>
            <a:prstDash val="solid"/>
          </a:ln>
        </p:spPr>
        <p:txBody>
          <a:bodyPr/>
          <a:lstStyle/>
          <a:p>
            <a:endParaRPr lang="en-US"/>
          </a:p>
        </p:txBody>
      </p:sp>
      <p:sp>
        <p:nvSpPr>
          <p:cNvPr id="38" name="Text 36"/>
          <p:cNvSpPr/>
          <p:nvPr/>
        </p:nvSpPr>
        <p:spPr>
          <a:xfrm>
            <a:off x="7162800" y="3866753"/>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03</a:t>
            </a:r>
            <a:endParaRPr lang="en-US" sz="1200" dirty="0"/>
          </a:p>
        </p:txBody>
      </p:sp>
      <p:sp>
        <p:nvSpPr>
          <p:cNvPr id="39" name="Text 37"/>
          <p:cNvSpPr/>
          <p:nvPr/>
        </p:nvSpPr>
        <p:spPr>
          <a:xfrm>
            <a:off x="7620000" y="3866753"/>
            <a:ext cx="4081272"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2026, normalización:</a:t>
            </a:r>
            <a:r>
              <a:rPr lang="en-US" sz="1400" dirty="0">
                <a:solidFill>
                  <a:srgbClr val="010736"/>
                </a:solidFill>
                <a:latin typeface="EB Garamond" pitchFamily="18" charset="0"/>
                <a:ea typeface="EB Garamond" pitchFamily="18" charset="-122"/>
                <a:cs typeface="EB Garamond" pitchFamily="18" charset="-120"/>
              </a:rPr>
              <a:t> la compañía espera unos 12,4 mil M$ de caja libre.</a:t>
            </a:r>
            <a:endParaRPr lang="en-US" sz="1400" dirty="0"/>
          </a:p>
        </p:txBody>
      </p:sp>
      <p:sp>
        <p:nvSpPr>
          <p:cNvPr id="40" name="Shape 38"/>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41" name="Text 39"/>
          <p:cNvSpPr/>
          <p:nvPr/>
        </p:nvSpPr>
        <p:spPr>
          <a:xfrm>
            <a:off x="609600" y="6398320"/>
            <a:ext cx="5797510"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Bloomberg; Coca-Cola, resultados FY 2025 y guía de 2T 2026; análisis propio.</a:t>
            </a:r>
            <a:endParaRPr lang="en-US" sz="1200" dirty="0"/>
          </a:p>
        </p:txBody>
      </p:sp>
      <p:sp>
        <p:nvSpPr>
          <p:cNvPr id="43" name="Text 41"/>
          <p:cNvSpPr/>
          <p:nvPr/>
        </p:nvSpPr>
        <p:spPr>
          <a:xfrm>
            <a:off x="11384260" y="6390680"/>
            <a:ext cx="248940"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13</a:t>
            </a:r>
            <a:endParaRPr lang="en-US" sz="1200" dirty="0"/>
          </a:p>
        </p:txBody>
      </p:sp>
    </p:spTree>
    <p:extLst>
      <p:ext uri="{BB962C8B-B14F-4D97-AF65-F5344CB8AC3E}">
        <p14:creationId xmlns:p14="http://schemas.microsoft.com/office/powerpoint/2010/main" val="3588512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C42"/>
        </a:solidFill>
        <a:effectLst/>
      </p:bgPr>
    </p:bg>
    <p:spTree>
      <p:nvGrpSpPr>
        <p:cNvPr id="1" name=""/>
        <p:cNvGrpSpPr/>
        <p:nvPr/>
      </p:nvGrpSpPr>
      <p:grpSpPr>
        <a:xfrm>
          <a:off x="0" y="0"/>
          <a:ext cx="0" cy="0"/>
          <a:chOff x="0" y="0"/>
          <a:chExt cx="0" cy="0"/>
        </a:xfrm>
      </p:grpSpPr>
      <p:sp>
        <p:nvSpPr>
          <p:cNvPr id="2" name="Shape 0"/>
          <p:cNvSpPr/>
          <p:nvPr/>
        </p:nvSpPr>
        <p:spPr>
          <a:xfrm>
            <a:off x="387350" y="387350"/>
            <a:ext cx="11417300" cy="6083300"/>
          </a:xfrm>
          <a:prstGeom prst="rect">
            <a:avLst/>
          </a:prstGeom>
          <a:noFill/>
          <a:ln w="12700">
            <a:solidFill>
              <a:srgbClr val="FCF1D0"/>
            </a:solidFill>
            <a:prstDash val="solid"/>
          </a:ln>
        </p:spPr>
        <p:txBody>
          <a:bodyPr/>
          <a:lstStyle/>
          <a:p>
            <a:endParaRPr lang="en-US"/>
          </a:p>
        </p:txBody>
      </p:sp>
      <p:sp>
        <p:nvSpPr>
          <p:cNvPr id="3" name="Text 1"/>
          <p:cNvSpPr/>
          <p:nvPr/>
        </p:nvSpPr>
        <p:spPr>
          <a:xfrm>
            <a:off x="952500" y="1016000"/>
            <a:ext cx="3924300" cy="1739900"/>
          </a:xfrm>
          <a:prstGeom prst="rect">
            <a:avLst/>
          </a:prstGeom>
          <a:noFill/>
          <a:ln/>
        </p:spPr>
        <p:txBody>
          <a:bodyPr wrap="square" lIns="0" tIns="0" rIns="0" bIns="0" rtlCol="0" anchor="t">
            <a:normAutofit fontScale="85000" lnSpcReduction="10000"/>
          </a:bodyPr>
          <a:lstStyle/>
          <a:p>
            <a:pPr marL="0" indent="0" algn="l">
              <a:lnSpc>
                <a:spcPts val="13500"/>
              </a:lnSpc>
              <a:buNone/>
            </a:pPr>
            <a:r>
              <a:rPr lang="en-US" sz="13500" kern="0" spc="-200" dirty="0">
                <a:solidFill>
                  <a:srgbClr val="FCF1D0"/>
                </a:solidFill>
                <a:latin typeface="Jost" pitchFamily="34" charset="0"/>
                <a:ea typeface="Jost" pitchFamily="34" charset="-122"/>
                <a:cs typeface="Jost" pitchFamily="34" charset="-120"/>
              </a:rPr>
              <a:t>03</a:t>
            </a:r>
            <a:endParaRPr lang="en-US" sz="13500" dirty="0"/>
          </a:p>
        </p:txBody>
      </p:sp>
      <p:sp>
        <p:nvSpPr>
          <p:cNvPr id="4" name="Text 2"/>
          <p:cNvSpPr/>
          <p:nvPr/>
        </p:nvSpPr>
        <p:spPr>
          <a:xfrm>
            <a:off x="1066800" y="35560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CF1D0"/>
                </a:solidFill>
                <a:latin typeface="Jost" pitchFamily="34" charset="0"/>
                <a:ea typeface="Jost" pitchFamily="34" charset="-122"/>
                <a:cs typeface="Jost" pitchFamily="34" charset="-120"/>
              </a:rPr>
              <a:t>SECCIÓN</a:t>
            </a:r>
            <a:endParaRPr lang="en-US" sz="1200" dirty="0"/>
          </a:p>
        </p:txBody>
      </p:sp>
      <p:sp>
        <p:nvSpPr>
          <p:cNvPr id="5" name="Text 3"/>
          <p:cNvSpPr>
            <a:spLocks noGrp="1"/>
          </p:cNvSpPr>
          <p:nvPr>
            <p:ph type="title"/>
          </p:nvPr>
        </p:nvSpPr>
        <p:spPr>
          <a:xfrm>
            <a:off x="1066800" y="3870920"/>
            <a:ext cx="7848600" cy="551160"/>
          </a:xfrm>
          <a:prstGeom prst="rect">
            <a:avLst/>
          </a:prstGeom>
          <a:noFill/>
          <a:ln/>
        </p:spPr>
        <p:txBody>
          <a:bodyPr wrap="square" lIns="0" tIns="0" rIns="0" bIns="0" rtlCol="0" anchor="t">
            <a:normAutofit/>
          </a:bodyPr>
          <a:lstStyle/>
          <a:p>
            <a:pPr marL="0" indent="0" algn="l">
              <a:lnSpc>
                <a:spcPts val="4140"/>
              </a:lnSpc>
              <a:buNone/>
            </a:pPr>
            <a:r>
              <a:rPr lang="en-US" sz="3600" b="0" i="0" kern="0" spc="-50" dirty="0">
                <a:solidFill>
                  <a:srgbClr val="FCF1D0"/>
                </a:solidFill>
                <a:latin typeface="Jost" pitchFamily="34" charset="0"/>
                <a:ea typeface="Jost" pitchFamily="34" charset="-122"/>
                <a:cs typeface="Jost" pitchFamily="34" charset="-120"/>
              </a:rPr>
              <a:t>Valoración</a:t>
            </a:r>
            <a:endParaRPr lang="en-US" sz="3600" dirty="0"/>
          </a:p>
        </p:txBody>
      </p:sp>
      <p:sp>
        <p:nvSpPr>
          <p:cNvPr id="6" name="Text 4"/>
          <p:cNvSpPr/>
          <p:nvPr/>
        </p:nvSpPr>
        <p:spPr>
          <a:xfrm>
            <a:off x="1066800" y="4498280"/>
            <a:ext cx="7848600" cy="405110"/>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FCF1D0"/>
                </a:solidFill>
                <a:latin typeface="Pinyon Script" pitchFamily="18" charset="0"/>
                <a:ea typeface="Pinyon Script" pitchFamily="18" charset="-122"/>
                <a:cs typeface="Pinyon Script" pitchFamily="18" charset="-120"/>
              </a:rPr>
              <a:t>Lo </a:t>
            </a:r>
            <a:r>
              <a:rPr lang="en-US" sz="2300" dirty="0" err="1">
                <a:solidFill>
                  <a:srgbClr val="FCF1D0"/>
                </a:solidFill>
                <a:latin typeface="Pinyon Script" pitchFamily="18" charset="0"/>
                <a:ea typeface="Pinyon Script" pitchFamily="18" charset="-122"/>
                <a:cs typeface="Pinyon Script" pitchFamily="18" charset="-120"/>
              </a:rPr>
              <a:t>que</a:t>
            </a:r>
            <a:r>
              <a:rPr lang="en-US" sz="2300" dirty="0">
                <a:solidFill>
                  <a:srgbClr val="FCF1D0"/>
                </a:solidFill>
                <a:latin typeface="Pinyon Script" pitchFamily="18" charset="0"/>
                <a:ea typeface="Pinyon Script" pitchFamily="18" charset="-122"/>
                <a:cs typeface="Pinyon Script" pitchFamily="18" charset="-120"/>
              </a:rPr>
              <a:t> </a:t>
            </a:r>
            <a:r>
              <a:rPr lang="en-US" sz="2300" dirty="0" err="1">
                <a:solidFill>
                  <a:srgbClr val="FCF1D0"/>
                </a:solidFill>
                <a:latin typeface="Pinyon Script" pitchFamily="18" charset="0"/>
                <a:ea typeface="Pinyon Script" pitchFamily="18" charset="-122"/>
                <a:cs typeface="Pinyon Script" pitchFamily="18" charset="-120"/>
              </a:rPr>
              <a:t>dicen</a:t>
            </a:r>
            <a:r>
              <a:rPr lang="en-US" sz="2300" dirty="0">
                <a:solidFill>
                  <a:srgbClr val="FCF1D0"/>
                </a:solidFill>
                <a:latin typeface="Pinyon Script" pitchFamily="18" charset="0"/>
                <a:ea typeface="Pinyon Script" pitchFamily="18" charset="-122"/>
                <a:cs typeface="Pinyon Script" pitchFamily="18" charset="-120"/>
              </a:rPr>
              <a:t> </a:t>
            </a:r>
            <a:r>
              <a:rPr lang="en-US" sz="2300" dirty="0" err="1">
                <a:solidFill>
                  <a:srgbClr val="FCF1D0"/>
                </a:solidFill>
                <a:latin typeface="Pinyon Script" pitchFamily="18" charset="0"/>
                <a:ea typeface="Pinyon Script" pitchFamily="18" charset="-122"/>
                <a:cs typeface="Pinyon Script" pitchFamily="18" charset="-120"/>
              </a:rPr>
              <a:t>los</a:t>
            </a:r>
            <a:r>
              <a:rPr lang="en-US" sz="2300" dirty="0">
                <a:solidFill>
                  <a:srgbClr val="FCF1D0"/>
                </a:solidFill>
                <a:latin typeface="Pinyon Script" pitchFamily="18" charset="0"/>
                <a:ea typeface="Pinyon Script" pitchFamily="18" charset="-122"/>
                <a:cs typeface="Pinyon Script" pitchFamily="18" charset="-120"/>
              </a:rPr>
              <a:t> </a:t>
            </a:r>
            <a:r>
              <a:rPr lang="en-US" sz="2300" dirty="0" err="1">
                <a:solidFill>
                  <a:srgbClr val="FCF1D0"/>
                </a:solidFill>
                <a:latin typeface="Pinyon Script" pitchFamily="18" charset="0"/>
                <a:ea typeface="Pinyon Script" pitchFamily="18" charset="-122"/>
                <a:cs typeface="Pinyon Script" pitchFamily="18" charset="-120"/>
              </a:rPr>
              <a:t>números</a:t>
            </a:r>
            <a:endParaRPr lang="en-US" sz="2300" dirty="0"/>
          </a:p>
        </p:txBody>
      </p:sp>
      <p:sp>
        <p:nvSpPr>
          <p:cNvPr id="7" name="Shape 5"/>
          <p:cNvSpPr/>
          <p:nvPr/>
        </p:nvSpPr>
        <p:spPr>
          <a:xfrm>
            <a:off x="1066800" y="5816005"/>
            <a:ext cx="10058400" cy="0"/>
          </a:xfrm>
          <a:prstGeom prst="line">
            <a:avLst/>
          </a:prstGeom>
          <a:noFill/>
          <a:ln w="6350">
            <a:solidFill>
              <a:srgbClr val="FCF1D0"/>
            </a:solidFill>
            <a:prstDash val="solid"/>
          </a:ln>
        </p:spPr>
        <p:txBody>
          <a:bodyPr/>
          <a:lstStyle/>
          <a:p>
            <a:endParaRPr lang="en-US"/>
          </a:p>
        </p:txBody>
      </p:sp>
      <p:sp>
        <p:nvSpPr>
          <p:cNvPr id="8" name="Text 6"/>
          <p:cNvSpPr/>
          <p:nvPr/>
        </p:nvSpPr>
        <p:spPr>
          <a:xfrm>
            <a:off x="1066800" y="5920780"/>
            <a:ext cx="4101108"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FCF1D0"/>
                </a:solidFill>
                <a:latin typeface="Jost" pitchFamily="34" charset="0"/>
                <a:ea typeface="Jost" pitchFamily="34" charset="-122"/>
                <a:cs typeface="Jost" pitchFamily="34" charset="-120"/>
              </a:rPr>
              <a:t>Negocio | Finanzas | </a:t>
            </a:r>
            <a:r>
              <a:rPr lang="en-US" sz="1200" b="1" kern="0" spc="50" dirty="0">
                <a:solidFill>
                  <a:srgbClr val="FCF1D0"/>
                </a:solidFill>
                <a:latin typeface="Jost" pitchFamily="34" charset="0"/>
                <a:ea typeface="Jost" pitchFamily="34" charset="-122"/>
                <a:cs typeface="Jost" pitchFamily="34" charset="-120"/>
              </a:rPr>
              <a:t>Valoración</a:t>
            </a:r>
            <a:r>
              <a:rPr lang="en-US" sz="1200" kern="0" spc="50" dirty="0">
                <a:solidFill>
                  <a:srgbClr val="FCF1D0"/>
                </a:solidFill>
                <a:latin typeface="Jost" pitchFamily="34" charset="0"/>
                <a:ea typeface="Jost" pitchFamily="34" charset="-122"/>
                <a:cs typeface="Jost" pitchFamily="34" charset="-120"/>
              </a:rPr>
              <a:t> | Conclusiones</a:t>
            </a:r>
            <a:endParaRPr lang="en-US" sz="1200" dirty="0"/>
          </a:p>
        </p:txBody>
      </p:sp>
      <p:sp>
        <p:nvSpPr>
          <p:cNvPr id="9" name="Text 7"/>
          <p:cNvSpPr/>
          <p:nvPr/>
        </p:nvSpPr>
        <p:spPr>
          <a:xfrm>
            <a:off x="10333315" y="5920780"/>
            <a:ext cx="791885" cy="238720"/>
          </a:xfrm>
          <a:prstGeom prst="rect">
            <a:avLst/>
          </a:prstGeom>
          <a:noFill/>
          <a:ln/>
        </p:spPr>
        <p:txBody>
          <a:bodyPr wrap="square" lIns="0" tIns="0" rIns="0" bIns="0" rtlCol="0" anchor="t">
            <a:normAutofit/>
          </a:bodyPr>
          <a:lstStyle/>
          <a:p>
            <a:pPr marL="0" indent="0" algn="r">
              <a:lnSpc>
                <a:spcPts val="1680"/>
              </a:lnSpc>
              <a:buNone/>
            </a:pPr>
            <a:r>
              <a:rPr lang="en-US" sz="1200" kern="0" spc="150" dirty="0">
                <a:solidFill>
                  <a:srgbClr val="FCF1D0"/>
                </a:solidFill>
                <a:latin typeface="Jost" pitchFamily="34" charset="0"/>
                <a:ea typeface="Jost" pitchFamily="34" charset="-122"/>
                <a:cs typeface="Jost" pitchFamily="34" charset="-120"/>
              </a:rPr>
              <a:t>14 / 25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300413"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03 · HIPÓTESIS DEL MODELO</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El caso base proyecta ingresos al 4,2 % anual hasta 2035 y un margen EBIT que sube hasta el 32,2 %</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457835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Crecimiento de ingresos por segmento </a:t>
            </a:r>
            <a:r>
              <a:rPr lang="en-US" sz="1300" dirty="0">
                <a:solidFill>
                  <a:srgbClr val="5A5C77"/>
                </a:solidFill>
                <a:latin typeface="Jost" pitchFamily="34" charset="0"/>
                <a:ea typeface="Jost" pitchFamily="34" charset="-122"/>
                <a:cs typeface="Jost" pitchFamily="34" charset="-120"/>
              </a:rPr>
              <a:t>· media anual 2026–2035</a:t>
            </a:r>
            <a:endParaRPr lang="en-US" sz="1300" dirty="0"/>
          </a:p>
        </p:txBody>
      </p:sp>
      <p:graphicFrame>
        <p:nvGraphicFramePr>
          <p:cNvPr id="9" name="Table 0"/>
          <p:cNvGraphicFramePr>
            <a:graphicFrameLocks noGrp="1"/>
          </p:cNvGraphicFramePr>
          <p:nvPr/>
        </p:nvGraphicFramePr>
        <p:xfrm>
          <a:off x="622300" y="2456061"/>
          <a:ext cx="4432300" cy="2155626"/>
        </p:xfrm>
        <a:graphic>
          <a:graphicData uri="http://schemas.openxmlformats.org/drawingml/2006/table">
            <a:tbl>
              <a:tblPr/>
              <a:tblGrid>
                <a:gridCol w="2304796">
                  <a:extLst>
                    <a:ext uri="{9D8B030D-6E8A-4147-A177-3AD203B41FA5}">
                      <a16:colId xmlns:a16="http://schemas.microsoft.com/office/drawing/2014/main" val="20000"/>
                    </a:ext>
                  </a:extLst>
                </a:gridCol>
                <a:gridCol w="1063752">
                  <a:extLst>
                    <a:ext uri="{9D8B030D-6E8A-4147-A177-3AD203B41FA5}">
                      <a16:colId xmlns:a16="http://schemas.microsoft.com/office/drawing/2014/main" val="20001"/>
                    </a:ext>
                  </a:extLst>
                </a:gridCol>
                <a:gridCol w="1063752">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Segmento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FY 2026E</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Media</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Latinoamérica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+4,5 %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+6,3 %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Asia-Pacífico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+1,6 %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Norteamérica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+5,1 %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+4,4 %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EMEA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+5,8 %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Total (TACC 2025–2035)</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+2,2 %</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+4,2 %</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5"/>
                  </a:ext>
                </a:extLst>
              </a:tr>
            </a:tbl>
          </a:graphicData>
        </a:graphic>
      </p:graphicFrame>
      <p:sp>
        <p:nvSpPr>
          <p:cNvPr id="10" name="Text 7"/>
          <p:cNvSpPr/>
          <p:nvPr/>
        </p:nvSpPr>
        <p:spPr>
          <a:xfrm>
            <a:off x="609600" y="4776788"/>
            <a:ext cx="457835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EB Garamond" pitchFamily="18" charset="0"/>
                <a:ea typeface="EB Garamond" pitchFamily="18" charset="-122"/>
                <a:cs typeface="EB Garamond" pitchFamily="18" charset="-120"/>
              </a:rPr>
              <a:t>Escenarios alternativos: ±0,5 pp de crecimiento por segmento, ±1 pp en SG&amp;A y +0,2 / −0,1 pp anuales en el margen bruto.</a:t>
            </a:r>
            <a:endParaRPr lang="en-US" sz="1300" dirty="0"/>
          </a:p>
        </p:txBody>
      </p:sp>
      <p:sp>
        <p:nvSpPr>
          <p:cNvPr id="11" name="Text 8"/>
          <p:cNvSpPr/>
          <p:nvPr/>
        </p:nvSpPr>
        <p:spPr>
          <a:xfrm>
            <a:off x="5511800" y="1905000"/>
            <a:ext cx="625271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Palancas de costes, inversión y capital </a:t>
            </a:r>
            <a:r>
              <a:rPr lang="en-US" sz="1300" dirty="0">
                <a:solidFill>
                  <a:srgbClr val="5A5C77"/>
                </a:solidFill>
                <a:latin typeface="Jost" pitchFamily="34" charset="0"/>
                <a:ea typeface="Jost" pitchFamily="34" charset="-122"/>
                <a:cs typeface="Jost" pitchFamily="34" charset="-120"/>
              </a:rPr>
              <a:t>· caso base</a:t>
            </a:r>
            <a:endParaRPr lang="en-US" sz="1300" dirty="0"/>
          </a:p>
        </p:txBody>
      </p:sp>
      <p:graphicFrame>
        <p:nvGraphicFramePr>
          <p:cNvPr id="12" name="Table 1"/>
          <p:cNvGraphicFramePr>
            <a:graphicFrameLocks noGrp="1"/>
          </p:cNvGraphicFramePr>
          <p:nvPr/>
        </p:nvGraphicFramePr>
        <p:xfrm>
          <a:off x="5524500" y="2224980"/>
          <a:ext cx="6057900" cy="3233439"/>
        </p:xfrm>
        <a:graphic>
          <a:graphicData uri="http://schemas.openxmlformats.org/drawingml/2006/table">
            <a:tbl>
              <a:tblPr/>
              <a:tblGrid>
                <a:gridCol w="3028950">
                  <a:extLst>
                    <a:ext uri="{9D8B030D-6E8A-4147-A177-3AD203B41FA5}">
                      <a16:colId xmlns:a16="http://schemas.microsoft.com/office/drawing/2014/main" val="20000"/>
                    </a:ext>
                  </a:extLst>
                </a:gridCol>
                <a:gridCol w="1514475">
                  <a:extLst>
                    <a:ext uri="{9D8B030D-6E8A-4147-A177-3AD203B41FA5}">
                      <a16:colId xmlns:a16="http://schemas.microsoft.com/office/drawing/2014/main" val="20001"/>
                    </a:ext>
                  </a:extLst>
                </a:gridCol>
                <a:gridCol w="1514475">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Hipótesis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Histórico FY25</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Proyección</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Margen bruto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62,0 %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60,1 %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SG&amp;A / ingresos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32,2 %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29,4 % → 25,0 %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D&amp;A / ingresos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2,2 %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2,3 % → 2,9 %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Capex / ingresos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4,4 %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Tipo impositivo efectivo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17,9 %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18,6 %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Payout de dividendos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67,0 %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73,3 %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Deuda LP / EBITDA objetivo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2,8x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2,8x → 2,5x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Caja mínima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10.270 M$</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10.000 M$</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3" name="Shape 9"/>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14" name="Text 10"/>
          <p:cNvSpPr/>
          <p:nvPr/>
        </p:nvSpPr>
        <p:spPr>
          <a:xfrm>
            <a:off x="609600" y="6398320"/>
            <a:ext cx="5452467"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Coca-Cola FA, hoja «Drivers» (caso base activo); análisis propio.</a:t>
            </a:r>
            <a:endParaRPr lang="en-US" sz="1200" dirty="0"/>
          </a:p>
        </p:txBody>
      </p:sp>
      <p:sp>
        <p:nvSpPr>
          <p:cNvPr id="16" name="Text 12"/>
          <p:cNvSpPr/>
          <p:nvPr/>
        </p:nvSpPr>
        <p:spPr>
          <a:xfrm>
            <a:off x="11381184" y="6390680"/>
            <a:ext cx="252016"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15</a:t>
            </a:r>
            <a:endParaRPr lang="en-US" sz="1200" dirty="0"/>
          </a:p>
        </p:txBody>
      </p:sp>
    </p:spTree>
    <p:extLst>
      <p:ext uri="{BB962C8B-B14F-4D97-AF65-F5344CB8AC3E}">
        <p14:creationId xmlns:p14="http://schemas.microsoft.com/office/powerpoint/2010/main" val="2144184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738801"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03 · PROYECCIONES 2026–2035</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El EBITDA pasa de 15,1 a 25,5 mil M$ entre 2026 y 2035 y el flujo libre para la empresa casi se duplica, hasta 17,7 mil M$</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graphicFrame>
        <p:nvGraphicFramePr>
          <p:cNvPr id="8" name="Table 0"/>
          <p:cNvGraphicFramePr>
            <a:graphicFrameLocks noGrp="1"/>
          </p:cNvGraphicFramePr>
          <p:nvPr/>
        </p:nvGraphicFramePr>
        <p:xfrm>
          <a:off x="622300" y="1854200"/>
          <a:ext cx="10960100" cy="3272533"/>
        </p:xfrm>
        <a:graphic>
          <a:graphicData uri="http://schemas.openxmlformats.org/drawingml/2006/table">
            <a:tbl>
              <a:tblPr/>
              <a:tblGrid>
                <a:gridCol w="3068828">
                  <a:extLst>
                    <a:ext uri="{9D8B030D-6E8A-4147-A177-3AD203B41FA5}">
                      <a16:colId xmlns:a16="http://schemas.microsoft.com/office/drawing/2014/main" val="20000"/>
                    </a:ext>
                  </a:extLst>
                </a:gridCol>
                <a:gridCol w="1205611">
                  <a:extLst>
                    <a:ext uri="{9D8B030D-6E8A-4147-A177-3AD203B41FA5}">
                      <a16:colId xmlns:a16="http://schemas.microsoft.com/office/drawing/2014/main" val="20001"/>
                    </a:ext>
                  </a:extLst>
                </a:gridCol>
                <a:gridCol w="1205611">
                  <a:extLst>
                    <a:ext uri="{9D8B030D-6E8A-4147-A177-3AD203B41FA5}">
                      <a16:colId xmlns:a16="http://schemas.microsoft.com/office/drawing/2014/main" val="20002"/>
                    </a:ext>
                  </a:extLst>
                </a:gridCol>
                <a:gridCol w="1096010">
                  <a:extLst>
                    <a:ext uri="{9D8B030D-6E8A-4147-A177-3AD203B41FA5}">
                      <a16:colId xmlns:a16="http://schemas.microsoft.com/office/drawing/2014/main" val="20003"/>
                    </a:ext>
                  </a:extLst>
                </a:gridCol>
                <a:gridCol w="1096010">
                  <a:extLst>
                    <a:ext uri="{9D8B030D-6E8A-4147-A177-3AD203B41FA5}">
                      <a16:colId xmlns:a16="http://schemas.microsoft.com/office/drawing/2014/main" val="20004"/>
                    </a:ext>
                  </a:extLst>
                </a:gridCol>
                <a:gridCol w="1096010">
                  <a:extLst>
                    <a:ext uri="{9D8B030D-6E8A-4147-A177-3AD203B41FA5}">
                      <a16:colId xmlns:a16="http://schemas.microsoft.com/office/drawing/2014/main" val="20005"/>
                    </a:ext>
                  </a:extLst>
                </a:gridCol>
                <a:gridCol w="1096010">
                  <a:extLst>
                    <a:ext uri="{9D8B030D-6E8A-4147-A177-3AD203B41FA5}">
                      <a16:colId xmlns:a16="http://schemas.microsoft.com/office/drawing/2014/main" val="20006"/>
                    </a:ext>
                  </a:extLst>
                </a:gridCol>
                <a:gridCol w="1096010">
                  <a:extLst>
                    <a:ext uri="{9D8B030D-6E8A-4147-A177-3AD203B41FA5}">
                      <a16:colId xmlns:a16="http://schemas.microsoft.com/office/drawing/2014/main" val="20007"/>
                    </a:ext>
                  </a:extLst>
                </a:gridCol>
              </a:tblGrid>
              <a:tr h="297458">
                <a:tc>
                  <a:txBody>
                    <a:bodyPr/>
                    <a:lstStyle/>
                    <a:p>
                      <a:pPr marL="0" indent="0">
                        <a:lnSpc>
                          <a:spcPts val="1643"/>
                        </a:lnSpc>
                        <a:buNone/>
                      </a:pPr>
                      <a:r>
                        <a:rPr lang="en-US" sz="1174" b="1" dirty="0">
                          <a:solidFill>
                            <a:srgbClr val="010736"/>
                          </a:solidFill>
                          <a:latin typeface="EB Garamond" pitchFamily="18" charset="0"/>
                          <a:ea typeface="EB Garamond" pitchFamily="18" charset="-122"/>
                          <a:cs typeface="EB Garamond" pitchFamily="18" charset="-120"/>
                        </a:rPr>
                        <a:t>M$</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43"/>
                        </a:lnSpc>
                        <a:buNone/>
                      </a:pPr>
                      <a:r>
                        <a:rPr lang="en-US" sz="1174" b="1" dirty="0">
                          <a:solidFill>
                            <a:srgbClr val="010736"/>
                          </a:solidFill>
                          <a:latin typeface="EB Garamond" pitchFamily="18" charset="0"/>
                          <a:ea typeface="EB Garamond" pitchFamily="18" charset="-122"/>
                          <a:cs typeface="EB Garamond" pitchFamily="18" charset="-120"/>
                        </a:rPr>
                        <a:t>FY 2025A</a:t>
                      </a:r>
                      <a:endParaRPr lang="en-US" sz="1174"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43"/>
                        </a:lnSpc>
                        <a:buNone/>
                      </a:pPr>
                      <a:r>
                        <a:rPr lang="en-US" sz="1174" b="1" dirty="0">
                          <a:solidFill>
                            <a:srgbClr val="010736"/>
                          </a:solidFill>
                          <a:latin typeface="EB Garamond" pitchFamily="18" charset="0"/>
                          <a:ea typeface="EB Garamond" pitchFamily="18" charset="-122"/>
                          <a:cs typeface="EB Garamond" pitchFamily="18" charset="-120"/>
                        </a:rPr>
                        <a:t>FY 2026E</a:t>
                      </a:r>
                      <a:endParaRPr lang="en-US" sz="1174"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43"/>
                        </a:lnSpc>
                        <a:buNone/>
                      </a:pPr>
                      <a:r>
                        <a:rPr lang="en-US" sz="1174" b="1" dirty="0">
                          <a:solidFill>
                            <a:srgbClr val="010736"/>
                          </a:solidFill>
                          <a:latin typeface="EB Garamond" pitchFamily="18" charset="0"/>
                          <a:ea typeface="EB Garamond" pitchFamily="18" charset="-122"/>
                          <a:cs typeface="EB Garamond" pitchFamily="18" charset="-120"/>
                        </a:rPr>
                        <a:t>FY 2027E</a:t>
                      </a:r>
                      <a:endParaRPr lang="en-US" sz="1174"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43"/>
                        </a:lnSpc>
                        <a:buNone/>
                      </a:pPr>
                      <a:r>
                        <a:rPr lang="en-US" sz="1174" b="1" dirty="0">
                          <a:solidFill>
                            <a:srgbClr val="010736"/>
                          </a:solidFill>
                          <a:latin typeface="EB Garamond" pitchFamily="18" charset="0"/>
                          <a:ea typeface="EB Garamond" pitchFamily="18" charset="-122"/>
                          <a:cs typeface="EB Garamond" pitchFamily="18" charset="-120"/>
                        </a:rPr>
                        <a:t>FY 2028E</a:t>
                      </a:r>
                      <a:endParaRPr lang="en-US" sz="1174"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43"/>
                        </a:lnSpc>
                        <a:buNone/>
                      </a:pPr>
                      <a:r>
                        <a:rPr lang="en-US" sz="1174" b="1" dirty="0">
                          <a:solidFill>
                            <a:srgbClr val="010736"/>
                          </a:solidFill>
                          <a:latin typeface="EB Garamond" pitchFamily="18" charset="0"/>
                          <a:ea typeface="EB Garamond" pitchFamily="18" charset="-122"/>
                          <a:cs typeface="EB Garamond" pitchFamily="18" charset="-120"/>
                        </a:rPr>
                        <a:t>FY 2030E</a:t>
                      </a:r>
                      <a:endParaRPr lang="en-US" sz="1174"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43"/>
                        </a:lnSpc>
                        <a:buNone/>
                      </a:pPr>
                      <a:r>
                        <a:rPr lang="en-US" sz="1174" b="1" dirty="0">
                          <a:solidFill>
                            <a:srgbClr val="010736"/>
                          </a:solidFill>
                          <a:latin typeface="EB Garamond" pitchFamily="18" charset="0"/>
                          <a:ea typeface="EB Garamond" pitchFamily="18" charset="-122"/>
                          <a:cs typeface="EB Garamond" pitchFamily="18" charset="-120"/>
                        </a:rPr>
                        <a:t>FY 2035E</a:t>
                      </a:r>
                      <a:endParaRPr lang="en-US" sz="1174"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43"/>
                        </a:lnSpc>
                        <a:buNone/>
                      </a:pPr>
                      <a:r>
                        <a:rPr lang="en-US" sz="1174" b="1" dirty="0">
                          <a:solidFill>
                            <a:srgbClr val="010736"/>
                          </a:solidFill>
                          <a:latin typeface="EB Garamond" pitchFamily="18" charset="0"/>
                          <a:ea typeface="EB Garamond" pitchFamily="18" charset="-122"/>
                          <a:cs typeface="EB Garamond" pitchFamily="18" charset="-120"/>
                        </a:rPr>
                        <a:t>TACC</a:t>
                      </a:r>
                      <a:endParaRPr lang="en-US" sz="1174"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297458">
                <a:tc>
                  <a:txBody>
                    <a:bodyPr/>
                    <a:lstStyle/>
                    <a:p>
                      <a:pPr marL="0" indent="0">
                        <a:lnSpc>
                          <a:spcPts val="1643"/>
                        </a:lnSpc>
                        <a:buNone/>
                      </a:pPr>
                      <a:r>
                        <a:rPr lang="en-US" sz="1174" dirty="0">
                          <a:solidFill>
                            <a:srgbClr val="010736"/>
                          </a:solidFill>
                          <a:latin typeface="EB Garamond" pitchFamily="18" charset="0"/>
                          <a:ea typeface="EB Garamond" pitchFamily="18" charset="-122"/>
                          <a:cs typeface="EB Garamond" pitchFamily="18" charset="-120"/>
                        </a:rPr>
                        <a:t>Ingresos</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48.062</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22396F"/>
                          </a:solidFill>
                          <a:latin typeface="EB Garamond" pitchFamily="18" charset="0"/>
                          <a:ea typeface="EB Garamond" pitchFamily="18" charset="-122"/>
                          <a:cs typeface="EB Garamond" pitchFamily="18" charset="-120"/>
                        </a:rPr>
                        <a:t>49.135</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49.848</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52.375</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57.564</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72.613</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4,2 %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297458">
                <a:tc>
                  <a:txBody>
                    <a:bodyPr/>
                    <a:lstStyle/>
                    <a:p>
                      <a:pPr marL="0" indent="0">
                        <a:lnSpc>
                          <a:spcPts val="1643"/>
                        </a:lnSpc>
                        <a:buNone/>
                      </a:pPr>
                      <a:r>
                        <a:rPr lang="en-US" sz="1174" dirty="0">
                          <a:solidFill>
                            <a:srgbClr val="5A5C77"/>
                          </a:solidFill>
                          <a:latin typeface="EB Garamond" pitchFamily="18" charset="0"/>
                          <a:ea typeface="EB Garamond" pitchFamily="18" charset="-122"/>
                          <a:cs typeface="EB Garamond" pitchFamily="18" charset="-120"/>
                        </a:rPr>
                        <a:t>Crecimiento a/a</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5A5C77"/>
                          </a:solidFill>
                          <a:latin typeface="EB Garamond" pitchFamily="18" charset="0"/>
                          <a:ea typeface="EB Garamond" pitchFamily="18" charset="-122"/>
                          <a:cs typeface="EB Garamond" pitchFamily="18" charset="-120"/>
                        </a:rPr>
                        <a:t>+2,5 %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22396F"/>
                          </a:solidFill>
                          <a:latin typeface="EB Garamond" pitchFamily="18" charset="0"/>
                          <a:ea typeface="EB Garamond" pitchFamily="18" charset="-122"/>
                          <a:cs typeface="EB Garamond" pitchFamily="18" charset="-120"/>
                        </a:rPr>
                        <a:t>+2,2 %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5A5C77"/>
                          </a:solidFill>
                          <a:latin typeface="EB Garamond" pitchFamily="18" charset="0"/>
                          <a:ea typeface="EB Garamond" pitchFamily="18" charset="-122"/>
                          <a:cs typeface="EB Garamond" pitchFamily="18" charset="-120"/>
                        </a:rPr>
                        <a:t>+1,5 %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5A5C77"/>
                          </a:solidFill>
                          <a:latin typeface="EB Garamond" pitchFamily="18" charset="0"/>
                          <a:ea typeface="EB Garamond" pitchFamily="18" charset="-122"/>
                          <a:cs typeface="EB Garamond" pitchFamily="18" charset="-120"/>
                        </a:rPr>
                        <a:t>+5,1 %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5A5C77"/>
                          </a:solidFill>
                          <a:latin typeface="EB Garamond" pitchFamily="18" charset="0"/>
                          <a:ea typeface="EB Garamond" pitchFamily="18" charset="-122"/>
                          <a:cs typeface="EB Garamond" pitchFamily="18" charset="-120"/>
                        </a:rPr>
                        <a:t>+4,6 %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5A5C77"/>
                          </a:solidFill>
                          <a:latin typeface="EB Garamond" pitchFamily="18" charset="0"/>
                          <a:ea typeface="EB Garamond" pitchFamily="18" charset="-122"/>
                          <a:cs typeface="EB Garamond" pitchFamily="18" charset="-120"/>
                        </a:rPr>
                        <a:t>+4,8 %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297458">
                <a:tc>
                  <a:txBody>
                    <a:bodyPr/>
                    <a:lstStyle/>
                    <a:p>
                      <a:pPr marL="0" indent="0">
                        <a:lnSpc>
                          <a:spcPts val="1643"/>
                        </a:lnSpc>
                        <a:buNone/>
                      </a:pPr>
                      <a:r>
                        <a:rPr lang="en-US" sz="1174" dirty="0">
                          <a:solidFill>
                            <a:srgbClr val="010736"/>
                          </a:solidFill>
                          <a:latin typeface="EB Garamond" pitchFamily="18" charset="0"/>
                          <a:ea typeface="EB Garamond" pitchFamily="18" charset="-122"/>
                          <a:cs typeface="EB Garamond" pitchFamily="18" charset="-120"/>
                        </a:rPr>
                        <a:t>EBITDA</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15.770</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22396F"/>
                          </a:solidFill>
                          <a:latin typeface="EB Garamond" pitchFamily="18" charset="0"/>
                          <a:ea typeface="EB Garamond" pitchFamily="18" charset="-122"/>
                          <a:cs typeface="EB Garamond" pitchFamily="18" charset="-120"/>
                        </a:rPr>
                        <a:t>15.087</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15.710</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16.644</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18.763</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25.483</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4,9 %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297458">
                <a:tc>
                  <a:txBody>
                    <a:bodyPr/>
                    <a:lstStyle/>
                    <a:p>
                      <a:pPr marL="0" indent="0">
                        <a:lnSpc>
                          <a:spcPts val="1643"/>
                        </a:lnSpc>
                        <a:buNone/>
                      </a:pPr>
                      <a:r>
                        <a:rPr lang="en-US" sz="1174" dirty="0">
                          <a:solidFill>
                            <a:srgbClr val="5A5C77"/>
                          </a:solidFill>
                          <a:latin typeface="EB Garamond" pitchFamily="18" charset="0"/>
                          <a:ea typeface="EB Garamond" pitchFamily="18" charset="-122"/>
                          <a:cs typeface="EB Garamond" pitchFamily="18" charset="-120"/>
                        </a:rPr>
                        <a:t>Margen EBITDA</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5A5C77"/>
                          </a:solidFill>
                          <a:latin typeface="EB Garamond" pitchFamily="18" charset="0"/>
                          <a:ea typeface="EB Garamond" pitchFamily="18" charset="-122"/>
                          <a:cs typeface="EB Garamond" pitchFamily="18" charset="-120"/>
                        </a:rPr>
                        <a:t>32,8 %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22396F"/>
                          </a:solidFill>
                          <a:latin typeface="EB Garamond" pitchFamily="18" charset="0"/>
                          <a:ea typeface="EB Garamond" pitchFamily="18" charset="-122"/>
                          <a:cs typeface="EB Garamond" pitchFamily="18" charset="-120"/>
                        </a:rPr>
                        <a:t>30,7 %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5A5C77"/>
                          </a:solidFill>
                          <a:latin typeface="EB Garamond" pitchFamily="18" charset="0"/>
                          <a:ea typeface="EB Garamond" pitchFamily="18" charset="-122"/>
                          <a:cs typeface="EB Garamond" pitchFamily="18" charset="-120"/>
                        </a:rPr>
                        <a:t>31,5 %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5A5C77"/>
                          </a:solidFill>
                          <a:latin typeface="EB Garamond" pitchFamily="18" charset="0"/>
                          <a:ea typeface="EB Garamond" pitchFamily="18" charset="-122"/>
                          <a:cs typeface="EB Garamond" pitchFamily="18" charset="-120"/>
                        </a:rPr>
                        <a:t>31,8 %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5A5C77"/>
                          </a:solidFill>
                          <a:latin typeface="EB Garamond" pitchFamily="18" charset="0"/>
                          <a:ea typeface="EB Garamond" pitchFamily="18" charset="-122"/>
                          <a:cs typeface="EB Garamond" pitchFamily="18" charset="-120"/>
                        </a:rPr>
                        <a:t>32,6 %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5A5C77"/>
                          </a:solidFill>
                          <a:latin typeface="EB Garamond" pitchFamily="18" charset="0"/>
                          <a:ea typeface="EB Garamond" pitchFamily="18" charset="-122"/>
                          <a:cs typeface="EB Garamond" pitchFamily="18" charset="-120"/>
                        </a:rPr>
                        <a:t>35,1 %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297458">
                <a:tc>
                  <a:txBody>
                    <a:bodyPr/>
                    <a:lstStyle/>
                    <a:p>
                      <a:pPr marL="0" indent="0">
                        <a:lnSpc>
                          <a:spcPts val="1643"/>
                        </a:lnSpc>
                        <a:buNone/>
                      </a:pPr>
                      <a:r>
                        <a:rPr lang="en-US" sz="1174" dirty="0">
                          <a:solidFill>
                            <a:srgbClr val="010736"/>
                          </a:solidFill>
                          <a:latin typeface="EB Garamond" pitchFamily="18" charset="0"/>
                          <a:ea typeface="EB Garamond" pitchFamily="18" charset="-122"/>
                          <a:cs typeface="EB Garamond" pitchFamily="18" charset="-120"/>
                        </a:rPr>
                        <a:t>EBIT</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14.315</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22396F"/>
                          </a:solidFill>
                          <a:latin typeface="EB Garamond" pitchFamily="18" charset="0"/>
                          <a:ea typeface="EB Garamond" pitchFamily="18" charset="-122"/>
                          <a:cs typeface="EB Garamond" pitchFamily="18" charset="-120"/>
                        </a:rPr>
                        <a:t>13.945</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14.463</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15.330</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17.107</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23.395</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5,0 %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297557">
                <a:tc>
                  <a:txBody>
                    <a:bodyPr/>
                    <a:lstStyle/>
                    <a:p>
                      <a:pPr marL="0" indent="0">
                        <a:lnSpc>
                          <a:spcPts val="1643"/>
                        </a:lnSpc>
                        <a:buNone/>
                      </a:pPr>
                      <a:r>
                        <a:rPr lang="en-US" sz="1174" dirty="0">
                          <a:solidFill>
                            <a:srgbClr val="010736"/>
                          </a:solidFill>
                          <a:latin typeface="EB Garamond" pitchFamily="18" charset="0"/>
                          <a:ea typeface="EB Garamond" pitchFamily="18" charset="-122"/>
                          <a:cs typeface="EB Garamond" pitchFamily="18" charset="-120"/>
                        </a:rPr>
                        <a:t>Beneficio neto</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13.107</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22396F"/>
                          </a:solidFill>
                          <a:latin typeface="EB Garamond" pitchFamily="18" charset="0"/>
                          <a:ea typeface="EB Garamond" pitchFamily="18" charset="-122"/>
                          <a:cs typeface="EB Garamond" pitchFamily="18" charset="-120"/>
                        </a:rPr>
                        <a:t>10.520</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10.919</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11.634</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13.074</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18.175</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3,3 %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6"/>
                  </a:ext>
                </a:extLst>
              </a:tr>
              <a:tr h="297557">
                <a:tc>
                  <a:txBody>
                    <a:bodyPr/>
                    <a:lstStyle/>
                    <a:p>
                      <a:pPr marL="0" indent="0">
                        <a:lnSpc>
                          <a:spcPts val="1643"/>
                        </a:lnSpc>
                        <a:buNone/>
                      </a:pPr>
                      <a:r>
                        <a:rPr lang="en-US" sz="1174" dirty="0">
                          <a:solidFill>
                            <a:srgbClr val="010736"/>
                          </a:solidFill>
                          <a:latin typeface="EB Garamond" pitchFamily="18" charset="0"/>
                          <a:ea typeface="EB Garamond" pitchFamily="18" charset="-122"/>
                          <a:cs typeface="EB Garamond" pitchFamily="18" charset="-120"/>
                        </a:rPr>
                        <a:t>BPA diluido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3,04</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22396F"/>
                          </a:solidFill>
                          <a:latin typeface="EB Garamond" pitchFamily="18" charset="0"/>
                          <a:ea typeface="EB Garamond" pitchFamily="18" charset="-122"/>
                          <a:cs typeface="EB Garamond" pitchFamily="18" charset="-120"/>
                        </a:rPr>
                        <a:t>2,44</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2,53</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2,71</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3,09</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4,46</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3,9 %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7"/>
                  </a:ext>
                </a:extLst>
              </a:tr>
              <a:tr h="297557">
                <a:tc>
                  <a:txBody>
                    <a:bodyPr/>
                    <a:lstStyle/>
                    <a:p>
                      <a:pPr marL="0" indent="0">
                        <a:lnSpc>
                          <a:spcPts val="1643"/>
                        </a:lnSpc>
                        <a:buNone/>
                      </a:pPr>
                      <a:r>
                        <a:rPr lang="en-US" sz="1174" dirty="0">
                          <a:solidFill>
                            <a:srgbClr val="010736"/>
                          </a:solidFill>
                          <a:latin typeface="EB Garamond" pitchFamily="18" charset="0"/>
                          <a:ea typeface="EB Garamond" pitchFamily="18" charset="-122"/>
                          <a:cs typeface="EB Garamond" pitchFamily="18" charset="-120"/>
                        </a:rPr>
                        <a:t>Flujo libre para la empresa</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2.429</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22396F"/>
                          </a:solidFill>
                          <a:latin typeface="EB Garamond" pitchFamily="18" charset="0"/>
                          <a:ea typeface="EB Garamond" pitchFamily="18" charset="-122"/>
                          <a:cs typeface="EB Garamond" pitchFamily="18" charset="-120"/>
                        </a:rPr>
                        <a:t>9.154</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10.413</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11.297</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12.826</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17.690</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n. s.</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8"/>
                  </a:ext>
                </a:extLst>
              </a:tr>
              <a:tr h="297557">
                <a:tc>
                  <a:txBody>
                    <a:bodyPr/>
                    <a:lstStyle/>
                    <a:p>
                      <a:pPr marL="0" indent="0">
                        <a:lnSpc>
                          <a:spcPts val="1643"/>
                        </a:lnSpc>
                        <a:buNone/>
                      </a:pPr>
                      <a:r>
                        <a:rPr lang="en-US" sz="1174" dirty="0">
                          <a:solidFill>
                            <a:srgbClr val="010736"/>
                          </a:solidFill>
                          <a:latin typeface="EB Garamond" pitchFamily="18" charset="0"/>
                          <a:ea typeface="EB Garamond" pitchFamily="18" charset="-122"/>
                          <a:cs typeface="EB Garamond" pitchFamily="18" charset="-120"/>
                        </a:rPr>
                        <a:t>Dividendos pagados</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8.779</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22396F"/>
                          </a:solidFill>
                          <a:latin typeface="EB Garamond" pitchFamily="18" charset="0"/>
                          <a:ea typeface="EB Garamond" pitchFamily="18" charset="-122"/>
                          <a:cs typeface="EB Garamond" pitchFamily="18" charset="-120"/>
                        </a:rPr>
                        <a:t>7.709</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8.001</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8.525</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9.580</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13.318</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4,3 %</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9"/>
                  </a:ext>
                </a:extLst>
              </a:tr>
              <a:tr h="297557">
                <a:tc>
                  <a:txBody>
                    <a:bodyPr/>
                    <a:lstStyle/>
                    <a:p>
                      <a:pPr marL="0" indent="0">
                        <a:lnSpc>
                          <a:spcPts val="1643"/>
                        </a:lnSpc>
                        <a:buNone/>
                      </a:pPr>
                      <a:r>
                        <a:rPr lang="en-US" sz="1174" dirty="0">
                          <a:solidFill>
                            <a:srgbClr val="010736"/>
                          </a:solidFill>
                          <a:latin typeface="EB Garamond" pitchFamily="18" charset="0"/>
                          <a:ea typeface="EB Garamond" pitchFamily="18" charset="-122"/>
                          <a:cs typeface="EB Garamond" pitchFamily="18" charset="-120"/>
                        </a:rPr>
                        <a:t>Recompras de acciones</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433</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22396F"/>
                          </a:solidFill>
                          <a:latin typeface="EB Garamond" pitchFamily="18" charset="0"/>
                          <a:ea typeface="EB Garamond" pitchFamily="18" charset="-122"/>
                          <a:cs typeface="EB Garamond" pitchFamily="18" charset="-120"/>
                        </a:rPr>
                        <a:t>0</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2.371</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3.077</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3.637</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5.081</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43"/>
                        </a:lnSpc>
                        <a:buNone/>
                      </a:pPr>
                      <a:r>
                        <a:rPr lang="en-US" sz="1174" dirty="0">
                          <a:solidFill>
                            <a:srgbClr val="010736"/>
                          </a:solidFill>
                          <a:latin typeface="EB Garamond" pitchFamily="18" charset="0"/>
                          <a:ea typeface="EB Garamond" pitchFamily="18" charset="-122"/>
                          <a:cs typeface="EB Garamond" pitchFamily="18" charset="-120"/>
                        </a:rPr>
                        <a:t>n. s.</a:t>
                      </a:r>
                      <a:endParaRPr lang="en-US" sz="1174"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9" name="Shape 6"/>
          <p:cNvSpPr/>
          <p:nvPr/>
        </p:nvSpPr>
        <p:spPr>
          <a:xfrm>
            <a:off x="609600" y="5215632"/>
            <a:ext cx="10972800" cy="689868"/>
          </a:xfrm>
          <a:prstGeom prst="rect">
            <a:avLst/>
          </a:prstGeom>
          <a:solidFill>
            <a:srgbClr val="FCF1D0"/>
          </a:solidFill>
          <a:ln/>
        </p:spPr>
        <p:txBody>
          <a:bodyPr/>
          <a:lstStyle/>
          <a:p>
            <a:endParaRPr lang="en-US"/>
          </a:p>
        </p:txBody>
      </p:sp>
      <p:sp>
        <p:nvSpPr>
          <p:cNvPr id="10" name="Shape 7"/>
          <p:cNvSpPr/>
          <p:nvPr/>
        </p:nvSpPr>
        <p:spPr>
          <a:xfrm>
            <a:off x="609600" y="5220395"/>
            <a:ext cx="10972800" cy="0"/>
          </a:xfrm>
          <a:prstGeom prst="line">
            <a:avLst/>
          </a:prstGeom>
          <a:noFill/>
          <a:ln w="9525">
            <a:solidFill>
              <a:srgbClr val="010736"/>
            </a:solidFill>
            <a:prstDash val="solid"/>
          </a:ln>
        </p:spPr>
        <p:txBody>
          <a:bodyPr/>
          <a:lstStyle/>
          <a:p>
            <a:endParaRPr lang="en-US"/>
          </a:p>
        </p:txBody>
      </p:sp>
      <p:sp>
        <p:nvSpPr>
          <p:cNvPr id="11" name="Text 8"/>
          <p:cNvSpPr/>
          <p:nvPr/>
        </p:nvSpPr>
        <p:spPr>
          <a:xfrm>
            <a:off x="787400" y="5336282"/>
            <a:ext cx="1320800" cy="480318"/>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2396F"/>
                </a:solidFill>
                <a:latin typeface="Jost" pitchFamily="34" charset="0"/>
                <a:ea typeface="Jost" pitchFamily="34" charset="-122"/>
                <a:cs typeface="Jost" pitchFamily="34" charset="-120"/>
              </a:rPr>
              <a:t>A VIGILAR</a:t>
            </a:r>
            <a:endParaRPr lang="en-US" sz="1200" dirty="0"/>
          </a:p>
        </p:txBody>
      </p:sp>
      <p:sp>
        <p:nvSpPr>
          <p:cNvPr id="12" name="Text 9"/>
          <p:cNvSpPr/>
          <p:nvPr/>
        </p:nvSpPr>
        <p:spPr>
          <a:xfrm>
            <a:off x="2209800" y="5336282"/>
            <a:ext cx="9418320" cy="48031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EB Garamond" pitchFamily="18" charset="0"/>
                <a:ea typeface="EB Garamond" pitchFamily="18" charset="-122"/>
                <a:cs typeface="EB Garamond" pitchFamily="18" charset="-120"/>
              </a:rPr>
              <a:t>El BPA 2026E del modelo (2,44 $) queda por debajo de la guía comparable (≈ 3,27–3,30 $): el modelo no proyecta el resultado de participadas (2,0 mil M$ en 2025). Es un sesgo conservador.</a:t>
            </a:r>
            <a:endParaRPr lang="en-US" sz="1300" dirty="0"/>
          </a:p>
        </p:txBody>
      </p:sp>
      <p:sp>
        <p:nvSpPr>
          <p:cNvPr id="13" name="Shape 10"/>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14" name="Text 11"/>
          <p:cNvSpPr/>
          <p:nvPr/>
        </p:nvSpPr>
        <p:spPr>
          <a:xfrm>
            <a:off x="609600" y="6398320"/>
            <a:ext cx="7965519"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Coca-Cola FA (hojas IS, CF y DCF); Coca-Cola, guía 2026 actualizada en el 2T 2026; análisis propio.</a:t>
            </a:r>
            <a:endParaRPr lang="en-US" sz="1200" dirty="0"/>
          </a:p>
        </p:txBody>
      </p:sp>
      <p:sp>
        <p:nvSpPr>
          <p:cNvPr id="16" name="Text 13"/>
          <p:cNvSpPr/>
          <p:nvPr/>
        </p:nvSpPr>
        <p:spPr>
          <a:xfrm>
            <a:off x="11378605" y="6390680"/>
            <a:ext cx="25459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16</a:t>
            </a:r>
            <a:endParaRPr lang="en-US" sz="1200" dirty="0"/>
          </a:p>
        </p:txBody>
      </p:sp>
    </p:spTree>
    <p:extLst>
      <p:ext uri="{BB962C8B-B14F-4D97-AF65-F5344CB8AC3E}">
        <p14:creationId xmlns:p14="http://schemas.microsoft.com/office/powerpoint/2010/main" val="4017182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269117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03 · COSTE DE CAPITAL</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Un WACC del 6,0 %, con una beta de 0,40, refleja el perfil defensivo de Coca-Cola y su bajo apalancamiento</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418592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Construcción del WACC</a:t>
            </a:r>
            <a:endParaRPr lang="en-US" sz="1300" dirty="0"/>
          </a:p>
        </p:txBody>
      </p:sp>
      <p:graphicFrame>
        <p:nvGraphicFramePr>
          <p:cNvPr id="9" name="Table 0"/>
          <p:cNvGraphicFramePr>
            <a:graphicFrameLocks noGrp="1"/>
          </p:cNvGraphicFramePr>
          <p:nvPr/>
        </p:nvGraphicFramePr>
        <p:xfrm>
          <a:off x="622300" y="2224980"/>
          <a:ext cx="4051300" cy="3233439"/>
        </p:xfrm>
        <a:graphic>
          <a:graphicData uri="http://schemas.openxmlformats.org/drawingml/2006/table">
            <a:tbl>
              <a:tblPr/>
              <a:tblGrid>
                <a:gridCol w="2633345">
                  <a:extLst>
                    <a:ext uri="{9D8B030D-6E8A-4147-A177-3AD203B41FA5}">
                      <a16:colId xmlns:a16="http://schemas.microsoft.com/office/drawing/2014/main" val="20000"/>
                    </a:ext>
                  </a:extLst>
                </a:gridCol>
                <a:gridCol w="1417955">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Componente</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Valor</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Tipo libre de riesgo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4,25 %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Prima de riesgo de mercado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5,27 %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Beta reapalancada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0,40</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Coste del capital (Ke)</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6,38 %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Coste de la deuda tras impuestos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2,64 %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Deuda / (deuda + capital)</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10,6 %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WACC</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5,98 %</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5A5C77"/>
                          </a:solidFill>
                          <a:latin typeface="EB Garamond" pitchFamily="18" charset="0"/>
                          <a:ea typeface="EB Garamond" pitchFamily="18" charset="-122"/>
                          <a:cs typeface="EB Garamond" pitchFamily="18" charset="-120"/>
                        </a:rPr>
                        <a:t>Referencia Damodaran</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5A5C77"/>
                          </a:solidFill>
                          <a:latin typeface="EB Garamond" pitchFamily="18" charset="0"/>
                          <a:ea typeface="EB Garamond" pitchFamily="18" charset="-122"/>
                          <a:cs typeface="EB Garamond" pitchFamily="18" charset="-120"/>
                        </a:rPr>
                        <a:t>5,89 %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0" name="Text 7"/>
          <p:cNvSpPr/>
          <p:nvPr/>
        </p:nvSpPr>
        <p:spPr>
          <a:xfrm>
            <a:off x="5130800" y="1905000"/>
            <a:ext cx="664514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Betas de comparables </a:t>
            </a:r>
            <a:r>
              <a:rPr lang="en-US" sz="1300" dirty="0">
                <a:solidFill>
                  <a:srgbClr val="5A5C77"/>
                </a:solidFill>
                <a:latin typeface="Jost" pitchFamily="34" charset="0"/>
                <a:ea typeface="Jost" pitchFamily="34" charset="-122"/>
                <a:cs typeface="Jost" pitchFamily="34" charset="-120"/>
              </a:rPr>
              <a:t>· la beta de activos es la media de KDP, PEP y MNST</a:t>
            </a:r>
            <a:endParaRPr lang="en-US" sz="1300" dirty="0"/>
          </a:p>
        </p:txBody>
      </p:sp>
      <p:graphicFrame>
        <p:nvGraphicFramePr>
          <p:cNvPr id="11" name="Table 1"/>
          <p:cNvGraphicFramePr>
            <a:graphicFrameLocks noGrp="1"/>
          </p:cNvGraphicFramePr>
          <p:nvPr/>
        </p:nvGraphicFramePr>
        <p:xfrm>
          <a:off x="5143500" y="2224980"/>
          <a:ext cx="6438900" cy="2514897"/>
        </p:xfrm>
        <a:graphic>
          <a:graphicData uri="http://schemas.openxmlformats.org/drawingml/2006/table">
            <a:tbl>
              <a:tblPr/>
              <a:tblGrid>
                <a:gridCol w="2575560">
                  <a:extLst>
                    <a:ext uri="{9D8B030D-6E8A-4147-A177-3AD203B41FA5}">
                      <a16:colId xmlns:a16="http://schemas.microsoft.com/office/drawing/2014/main" val="20000"/>
                    </a:ext>
                  </a:extLst>
                </a:gridCol>
                <a:gridCol w="1287780">
                  <a:extLst>
                    <a:ext uri="{9D8B030D-6E8A-4147-A177-3AD203B41FA5}">
                      <a16:colId xmlns:a16="http://schemas.microsoft.com/office/drawing/2014/main" val="20001"/>
                    </a:ext>
                  </a:extLst>
                </a:gridCol>
                <a:gridCol w="1287780">
                  <a:extLst>
                    <a:ext uri="{9D8B030D-6E8A-4147-A177-3AD203B41FA5}">
                      <a16:colId xmlns:a16="http://schemas.microsoft.com/office/drawing/2014/main" val="20002"/>
                    </a:ext>
                  </a:extLst>
                </a:gridCol>
                <a:gridCol w="1287780">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Compañía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Beta</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D / E</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Desapalancada</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Keurig Dr Pepper</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0,38</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0,34x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0,28</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PepsiCo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0,33</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0,22x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0,27</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Monster Beverage</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0,53</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0,00x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0,53</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5A5C77"/>
                          </a:solidFill>
                          <a:latin typeface="EB Garamond" pitchFamily="18" charset="0"/>
                          <a:ea typeface="EB Garamond" pitchFamily="18" charset="-122"/>
                          <a:cs typeface="EB Garamond" pitchFamily="18" charset="-120"/>
                        </a:rPr>
                        <a:t>Celsius (excluida)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5A5C77"/>
                          </a:solidFill>
                          <a:latin typeface="EB Garamond" pitchFamily="18" charset="0"/>
                          <a:ea typeface="EB Garamond" pitchFamily="18" charset="-122"/>
                          <a:cs typeface="EB Garamond" pitchFamily="18" charset="-120"/>
                        </a:rPr>
                        <a:t>1,00</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5A5C77"/>
                          </a:solidFill>
                          <a:latin typeface="EB Garamond" pitchFamily="18" charset="0"/>
                          <a:ea typeface="EB Garamond" pitchFamily="18" charset="-122"/>
                          <a:cs typeface="EB Garamond" pitchFamily="18" charset="-120"/>
                        </a:rPr>
                        <a:t>0,09x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5A5C77"/>
                          </a:solidFill>
                          <a:latin typeface="EB Garamond" pitchFamily="18" charset="0"/>
                          <a:ea typeface="EB Garamond" pitchFamily="18" charset="-122"/>
                          <a:cs typeface="EB Garamond" pitchFamily="18" charset="-120"/>
                        </a:rPr>
                        <a:t>0,92</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5A5C77"/>
                          </a:solidFill>
                          <a:latin typeface="EB Garamond" pitchFamily="18" charset="0"/>
                          <a:ea typeface="EB Garamond" pitchFamily="18" charset="-122"/>
                          <a:cs typeface="EB Garamond" pitchFamily="18" charset="-120"/>
                        </a:rPr>
                        <a:t>National Beverage (excluida)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5A5C77"/>
                          </a:solidFill>
                          <a:latin typeface="EB Garamond" pitchFamily="18" charset="0"/>
                          <a:ea typeface="EB Garamond" pitchFamily="18" charset="-122"/>
                          <a:cs typeface="EB Garamond" pitchFamily="18" charset="-120"/>
                        </a:rPr>
                        <a:t>0,83</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5A5C77"/>
                          </a:solidFill>
                          <a:latin typeface="EB Garamond" pitchFamily="18" charset="0"/>
                          <a:ea typeface="EB Garamond" pitchFamily="18" charset="-122"/>
                          <a:cs typeface="EB Garamond" pitchFamily="18" charset="-120"/>
                        </a:rPr>
                        <a:t>0,02x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5A5C77"/>
                          </a:solidFill>
                          <a:latin typeface="EB Garamond" pitchFamily="18" charset="0"/>
                          <a:ea typeface="EB Garamond" pitchFamily="18" charset="-122"/>
                          <a:cs typeface="EB Garamond" pitchFamily="18" charset="-120"/>
                        </a:rPr>
                        <a:t>0,82</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Beta de activos (media)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0,41</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0,36</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6"/>
                  </a:ext>
                </a:extLst>
              </a:tr>
            </a:tbl>
          </a:graphicData>
        </a:graphic>
      </p:graphicFrame>
      <p:sp>
        <p:nvSpPr>
          <p:cNvPr id="12" name="Text 8"/>
          <p:cNvSpPr/>
          <p:nvPr/>
        </p:nvSpPr>
        <p:spPr>
          <a:xfrm>
            <a:off x="5130800" y="4892278"/>
            <a:ext cx="70612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EB Garamond" pitchFamily="18" charset="0"/>
                <a:ea typeface="EB Garamond" pitchFamily="18" charset="-122"/>
                <a:cs typeface="EB Garamond" pitchFamily="18" charset="-120"/>
              </a:rPr>
              <a:t>Celsius y National Beverage se excluyen por su perfil de crecimiento: elevarían la beta de activos a 0,56.</a:t>
            </a:r>
            <a:endParaRPr lang="en-US" sz="1300" dirty="0"/>
          </a:p>
        </p:txBody>
      </p:sp>
      <p:sp>
        <p:nvSpPr>
          <p:cNvPr id="13" name="Shape 9"/>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14" name="Text 10"/>
          <p:cNvSpPr/>
          <p:nvPr/>
        </p:nvSpPr>
        <p:spPr>
          <a:xfrm>
            <a:off x="609600" y="6398320"/>
            <a:ext cx="6941939"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Coca-Cola FA, hoja «WACC»; datos de mercado (betas); Damodaran; análisis propio.</a:t>
            </a:r>
            <a:endParaRPr lang="en-US" sz="1200" dirty="0"/>
          </a:p>
        </p:txBody>
      </p:sp>
      <p:sp>
        <p:nvSpPr>
          <p:cNvPr id="16" name="Text 12"/>
          <p:cNvSpPr/>
          <p:nvPr/>
        </p:nvSpPr>
        <p:spPr>
          <a:xfrm>
            <a:off x="11387237" y="6390680"/>
            <a:ext cx="245963"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17</a:t>
            </a:r>
            <a:endParaRPr lang="en-US" sz="1200" dirty="0"/>
          </a:p>
        </p:txBody>
      </p:sp>
    </p:spTree>
    <p:extLst>
      <p:ext uri="{BB962C8B-B14F-4D97-AF65-F5344CB8AC3E}">
        <p14:creationId xmlns:p14="http://schemas.microsoft.com/office/powerpoint/2010/main" val="3231305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18766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03 · DESCUENTO DE FLUJOS</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El DCF sitúa el valor entre 88,0 $ y 92,1 $ por acción, prácticamente en línea con la cotización actual</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841500"/>
            <a:ext cx="65405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Del valor de empresa al valor por acción </a:t>
            </a:r>
            <a:r>
              <a:rPr lang="en-US" sz="1300" dirty="0">
                <a:solidFill>
                  <a:srgbClr val="5A5C77"/>
                </a:solidFill>
                <a:latin typeface="Jost" pitchFamily="34" charset="0"/>
                <a:ea typeface="Jost" pitchFamily="34" charset="-122"/>
                <a:cs typeface="Jost" pitchFamily="34" charset="-120"/>
              </a:rPr>
              <a:t>· M$, WACC 5,98 %</a:t>
            </a:r>
            <a:endParaRPr lang="en-US" sz="1300" dirty="0"/>
          </a:p>
        </p:txBody>
      </p:sp>
      <p:graphicFrame>
        <p:nvGraphicFramePr>
          <p:cNvPr id="9" name="Table 0"/>
          <p:cNvGraphicFramePr>
            <a:graphicFrameLocks noGrp="1"/>
          </p:cNvGraphicFramePr>
          <p:nvPr/>
        </p:nvGraphicFramePr>
        <p:xfrm>
          <a:off x="622300" y="2148780"/>
          <a:ext cx="6337300" cy="3474240"/>
        </p:xfrm>
        <a:graphic>
          <a:graphicData uri="http://schemas.openxmlformats.org/drawingml/2006/table">
            <a:tbl>
              <a:tblPr/>
              <a:tblGrid>
                <a:gridCol w="2915158">
                  <a:extLst>
                    <a:ext uri="{9D8B030D-6E8A-4147-A177-3AD203B41FA5}">
                      <a16:colId xmlns:a16="http://schemas.microsoft.com/office/drawing/2014/main" val="20000"/>
                    </a:ext>
                  </a:extLst>
                </a:gridCol>
                <a:gridCol w="1711071">
                  <a:extLst>
                    <a:ext uri="{9D8B030D-6E8A-4147-A177-3AD203B41FA5}">
                      <a16:colId xmlns:a16="http://schemas.microsoft.com/office/drawing/2014/main" val="20001"/>
                    </a:ext>
                  </a:extLst>
                </a:gridCol>
                <a:gridCol w="1711071">
                  <a:extLst>
                    <a:ext uri="{9D8B030D-6E8A-4147-A177-3AD203B41FA5}">
                      <a16:colId xmlns:a16="http://schemas.microsoft.com/office/drawing/2014/main" val="20002"/>
                    </a:ext>
                  </a:extLst>
                </a:gridCol>
              </a:tblGrid>
              <a:tr h="289520">
                <a:tc>
                  <a:txBody>
                    <a:bodyPr/>
                    <a:lstStyle/>
                    <a:p>
                      <a:pPr marL="0" indent="0">
                        <a:lnSpc>
                          <a:spcPts val="1680"/>
                        </a:lnSpc>
                        <a:buNone/>
                      </a:pPr>
                      <a:r>
                        <a:rPr lang="en-US" sz="1200" b="1" dirty="0">
                          <a:solidFill>
                            <a:srgbClr val="010736"/>
                          </a:solidFill>
                          <a:latin typeface="EB Garamond" pitchFamily="18" charset="0"/>
                          <a:ea typeface="EB Garamond" pitchFamily="18" charset="-122"/>
                          <a:cs typeface="EB Garamond" pitchFamily="18" charset="-120"/>
                        </a:rPr>
                        <a:t>M$</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Múltiplo 20x</a:t>
                      </a:r>
                      <a:endParaRPr lang="en-US" sz="1200" dirty="0">
                        <a:latin typeface="EB Garamond" charset="0"/>
                        <a:ea typeface="EB Garamond" charset="0"/>
                        <a:cs typeface="EB Garamond" charset="0"/>
                      </a:endParaRPr>
                    </a:p>
                  </a:txBody>
                  <a:tcPr marL="76200" marR="76200" marT="31750" marB="3175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Perpetuo 2,5 %</a:t>
                      </a:r>
                      <a:endParaRPr lang="en-US" sz="1200" dirty="0">
                        <a:latin typeface="EB Garamond" charset="0"/>
                        <a:ea typeface="EB Garamond" charset="0"/>
                        <a:cs typeface="EB Garamond" charset="0"/>
                      </a:endParaRPr>
                    </a:p>
                  </a:txBody>
                  <a:tcPr marL="76200" marR="76200" marT="31750" marB="3175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2895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VA flujos 2026–2035</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95.479</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95.479</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2895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VA valor terminal</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285.148</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267.520</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2895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Valor de empresa</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380.627</a:t>
                      </a:r>
                      <a:endParaRPr lang="en-US" sz="1200" dirty="0">
                        <a:latin typeface="EB Garamond" charset="0"/>
                        <a:ea typeface="EB Garamond" charset="0"/>
                        <a:cs typeface="EB Garamond" charset="0"/>
                      </a:endParaRPr>
                    </a:p>
                  </a:txBody>
                  <a:tcPr marL="76200" marR="76200" marT="31750" marB="31750">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362.999</a:t>
                      </a:r>
                      <a:endParaRPr lang="en-US" sz="1200" dirty="0">
                        <a:latin typeface="EB Garamond" charset="0"/>
                        <a:ea typeface="EB Garamond" charset="0"/>
                        <a:cs typeface="EB Garamond" charset="0"/>
                      </a:endParaRPr>
                    </a:p>
                  </a:txBody>
                  <a:tcPr marL="76200" marR="76200" marT="31750" marB="31750">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3"/>
                  </a:ext>
                </a:extLst>
              </a:tr>
              <a:tr h="2895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 Deuda bruta y arrendamientos</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(49.357)</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(49.357)</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2895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 Minoritarios</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(2.106)</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(2.106)</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2895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 Participadas</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52.409</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52.409</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6"/>
                  </a:ext>
                </a:extLst>
              </a:tr>
              <a:tr h="2895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 Caja e inversiones a corto</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15.806</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15.806</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7"/>
                  </a:ext>
                </a:extLst>
              </a:tr>
              <a:tr h="2895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Valor del capital</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397.379</a:t>
                      </a:r>
                      <a:endParaRPr lang="en-US" sz="1200" dirty="0">
                        <a:latin typeface="EB Garamond" charset="0"/>
                        <a:ea typeface="EB Garamond" charset="0"/>
                        <a:cs typeface="EB Garamond" charset="0"/>
                      </a:endParaRPr>
                    </a:p>
                  </a:txBody>
                  <a:tcPr marL="76200" marR="76200" marT="31750" marB="31750">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379.752</a:t>
                      </a:r>
                      <a:endParaRPr lang="en-US" sz="1200" dirty="0">
                        <a:latin typeface="EB Garamond" charset="0"/>
                        <a:ea typeface="EB Garamond" charset="0"/>
                        <a:cs typeface="EB Garamond" charset="0"/>
                      </a:endParaRPr>
                    </a:p>
                  </a:txBody>
                  <a:tcPr marL="76200" marR="76200" marT="31750" marB="31750">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8"/>
                  </a:ext>
                </a:extLst>
              </a:tr>
              <a:tr h="2895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Acciones diluidas (M)</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4.313</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4.313</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9"/>
                  </a:ext>
                </a:extLst>
              </a:tr>
              <a:tr h="2895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Valor por acción ($)</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92,14</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88,05</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10"/>
                  </a:ext>
                </a:extLst>
              </a:tr>
              <a:tr h="289520">
                <a:tc>
                  <a:txBody>
                    <a:bodyPr/>
                    <a:lstStyle/>
                    <a:p>
                      <a:pPr marL="0" indent="0">
                        <a:lnSpc>
                          <a:spcPts val="1680"/>
                        </a:lnSpc>
                        <a:buNone/>
                      </a:pPr>
                      <a:r>
                        <a:rPr lang="en-US" sz="1200" dirty="0">
                          <a:solidFill>
                            <a:srgbClr val="5A5C77"/>
                          </a:solidFill>
                          <a:latin typeface="EB Garamond" pitchFamily="18" charset="0"/>
                          <a:ea typeface="EB Garamond" pitchFamily="18" charset="-122"/>
                          <a:cs typeface="EB Garamond" pitchFamily="18" charset="-120"/>
                        </a:rPr>
                        <a:t>Frente a 92,71 $</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−0,6 %</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−5,0 %</a:t>
                      </a:r>
                      <a:endParaRPr lang="en-US" sz="1200" dirty="0">
                        <a:latin typeface="EB Garamond" charset="0"/>
                        <a:ea typeface="EB Garamond" charset="0"/>
                        <a:cs typeface="EB Garamond" charset="0"/>
                      </a:endParaRPr>
                    </a:p>
                  </a:txBody>
                  <a:tcPr marL="76200" marR="76200" marT="31750" marB="3175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10" name="Shape 7"/>
          <p:cNvSpPr/>
          <p:nvPr/>
        </p:nvSpPr>
        <p:spPr>
          <a:xfrm>
            <a:off x="7416800" y="1846263"/>
            <a:ext cx="4165600" cy="0"/>
          </a:xfrm>
          <a:prstGeom prst="line">
            <a:avLst/>
          </a:prstGeom>
          <a:noFill/>
          <a:ln w="9525">
            <a:solidFill>
              <a:srgbClr val="010736"/>
            </a:solidFill>
            <a:prstDash val="solid"/>
          </a:ln>
        </p:spPr>
        <p:txBody>
          <a:bodyPr/>
          <a:lstStyle/>
          <a:p>
            <a:endParaRPr lang="en-US"/>
          </a:p>
        </p:txBody>
      </p:sp>
      <p:sp>
        <p:nvSpPr>
          <p:cNvPr id="11" name="Text 8"/>
          <p:cNvSpPr/>
          <p:nvPr/>
        </p:nvSpPr>
        <p:spPr>
          <a:xfrm>
            <a:off x="7416800" y="1987550"/>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01</a:t>
            </a:r>
            <a:endParaRPr lang="en-US" sz="1200" dirty="0"/>
          </a:p>
        </p:txBody>
      </p:sp>
      <p:sp>
        <p:nvSpPr>
          <p:cNvPr id="12" name="Text 9"/>
          <p:cNvSpPr/>
          <p:nvPr/>
        </p:nvSpPr>
        <p:spPr>
          <a:xfrm>
            <a:off x="7874000" y="1987550"/>
            <a:ext cx="3819652"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El valor terminal pesa un 75 %</a:t>
            </a:r>
            <a:r>
              <a:rPr lang="en-US" sz="1400" dirty="0">
                <a:solidFill>
                  <a:srgbClr val="010736"/>
                </a:solidFill>
                <a:latin typeface="EB Garamond" pitchFamily="18" charset="0"/>
                <a:ea typeface="EB Garamond" pitchFamily="18" charset="-122"/>
                <a:cs typeface="EB Garamond" pitchFamily="18" charset="-120"/>
              </a:rPr>
              <a:t> del valor de empresa con múltiplo y un 74 % con crecimiento perpetuo.</a:t>
            </a:r>
            <a:endParaRPr lang="en-US" sz="1400" dirty="0"/>
          </a:p>
        </p:txBody>
      </p:sp>
      <p:sp>
        <p:nvSpPr>
          <p:cNvPr id="13" name="Shape 10"/>
          <p:cNvSpPr/>
          <p:nvPr/>
        </p:nvSpPr>
        <p:spPr>
          <a:xfrm>
            <a:off x="7416800" y="2628106"/>
            <a:ext cx="4165600" cy="0"/>
          </a:xfrm>
          <a:prstGeom prst="line">
            <a:avLst/>
          </a:prstGeom>
          <a:noFill/>
          <a:ln w="6350">
            <a:solidFill>
              <a:srgbClr val="D0CECE"/>
            </a:solidFill>
            <a:prstDash val="solid"/>
          </a:ln>
        </p:spPr>
        <p:txBody>
          <a:bodyPr/>
          <a:lstStyle/>
          <a:p>
            <a:endParaRPr lang="en-US"/>
          </a:p>
        </p:txBody>
      </p:sp>
      <p:sp>
        <p:nvSpPr>
          <p:cNvPr id="14" name="Text 11"/>
          <p:cNvSpPr/>
          <p:nvPr/>
        </p:nvSpPr>
        <p:spPr>
          <a:xfrm>
            <a:off x="7416800" y="2770981"/>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02</a:t>
            </a:r>
            <a:endParaRPr lang="en-US" sz="1200" dirty="0"/>
          </a:p>
        </p:txBody>
      </p:sp>
      <p:sp>
        <p:nvSpPr>
          <p:cNvPr id="15" name="Text 12"/>
          <p:cNvSpPr/>
          <p:nvPr/>
        </p:nvSpPr>
        <p:spPr>
          <a:xfrm>
            <a:off x="7874000" y="2770981"/>
            <a:ext cx="3819652"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Un RONIC del 22,6 %</a:t>
            </a:r>
            <a:r>
              <a:rPr lang="en-US" sz="1400" dirty="0">
                <a:solidFill>
                  <a:srgbClr val="010736"/>
                </a:solidFill>
                <a:latin typeface="EB Garamond" pitchFamily="18" charset="0"/>
                <a:ea typeface="EB Garamond" pitchFamily="18" charset="-122"/>
                <a:cs typeface="EB Garamond" pitchFamily="18" charset="-120"/>
              </a:rPr>
              <a:t> exige reinvertir solo el 11 % del NOPAT para crecer al 2,5 % a perpetuidad.</a:t>
            </a:r>
            <a:endParaRPr lang="en-US" sz="1400" dirty="0"/>
          </a:p>
        </p:txBody>
      </p:sp>
      <p:sp>
        <p:nvSpPr>
          <p:cNvPr id="16" name="Shape 13"/>
          <p:cNvSpPr/>
          <p:nvPr/>
        </p:nvSpPr>
        <p:spPr>
          <a:xfrm>
            <a:off x="7416800" y="3411538"/>
            <a:ext cx="4165600" cy="0"/>
          </a:xfrm>
          <a:prstGeom prst="line">
            <a:avLst/>
          </a:prstGeom>
          <a:noFill/>
          <a:ln w="6350">
            <a:solidFill>
              <a:srgbClr val="D0CECE"/>
            </a:solidFill>
            <a:prstDash val="solid"/>
          </a:ln>
        </p:spPr>
        <p:txBody>
          <a:bodyPr/>
          <a:lstStyle/>
          <a:p>
            <a:endParaRPr lang="en-US"/>
          </a:p>
        </p:txBody>
      </p:sp>
      <p:sp>
        <p:nvSpPr>
          <p:cNvPr id="17" name="Text 14"/>
          <p:cNvSpPr/>
          <p:nvPr/>
        </p:nvSpPr>
        <p:spPr>
          <a:xfrm>
            <a:off x="7416800" y="3554413"/>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03</a:t>
            </a:r>
            <a:endParaRPr lang="en-US" sz="1200" dirty="0"/>
          </a:p>
        </p:txBody>
      </p:sp>
      <p:sp>
        <p:nvSpPr>
          <p:cNvPr id="18" name="Text 15"/>
          <p:cNvSpPr/>
          <p:nvPr/>
        </p:nvSpPr>
        <p:spPr>
          <a:xfrm>
            <a:off x="7874000" y="3554413"/>
            <a:ext cx="3819652"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Las participadas aportan 12,2 $</a:t>
            </a:r>
            <a:r>
              <a:rPr lang="en-US" sz="1400" dirty="0">
                <a:solidFill>
                  <a:srgbClr val="010736"/>
                </a:solidFill>
                <a:latin typeface="EB Garamond" pitchFamily="18" charset="0"/>
                <a:ea typeface="EB Garamond" pitchFamily="18" charset="-122"/>
                <a:cs typeface="EB Garamond" pitchFamily="18" charset="-120"/>
              </a:rPr>
              <a:t> por acción, valoradas a su valor contable (1,0x).</a:t>
            </a:r>
            <a:endParaRPr lang="en-US" sz="1400" dirty="0"/>
          </a:p>
        </p:txBody>
      </p:sp>
      <p:sp>
        <p:nvSpPr>
          <p:cNvPr id="19" name="Shape 16"/>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0" name="Text 17"/>
          <p:cNvSpPr/>
          <p:nvPr/>
        </p:nvSpPr>
        <p:spPr>
          <a:xfrm>
            <a:off x="609600" y="6398320"/>
            <a:ext cx="7643932"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Coca-Cola FA, hoja «DCF + DDM»; EBITDA FY 2035E de 25.483 M$ × 20x; análisis propio.</a:t>
            </a:r>
            <a:endParaRPr lang="en-US" sz="1200" dirty="0"/>
          </a:p>
        </p:txBody>
      </p:sp>
      <p:sp>
        <p:nvSpPr>
          <p:cNvPr id="22" name="Text 19"/>
          <p:cNvSpPr/>
          <p:nvPr/>
        </p:nvSpPr>
        <p:spPr>
          <a:xfrm>
            <a:off x="11383963" y="6390680"/>
            <a:ext cx="249237"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18</a:t>
            </a:r>
            <a:endParaRPr lang="en-US" sz="1200" dirty="0"/>
          </a:p>
        </p:txBody>
      </p:sp>
    </p:spTree>
    <p:extLst>
      <p:ext uri="{BB962C8B-B14F-4D97-AF65-F5344CB8AC3E}">
        <p14:creationId xmlns:p14="http://schemas.microsoft.com/office/powerpoint/2010/main" val="2878483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2423874"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03 · FOOTBALL FIELD</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La media de los métodos da 76,2 $ por acción: solo el DCF por múltiplo de salida alcanza la cotización de 92,7 $</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879600"/>
            <a:ext cx="1130198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Valor por acción según método </a:t>
            </a:r>
            <a:r>
              <a:rPr lang="en-US" sz="1300" dirty="0">
                <a:solidFill>
                  <a:srgbClr val="5A5C77"/>
                </a:solidFill>
                <a:latin typeface="Jost" pitchFamily="34" charset="0"/>
                <a:ea typeface="Jost" pitchFamily="34" charset="-122"/>
                <a:cs typeface="Jost" pitchFamily="34" charset="-120"/>
              </a:rPr>
              <a:t>· $, horquilla de sensibilidad y valor central</a:t>
            </a:r>
            <a:endParaRPr lang="en-US" sz="1300" dirty="0"/>
          </a:p>
        </p:txBody>
      </p:sp>
      <p:sp>
        <p:nvSpPr>
          <p:cNvPr id="9" name="Text 7"/>
          <p:cNvSpPr/>
          <p:nvPr/>
        </p:nvSpPr>
        <p:spPr>
          <a:xfrm>
            <a:off x="609600" y="25628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DCF · múltiplo de salida</a:t>
            </a:r>
            <a:endParaRPr lang="en-US" sz="1200" dirty="0"/>
          </a:p>
        </p:txBody>
      </p:sp>
      <p:sp>
        <p:nvSpPr>
          <p:cNvPr id="10" name="Shape 8"/>
          <p:cNvSpPr/>
          <p:nvPr/>
        </p:nvSpPr>
        <p:spPr>
          <a:xfrm>
            <a:off x="7467600" y="2529780"/>
            <a:ext cx="1270000" cy="279400"/>
          </a:xfrm>
          <a:prstGeom prst="rect">
            <a:avLst/>
          </a:prstGeom>
          <a:solidFill>
            <a:srgbClr val="22396F"/>
          </a:solidFill>
          <a:ln/>
        </p:spPr>
        <p:txBody>
          <a:bodyPr/>
          <a:lstStyle/>
          <a:p>
            <a:endParaRPr lang="en-US"/>
          </a:p>
        </p:txBody>
      </p:sp>
      <p:sp>
        <p:nvSpPr>
          <p:cNvPr id="11" name="Shape 9"/>
          <p:cNvSpPr/>
          <p:nvPr/>
        </p:nvSpPr>
        <p:spPr>
          <a:xfrm>
            <a:off x="8070850" y="2478980"/>
            <a:ext cx="25400" cy="381000"/>
          </a:xfrm>
          <a:prstGeom prst="rect">
            <a:avLst/>
          </a:prstGeom>
          <a:solidFill>
            <a:srgbClr val="010736"/>
          </a:solidFill>
          <a:ln/>
        </p:spPr>
        <p:txBody>
          <a:bodyPr/>
          <a:lstStyle/>
          <a:p>
            <a:endParaRPr lang="en-US"/>
          </a:p>
        </p:txBody>
      </p:sp>
      <p:sp>
        <p:nvSpPr>
          <p:cNvPr id="12" name="Text 10"/>
          <p:cNvSpPr/>
          <p:nvPr/>
        </p:nvSpPr>
        <p:spPr>
          <a:xfrm>
            <a:off x="9906000" y="25628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396F"/>
                </a:solidFill>
                <a:latin typeface="Jost" pitchFamily="34" charset="0"/>
                <a:ea typeface="Jost" pitchFamily="34" charset="-122"/>
                <a:cs typeface="Jost" pitchFamily="34" charset="-120"/>
              </a:rPr>
              <a:t>92,1 </a:t>
            </a:r>
            <a:r>
              <a:rPr lang="en-US" sz="1200" b="1" dirty="0">
                <a:solidFill>
                  <a:srgbClr val="5A5C77"/>
                </a:solidFill>
                <a:latin typeface="Jost" pitchFamily="34" charset="0"/>
                <a:ea typeface="Jost" pitchFamily="34" charset="-122"/>
                <a:cs typeface="Jost" pitchFamily="34" charset="-120"/>
              </a:rPr>
              <a:t>· 85,4–99,4</a:t>
            </a:r>
            <a:endParaRPr lang="en-US" sz="1200" dirty="0"/>
          </a:p>
        </p:txBody>
      </p:sp>
      <p:sp>
        <p:nvSpPr>
          <p:cNvPr id="13" name="Text 11"/>
          <p:cNvSpPr/>
          <p:nvPr/>
        </p:nvSpPr>
        <p:spPr>
          <a:xfrm>
            <a:off x="609600" y="30454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DCF · crecimiento perpetuo</a:t>
            </a:r>
            <a:endParaRPr lang="en-US" sz="1200" dirty="0"/>
          </a:p>
        </p:txBody>
      </p:sp>
      <p:sp>
        <p:nvSpPr>
          <p:cNvPr id="14" name="Shape 12"/>
          <p:cNvSpPr/>
          <p:nvPr/>
        </p:nvSpPr>
        <p:spPr>
          <a:xfrm>
            <a:off x="6496050" y="3012380"/>
            <a:ext cx="3092450" cy="279400"/>
          </a:xfrm>
          <a:prstGeom prst="rect">
            <a:avLst/>
          </a:prstGeom>
          <a:solidFill>
            <a:srgbClr val="22396F"/>
          </a:solidFill>
          <a:ln/>
        </p:spPr>
        <p:txBody>
          <a:bodyPr/>
          <a:lstStyle/>
          <a:p>
            <a:endParaRPr lang="en-US"/>
          </a:p>
        </p:txBody>
      </p:sp>
      <p:sp>
        <p:nvSpPr>
          <p:cNvPr id="15" name="Shape 13"/>
          <p:cNvSpPr/>
          <p:nvPr/>
        </p:nvSpPr>
        <p:spPr>
          <a:xfrm>
            <a:off x="7696200" y="2961580"/>
            <a:ext cx="25400" cy="381000"/>
          </a:xfrm>
          <a:prstGeom prst="rect">
            <a:avLst/>
          </a:prstGeom>
          <a:solidFill>
            <a:srgbClr val="010736"/>
          </a:solidFill>
          <a:ln/>
        </p:spPr>
        <p:txBody>
          <a:bodyPr/>
          <a:lstStyle/>
          <a:p>
            <a:endParaRPr lang="en-US"/>
          </a:p>
        </p:txBody>
      </p:sp>
      <p:sp>
        <p:nvSpPr>
          <p:cNvPr id="16" name="Text 14"/>
          <p:cNvSpPr/>
          <p:nvPr/>
        </p:nvSpPr>
        <p:spPr>
          <a:xfrm>
            <a:off x="9906000" y="30454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396F"/>
                </a:solidFill>
                <a:latin typeface="Jost" pitchFamily="34" charset="0"/>
                <a:ea typeface="Jost" pitchFamily="34" charset="-122"/>
                <a:cs typeface="Jost" pitchFamily="34" charset="-120"/>
              </a:rPr>
              <a:t>88,0 </a:t>
            </a:r>
            <a:r>
              <a:rPr lang="en-US" sz="1200" b="1" dirty="0">
                <a:solidFill>
                  <a:srgbClr val="5A5C77"/>
                </a:solidFill>
                <a:latin typeface="Jost" pitchFamily="34" charset="0"/>
                <a:ea typeface="Jost" pitchFamily="34" charset="-122"/>
                <a:cs typeface="Jost" pitchFamily="34" charset="-120"/>
              </a:rPr>
              <a:t>· 74,6–108,7</a:t>
            </a:r>
            <a:endParaRPr lang="en-US" sz="1200" dirty="0"/>
          </a:p>
        </p:txBody>
      </p:sp>
      <p:sp>
        <p:nvSpPr>
          <p:cNvPr id="17" name="Text 15"/>
          <p:cNvSpPr/>
          <p:nvPr/>
        </p:nvSpPr>
        <p:spPr>
          <a:xfrm>
            <a:off x="609600" y="35280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DDM · pago total</a:t>
            </a:r>
            <a:endParaRPr lang="en-US" sz="1200" dirty="0"/>
          </a:p>
        </p:txBody>
      </p:sp>
      <p:sp>
        <p:nvSpPr>
          <p:cNvPr id="18" name="Shape 16"/>
          <p:cNvSpPr/>
          <p:nvPr/>
        </p:nvSpPr>
        <p:spPr>
          <a:xfrm>
            <a:off x="6064250" y="3494980"/>
            <a:ext cx="2895600" cy="279400"/>
          </a:xfrm>
          <a:prstGeom prst="rect">
            <a:avLst/>
          </a:prstGeom>
          <a:solidFill>
            <a:srgbClr val="22396F"/>
          </a:solidFill>
          <a:ln/>
        </p:spPr>
        <p:txBody>
          <a:bodyPr/>
          <a:lstStyle/>
          <a:p>
            <a:endParaRPr lang="en-US"/>
          </a:p>
        </p:txBody>
      </p:sp>
      <p:sp>
        <p:nvSpPr>
          <p:cNvPr id="19" name="Shape 17"/>
          <p:cNvSpPr/>
          <p:nvPr/>
        </p:nvSpPr>
        <p:spPr>
          <a:xfrm>
            <a:off x="7219950" y="3444180"/>
            <a:ext cx="25400" cy="381000"/>
          </a:xfrm>
          <a:prstGeom prst="rect">
            <a:avLst/>
          </a:prstGeom>
          <a:solidFill>
            <a:srgbClr val="010736"/>
          </a:solidFill>
          <a:ln/>
        </p:spPr>
        <p:txBody>
          <a:bodyPr/>
          <a:lstStyle/>
          <a:p>
            <a:endParaRPr lang="en-US"/>
          </a:p>
        </p:txBody>
      </p:sp>
      <p:sp>
        <p:nvSpPr>
          <p:cNvPr id="20" name="Text 18"/>
          <p:cNvSpPr/>
          <p:nvPr/>
        </p:nvSpPr>
        <p:spPr>
          <a:xfrm>
            <a:off x="9906000" y="35280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396F"/>
                </a:solidFill>
                <a:latin typeface="Jost" pitchFamily="34" charset="0"/>
                <a:ea typeface="Jost" pitchFamily="34" charset="-122"/>
                <a:cs typeface="Jost" pitchFamily="34" charset="-120"/>
              </a:rPr>
              <a:t>82,8 </a:t>
            </a:r>
            <a:r>
              <a:rPr lang="en-US" sz="1200" b="1" dirty="0">
                <a:solidFill>
                  <a:srgbClr val="5A5C77"/>
                </a:solidFill>
                <a:latin typeface="Jost" pitchFamily="34" charset="0"/>
                <a:ea typeface="Jost" pitchFamily="34" charset="-122"/>
                <a:cs typeface="Jost" pitchFamily="34" charset="-120"/>
              </a:rPr>
              <a:t>· 69,9–101,8</a:t>
            </a:r>
            <a:endParaRPr lang="en-US" sz="1200" dirty="0"/>
          </a:p>
        </p:txBody>
      </p:sp>
      <p:sp>
        <p:nvSpPr>
          <p:cNvPr id="21" name="Text 19"/>
          <p:cNvSpPr/>
          <p:nvPr/>
        </p:nvSpPr>
        <p:spPr>
          <a:xfrm>
            <a:off x="609600" y="40106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Comparables · PER</a:t>
            </a:r>
            <a:endParaRPr lang="en-US" sz="1200" dirty="0"/>
          </a:p>
        </p:txBody>
      </p:sp>
      <p:sp>
        <p:nvSpPr>
          <p:cNvPr id="22" name="Shape 20"/>
          <p:cNvSpPr/>
          <p:nvPr/>
        </p:nvSpPr>
        <p:spPr>
          <a:xfrm>
            <a:off x="3657600" y="3977580"/>
            <a:ext cx="1797050" cy="279400"/>
          </a:xfrm>
          <a:prstGeom prst="rect">
            <a:avLst/>
          </a:prstGeom>
          <a:solidFill>
            <a:srgbClr val="8590A9"/>
          </a:solidFill>
          <a:ln/>
        </p:spPr>
        <p:txBody>
          <a:bodyPr/>
          <a:lstStyle/>
          <a:p>
            <a:endParaRPr lang="en-US"/>
          </a:p>
        </p:txBody>
      </p:sp>
      <p:sp>
        <p:nvSpPr>
          <p:cNvPr id="23" name="Shape 21"/>
          <p:cNvSpPr/>
          <p:nvPr/>
        </p:nvSpPr>
        <p:spPr>
          <a:xfrm>
            <a:off x="4286250" y="3926780"/>
            <a:ext cx="25400" cy="381000"/>
          </a:xfrm>
          <a:prstGeom prst="rect">
            <a:avLst/>
          </a:prstGeom>
          <a:solidFill>
            <a:srgbClr val="010736"/>
          </a:solidFill>
          <a:ln/>
        </p:spPr>
        <p:txBody>
          <a:bodyPr/>
          <a:lstStyle/>
          <a:p>
            <a:endParaRPr lang="en-US"/>
          </a:p>
        </p:txBody>
      </p:sp>
      <p:sp>
        <p:nvSpPr>
          <p:cNvPr id="24" name="Text 22"/>
          <p:cNvSpPr/>
          <p:nvPr/>
        </p:nvSpPr>
        <p:spPr>
          <a:xfrm>
            <a:off x="9906000" y="40106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50,4 </a:t>
            </a:r>
            <a:r>
              <a:rPr lang="en-US" sz="1200" dirty="0">
                <a:solidFill>
                  <a:srgbClr val="5A5C77"/>
                </a:solidFill>
                <a:latin typeface="Jost" pitchFamily="34" charset="0"/>
                <a:ea typeface="Jost" pitchFamily="34" charset="-122"/>
                <a:cs typeface="Jost" pitchFamily="34" charset="-120"/>
              </a:rPr>
              <a:t>· 43,4–63,2</a:t>
            </a:r>
            <a:endParaRPr lang="en-US" sz="1200" dirty="0"/>
          </a:p>
        </p:txBody>
      </p:sp>
      <p:sp>
        <p:nvSpPr>
          <p:cNvPr id="25" name="Text 23"/>
          <p:cNvSpPr/>
          <p:nvPr/>
        </p:nvSpPr>
        <p:spPr>
          <a:xfrm>
            <a:off x="609600" y="44932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Comparables · dividendo</a:t>
            </a:r>
            <a:endParaRPr lang="en-US" sz="1200" dirty="0"/>
          </a:p>
        </p:txBody>
      </p:sp>
      <p:sp>
        <p:nvSpPr>
          <p:cNvPr id="26" name="Shape 24"/>
          <p:cNvSpPr/>
          <p:nvPr/>
        </p:nvSpPr>
        <p:spPr>
          <a:xfrm>
            <a:off x="4705350" y="4460180"/>
            <a:ext cx="1879600" cy="279400"/>
          </a:xfrm>
          <a:prstGeom prst="rect">
            <a:avLst/>
          </a:prstGeom>
          <a:solidFill>
            <a:srgbClr val="8590A9"/>
          </a:solidFill>
          <a:ln/>
        </p:spPr>
        <p:txBody>
          <a:bodyPr/>
          <a:lstStyle/>
          <a:p>
            <a:endParaRPr lang="en-US"/>
          </a:p>
        </p:txBody>
      </p:sp>
      <p:sp>
        <p:nvSpPr>
          <p:cNvPr id="27" name="Shape 25"/>
          <p:cNvSpPr/>
          <p:nvPr/>
        </p:nvSpPr>
        <p:spPr>
          <a:xfrm>
            <a:off x="5835650" y="4409380"/>
            <a:ext cx="25400" cy="381000"/>
          </a:xfrm>
          <a:prstGeom prst="rect">
            <a:avLst/>
          </a:prstGeom>
          <a:solidFill>
            <a:srgbClr val="010736"/>
          </a:solidFill>
          <a:ln/>
        </p:spPr>
        <p:txBody>
          <a:bodyPr/>
          <a:lstStyle/>
          <a:p>
            <a:endParaRPr lang="en-US"/>
          </a:p>
        </p:txBody>
      </p:sp>
      <p:sp>
        <p:nvSpPr>
          <p:cNvPr id="28" name="Text 26"/>
          <p:cNvSpPr/>
          <p:nvPr/>
        </p:nvSpPr>
        <p:spPr>
          <a:xfrm>
            <a:off x="9906000" y="44932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67,5 </a:t>
            </a:r>
            <a:r>
              <a:rPr lang="en-US" sz="1200" dirty="0">
                <a:solidFill>
                  <a:srgbClr val="5A5C77"/>
                </a:solidFill>
                <a:latin typeface="Jost" pitchFamily="34" charset="0"/>
                <a:ea typeface="Jost" pitchFamily="34" charset="-122"/>
                <a:cs typeface="Jost" pitchFamily="34" charset="-120"/>
              </a:rPr>
              <a:t>· 54,9–75,7</a:t>
            </a:r>
            <a:endParaRPr lang="en-US" sz="1200" dirty="0"/>
          </a:p>
        </p:txBody>
      </p:sp>
      <p:sp>
        <p:nvSpPr>
          <p:cNvPr id="29" name="Text 27"/>
          <p:cNvSpPr/>
          <p:nvPr/>
        </p:nvSpPr>
        <p:spPr>
          <a:xfrm>
            <a:off x="609600" y="49758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Media de métodos</a:t>
            </a:r>
            <a:endParaRPr lang="en-US" sz="1200" dirty="0"/>
          </a:p>
        </p:txBody>
      </p:sp>
      <p:sp>
        <p:nvSpPr>
          <p:cNvPr id="30" name="Shape 28"/>
          <p:cNvSpPr/>
          <p:nvPr/>
        </p:nvSpPr>
        <p:spPr>
          <a:xfrm>
            <a:off x="5681663" y="4947543"/>
            <a:ext cx="2174875" cy="269875"/>
          </a:xfrm>
          <a:prstGeom prst="rect">
            <a:avLst/>
          </a:prstGeom>
          <a:solidFill>
            <a:srgbClr val="FCF1D0"/>
          </a:solidFill>
          <a:ln w="9525">
            <a:solidFill>
              <a:srgbClr val="22396F"/>
            </a:solidFill>
            <a:prstDash val="solid"/>
          </a:ln>
        </p:spPr>
        <p:txBody>
          <a:bodyPr/>
          <a:lstStyle/>
          <a:p>
            <a:endParaRPr lang="en-US"/>
          </a:p>
        </p:txBody>
      </p:sp>
      <p:sp>
        <p:nvSpPr>
          <p:cNvPr id="31" name="Shape 29"/>
          <p:cNvSpPr/>
          <p:nvPr/>
        </p:nvSpPr>
        <p:spPr>
          <a:xfrm>
            <a:off x="6623050" y="4891980"/>
            <a:ext cx="25400" cy="381000"/>
          </a:xfrm>
          <a:prstGeom prst="rect">
            <a:avLst/>
          </a:prstGeom>
          <a:solidFill>
            <a:srgbClr val="010736"/>
          </a:solidFill>
          <a:ln/>
        </p:spPr>
        <p:txBody>
          <a:bodyPr/>
          <a:lstStyle/>
          <a:p>
            <a:endParaRPr lang="en-US"/>
          </a:p>
        </p:txBody>
      </p:sp>
      <p:sp>
        <p:nvSpPr>
          <p:cNvPr id="32" name="Text 30"/>
          <p:cNvSpPr/>
          <p:nvPr/>
        </p:nvSpPr>
        <p:spPr>
          <a:xfrm>
            <a:off x="9906000" y="49758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76,2 </a:t>
            </a:r>
            <a:r>
              <a:rPr lang="en-US" sz="1200" b="1" dirty="0">
                <a:solidFill>
                  <a:srgbClr val="5A5C77"/>
                </a:solidFill>
                <a:latin typeface="Jost" pitchFamily="34" charset="0"/>
                <a:ea typeface="Jost" pitchFamily="34" charset="-122"/>
                <a:cs typeface="Jost" pitchFamily="34" charset="-120"/>
              </a:rPr>
              <a:t>· 65,6–89,7</a:t>
            </a:r>
            <a:endParaRPr lang="en-US" sz="1200" dirty="0"/>
          </a:p>
        </p:txBody>
      </p:sp>
      <p:sp>
        <p:nvSpPr>
          <p:cNvPr id="33" name="Shape 31"/>
          <p:cNvSpPr/>
          <p:nvPr/>
        </p:nvSpPr>
        <p:spPr>
          <a:xfrm>
            <a:off x="3352800" y="5377755"/>
            <a:ext cx="6350000" cy="0"/>
          </a:xfrm>
          <a:prstGeom prst="line">
            <a:avLst/>
          </a:prstGeom>
          <a:noFill/>
          <a:ln w="6350">
            <a:solidFill>
              <a:srgbClr val="010736"/>
            </a:solidFill>
            <a:prstDash val="solid"/>
          </a:ln>
        </p:spPr>
        <p:txBody>
          <a:bodyPr/>
          <a:lstStyle/>
          <a:p>
            <a:endParaRPr lang="en-US"/>
          </a:p>
        </p:txBody>
      </p:sp>
      <p:sp>
        <p:nvSpPr>
          <p:cNvPr id="34" name="Text 32"/>
          <p:cNvSpPr/>
          <p:nvPr/>
        </p:nvSpPr>
        <p:spPr>
          <a:xfrm>
            <a:off x="3352800" y="5399980"/>
            <a:ext cx="558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C77"/>
                </a:solidFill>
                <a:latin typeface="Jost" pitchFamily="34" charset="0"/>
                <a:ea typeface="Jost" pitchFamily="34" charset="-122"/>
                <a:cs typeface="Jost" pitchFamily="34" charset="-120"/>
              </a:rPr>
              <a:t>40</a:t>
            </a:r>
            <a:endParaRPr lang="en-US" sz="1200" dirty="0"/>
          </a:p>
        </p:txBody>
      </p:sp>
      <p:sp>
        <p:nvSpPr>
          <p:cNvPr id="35" name="Text 33"/>
          <p:cNvSpPr/>
          <p:nvPr/>
        </p:nvSpPr>
        <p:spPr>
          <a:xfrm>
            <a:off x="4889500" y="539998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60</a:t>
            </a:r>
            <a:endParaRPr lang="en-US" sz="1200" dirty="0"/>
          </a:p>
        </p:txBody>
      </p:sp>
      <p:sp>
        <p:nvSpPr>
          <p:cNvPr id="36" name="Text 34"/>
          <p:cNvSpPr/>
          <p:nvPr/>
        </p:nvSpPr>
        <p:spPr>
          <a:xfrm>
            <a:off x="6699250" y="539998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80</a:t>
            </a:r>
            <a:endParaRPr lang="en-US" sz="1200" dirty="0"/>
          </a:p>
        </p:txBody>
      </p:sp>
      <p:sp>
        <p:nvSpPr>
          <p:cNvPr id="37" name="Text 35"/>
          <p:cNvSpPr/>
          <p:nvPr/>
        </p:nvSpPr>
        <p:spPr>
          <a:xfrm>
            <a:off x="8515350" y="539998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100</a:t>
            </a:r>
            <a:endParaRPr lang="en-US" sz="1200" dirty="0"/>
          </a:p>
        </p:txBody>
      </p:sp>
      <p:sp>
        <p:nvSpPr>
          <p:cNvPr id="38" name="Shape 36"/>
          <p:cNvSpPr/>
          <p:nvPr/>
        </p:nvSpPr>
        <p:spPr>
          <a:xfrm>
            <a:off x="8134350" y="2148780"/>
            <a:ext cx="12700" cy="3124200"/>
          </a:xfrm>
          <a:prstGeom prst="rect">
            <a:avLst/>
          </a:prstGeom>
          <a:solidFill>
            <a:srgbClr val="010736"/>
          </a:solidFill>
          <a:ln/>
        </p:spPr>
        <p:txBody>
          <a:bodyPr/>
          <a:lstStyle/>
          <a:p>
            <a:endParaRPr lang="en-US"/>
          </a:p>
        </p:txBody>
      </p:sp>
      <p:sp>
        <p:nvSpPr>
          <p:cNvPr id="39" name="Text 37"/>
          <p:cNvSpPr/>
          <p:nvPr/>
        </p:nvSpPr>
        <p:spPr>
          <a:xfrm>
            <a:off x="8210550" y="2148780"/>
            <a:ext cx="274701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Cotización · 92,7 $</a:t>
            </a:r>
            <a:endParaRPr lang="en-US" sz="1200" dirty="0"/>
          </a:p>
        </p:txBody>
      </p:sp>
      <p:sp>
        <p:nvSpPr>
          <p:cNvPr id="40" name="Shape 38"/>
          <p:cNvSpPr/>
          <p:nvPr/>
        </p:nvSpPr>
        <p:spPr>
          <a:xfrm>
            <a:off x="609600" y="6085284"/>
            <a:ext cx="10972800" cy="0"/>
          </a:xfrm>
          <a:prstGeom prst="line">
            <a:avLst/>
          </a:prstGeom>
          <a:noFill/>
          <a:ln w="6350">
            <a:solidFill>
              <a:srgbClr val="D0CECE"/>
            </a:solidFill>
            <a:prstDash val="solid"/>
          </a:ln>
        </p:spPr>
        <p:txBody>
          <a:bodyPr/>
          <a:lstStyle/>
          <a:p>
            <a:endParaRPr lang="en-US"/>
          </a:p>
        </p:txBody>
      </p:sp>
      <p:sp>
        <p:nvSpPr>
          <p:cNvPr id="41" name="Text 39"/>
          <p:cNvSpPr/>
          <p:nvPr/>
        </p:nvSpPr>
        <p:spPr>
          <a:xfrm>
            <a:off x="609600" y="6192639"/>
            <a:ext cx="9792764" cy="42148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Coca-Cola FA. Horquillas: WACC ±0,5 pp × múltiplo ±1x o g ±0,25 pp; comparables, percentiles 25–75 de PER (14,3x–20,8x) y rentabilidad por dividendo (2,7–3,7 %).</a:t>
            </a:r>
            <a:endParaRPr lang="en-US" sz="1200" dirty="0"/>
          </a:p>
        </p:txBody>
      </p:sp>
      <p:sp>
        <p:nvSpPr>
          <p:cNvPr id="43" name="Text 41"/>
          <p:cNvSpPr/>
          <p:nvPr/>
        </p:nvSpPr>
        <p:spPr>
          <a:xfrm>
            <a:off x="11399838" y="6177359"/>
            <a:ext cx="233362" cy="452041"/>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19</a:t>
            </a:r>
            <a:endParaRPr lang="en-US" sz="1200" dirty="0"/>
          </a:p>
        </p:txBody>
      </p:sp>
    </p:spTree>
    <p:extLst>
      <p:ext uri="{BB962C8B-B14F-4D97-AF65-F5344CB8AC3E}">
        <p14:creationId xmlns:p14="http://schemas.microsoft.com/office/powerpoint/2010/main" val="1412990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2139791"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03 · SENSIBILIDAD</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Medio punto de WACC mueve el valor unos 4 $ con múltiplo de salida y hasta 15 $ con crecimiento perpetuo</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541553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DCF · WACC frente a múltiplo EV/EBITDA de salida </a:t>
            </a:r>
            <a:r>
              <a:rPr lang="en-US" sz="1300" dirty="0">
                <a:solidFill>
                  <a:srgbClr val="5A5C77"/>
                </a:solidFill>
                <a:latin typeface="Jost" pitchFamily="34" charset="0"/>
                <a:ea typeface="Jost" pitchFamily="34" charset="-122"/>
                <a:cs typeface="Jost" pitchFamily="34" charset="-120"/>
              </a:rPr>
              <a:t>· $</a:t>
            </a:r>
            <a:endParaRPr lang="en-US" sz="1300" dirty="0"/>
          </a:p>
        </p:txBody>
      </p:sp>
      <p:graphicFrame>
        <p:nvGraphicFramePr>
          <p:cNvPr id="9" name="Table 0"/>
          <p:cNvGraphicFramePr>
            <a:graphicFrameLocks noGrp="1"/>
          </p:cNvGraphicFramePr>
          <p:nvPr/>
        </p:nvGraphicFramePr>
        <p:xfrm>
          <a:off x="622300" y="2224980"/>
          <a:ext cx="5245100" cy="2155626"/>
        </p:xfrm>
        <a:graphic>
          <a:graphicData uri="http://schemas.openxmlformats.org/drawingml/2006/table">
            <a:tbl>
              <a:tblPr/>
              <a:tblGrid>
                <a:gridCol w="1049020">
                  <a:extLst>
                    <a:ext uri="{9D8B030D-6E8A-4147-A177-3AD203B41FA5}">
                      <a16:colId xmlns:a16="http://schemas.microsoft.com/office/drawing/2014/main" val="20000"/>
                    </a:ext>
                  </a:extLst>
                </a:gridCol>
                <a:gridCol w="839216">
                  <a:extLst>
                    <a:ext uri="{9D8B030D-6E8A-4147-A177-3AD203B41FA5}">
                      <a16:colId xmlns:a16="http://schemas.microsoft.com/office/drawing/2014/main" val="20001"/>
                    </a:ext>
                  </a:extLst>
                </a:gridCol>
                <a:gridCol w="839216">
                  <a:extLst>
                    <a:ext uri="{9D8B030D-6E8A-4147-A177-3AD203B41FA5}">
                      <a16:colId xmlns:a16="http://schemas.microsoft.com/office/drawing/2014/main" val="20002"/>
                    </a:ext>
                  </a:extLst>
                </a:gridCol>
                <a:gridCol w="839216">
                  <a:extLst>
                    <a:ext uri="{9D8B030D-6E8A-4147-A177-3AD203B41FA5}">
                      <a16:colId xmlns:a16="http://schemas.microsoft.com/office/drawing/2014/main" val="20003"/>
                    </a:ext>
                  </a:extLst>
                </a:gridCol>
                <a:gridCol w="839216">
                  <a:extLst>
                    <a:ext uri="{9D8B030D-6E8A-4147-A177-3AD203B41FA5}">
                      <a16:colId xmlns:a16="http://schemas.microsoft.com/office/drawing/2014/main" val="20004"/>
                    </a:ext>
                  </a:extLst>
                </a:gridCol>
                <a:gridCol w="839216">
                  <a:extLst>
                    <a:ext uri="{9D8B030D-6E8A-4147-A177-3AD203B41FA5}">
                      <a16:colId xmlns:a16="http://schemas.microsoft.com/office/drawing/2014/main" val="20005"/>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WACC</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18x</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19x</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20x</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21x</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23x</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6,98 %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79,1</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82,1</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85,1</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88,1</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94,1</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6,48 %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82,2</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85,4</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88,5</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91,7</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98,0</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5,98 %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85,5</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88,8</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92,1</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95,4</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102,1</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5,48 %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89,0</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92,5</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95,9</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99,4</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106,3</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4,98 %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92,7</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96,3</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99,9</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103,6</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110,8</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 7"/>
          <p:cNvSpPr/>
          <p:nvPr/>
        </p:nvSpPr>
        <p:spPr>
          <a:xfrm>
            <a:off x="609600" y="4533007"/>
            <a:ext cx="541553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EB Garamond" pitchFamily="18" charset="0"/>
                <a:ea typeface="EB Garamond" pitchFamily="18" charset="-122"/>
                <a:cs typeface="EB Garamond" pitchFamily="18" charset="-120"/>
              </a:rPr>
              <a:t>Para justificar la cotización con el WACC base hace falta un múltiplo de salida de unos 20x.</a:t>
            </a:r>
            <a:endParaRPr lang="en-US" sz="1300" dirty="0"/>
          </a:p>
        </p:txBody>
      </p:sp>
      <p:sp>
        <p:nvSpPr>
          <p:cNvPr id="11" name="Text 8"/>
          <p:cNvSpPr/>
          <p:nvPr/>
        </p:nvSpPr>
        <p:spPr>
          <a:xfrm>
            <a:off x="6324600" y="1905000"/>
            <a:ext cx="541553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DCF · WACC frente a crecimiento perpetuo </a:t>
            </a:r>
            <a:r>
              <a:rPr lang="en-US" sz="1300" dirty="0">
                <a:solidFill>
                  <a:srgbClr val="5A5C77"/>
                </a:solidFill>
                <a:latin typeface="Jost" pitchFamily="34" charset="0"/>
                <a:ea typeface="Jost" pitchFamily="34" charset="-122"/>
                <a:cs typeface="Jost" pitchFamily="34" charset="-120"/>
              </a:rPr>
              <a:t>· $</a:t>
            </a:r>
            <a:endParaRPr lang="en-US" sz="1300" dirty="0"/>
          </a:p>
        </p:txBody>
      </p:sp>
      <p:graphicFrame>
        <p:nvGraphicFramePr>
          <p:cNvPr id="12" name="Table 1"/>
          <p:cNvGraphicFramePr>
            <a:graphicFrameLocks noGrp="1"/>
          </p:cNvGraphicFramePr>
          <p:nvPr/>
        </p:nvGraphicFramePr>
        <p:xfrm>
          <a:off x="6337300" y="2224980"/>
          <a:ext cx="5245100" cy="2155626"/>
        </p:xfrm>
        <a:graphic>
          <a:graphicData uri="http://schemas.openxmlformats.org/drawingml/2006/table">
            <a:tbl>
              <a:tblPr/>
              <a:tblGrid>
                <a:gridCol w="1049020">
                  <a:extLst>
                    <a:ext uri="{9D8B030D-6E8A-4147-A177-3AD203B41FA5}">
                      <a16:colId xmlns:a16="http://schemas.microsoft.com/office/drawing/2014/main" val="20000"/>
                    </a:ext>
                  </a:extLst>
                </a:gridCol>
                <a:gridCol w="839216">
                  <a:extLst>
                    <a:ext uri="{9D8B030D-6E8A-4147-A177-3AD203B41FA5}">
                      <a16:colId xmlns:a16="http://schemas.microsoft.com/office/drawing/2014/main" val="20001"/>
                    </a:ext>
                  </a:extLst>
                </a:gridCol>
                <a:gridCol w="839216">
                  <a:extLst>
                    <a:ext uri="{9D8B030D-6E8A-4147-A177-3AD203B41FA5}">
                      <a16:colId xmlns:a16="http://schemas.microsoft.com/office/drawing/2014/main" val="20002"/>
                    </a:ext>
                  </a:extLst>
                </a:gridCol>
                <a:gridCol w="839216">
                  <a:extLst>
                    <a:ext uri="{9D8B030D-6E8A-4147-A177-3AD203B41FA5}">
                      <a16:colId xmlns:a16="http://schemas.microsoft.com/office/drawing/2014/main" val="20003"/>
                    </a:ext>
                  </a:extLst>
                </a:gridCol>
                <a:gridCol w="839216">
                  <a:extLst>
                    <a:ext uri="{9D8B030D-6E8A-4147-A177-3AD203B41FA5}">
                      <a16:colId xmlns:a16="http://schemas.microsoft.com/office/drawing/2014/main" val="20004"/>
                    </a:ext>
                  </a:extLst>
                </a:gridCol>
                <a:gridCol w="839216">
                  <a:extLst>
                    <a:ext uri="{9D8B030D-6E8A-4147-A177-3AD203B41FA5}">
                      <a16:colId xmlns:a16="http://schemas.microsoft.com/office/drawing/2014/main" val="20005"/>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WACC</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2,00 %</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2,25 %</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2,50 %</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2,75 %</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3,00 %</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6,98 %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65,1</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66,9</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68,8</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70,9</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73,3</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6,48 %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72,3</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74,6</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77,2</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80,1</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83,4</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5,98 %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81,3</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84,5</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88,0</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92,2</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97,0</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5,48 %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92,9</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97,4</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102,6</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108,7</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116,0</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4,98 %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108,5</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115,0</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122,9</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132,6</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144,7</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 name="Text 9"/>
          <p:cNvSpPr/>
          <p:nvPr/>
        </p:nvSpPr>
        <p:spPr>
          <a:xfrm>
            <a:off x="6324600" y="4533007"/>
            <a:ext cx="541553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EB Garamond" pitchFamily="18" charset="0"/>
                <a:ea typeface="EB Garamond" pitchFamily="18" charset="-122"/>
                <a:cs typeface="EB Garamond" pitchFamily="18" charset="-120"/>
              </a:rPr>
              <a:t>Con el WACC base, la cotización implica un crecimiento perpetuo algo superior al 2,75 %.</a:t>
            </a:r>
            <a:endParaRPr lang="en-US" sz="1300" dirty="0"/>
          </a:p>
        </p:txBody>
      </p:sp>
      <p:sp>
        <p:nvSpPr>
          <p:cNvPr id="14" name="Shape 10"/>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15" name="Text 11"/>
          <p:cNvSpPr/>
          <p:nvPr/>
        </p:nvSpPr>
        <p:spPr>
          <a:xfrm>
            <a:off x="609600" y="6398320"/>
            <a:ext cx="4473535"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Coca-Cola FA, hoja «Sensitivity»; análisis propio.</a:t>
            </a:r>
            <a:endParaRPr lang="en-US" sz="1200" dirty="0"/>
          </a:p>
        </p:txBody>
      </p:sp>
      <p:sp>
        <p:nvSpPr>
          <p:cNvPr id="17" name="Text 13"/>
          <p:cNvSpPr/>
          <p:nvPr/>
        </p:nvSpPr>
        <p:spPr>
          <a:xfrm>
            <a:off x="11356975" y="6390680"/>
            <a:ext cx="276225"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20</a:t>
            </a:r>
            <a:endParaRPr lang="en-US" sz="1200" dirty="0"/>
          </a:p>
        </p:txBody>
      </p:sp>
    </p:spTree>
    <p:extLst>
      <p:ext uri="{BB962C8B-B14F-4D97-AF65-F5344CB8AC3E}">
        <p14:creationId xmlns:p14="http://schemas.microsoft.com/office/powerpoint/2010/main" val="2314416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566636"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03 · RENTABILIDAD Y BALANCE</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La deuda neta/EBITDA baja de 2,1x a 1,3x en 2035 mientras el ROIC sube hasta el 22,6 %</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693293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Ratios principales </a:t>
            </a:r>
            <a:r>
              <a:rPr lang="en-US" sz="1300" dirty="0">
                <a:solidFill>
                  <a:srgbClr val="5A5C77"/>
                </a:solidFill>
                <a:latin typeface="Jost" pitchFamily="34" charset="0"/>
                <a:ea typeface="Jost" pitchFamily="34" charset="-122"/>
                <a:cs typeface="Jost" pitchFamily="34" charset="-120"/>
              </a:rPr>
              <a:t>· caso base</a:t>
            </a:r>
            <a:endParaRPr lang="en-US" sz="1300" dirty="0"/>
          </a:p>
        </p:txBody>
      </p:sp>
      <p:graphicFrame>
        <p:nvGraphicFramePr>
          <p:cNvPr id="9" name="Table 0"/>
          <p:cNvGraphicFramePr>
            <a:graphicFrameLocks noGrp="1"/>
          </p:cNvGraphicFramePr>
          <p:nvPr/>
        </p:nvGraphicFramePr>
        <p:xfrm>
          <a:off x="622300" y="2224980"/>
          <a:ext cx="6718300" cy="3233439"/>
        </p:xfrm>
        <a:graphic>
          <a:graphicData uri="http://schemas.openxmlformats.org/drawingml/2006/table">
            <a:tbl>
              <a:tblPr/>
              <a:tblGrid>
                <a:gridCol w="2015490">
                  <a:extLst>
                    <a:ext uri="{9D8B030D-6E8A-4147-A177-3AD203B41FA5}">
                      <a16:colId xmlns:a16="http://schemas.microsoft.com/office/drawing/2014/main" val="20000"/>
                    </a:ext>
                  </a:extLst>
                </a:gridCol>
                <a:gridCol w="940562">
                  <a:extLst>
                    <a:ext uri="{9D8B030D-6E8A-4147-A177-3AD203B41FA5}">
                      <a16:colId xmlns:a16="http://schemas.microsoft.com/office/drawing/2014/main" val="20001"/>
                    </a:ext>
                  </a:extLst>
                </a:gridCol>
                <a:gridCol w="940562">
                  <a:extLst>
                    <a:ext uri="{9D8B030D-6E8A-4147-A177-3AD203B41FA5}">
                      <a16:colId xmlns:a16="http://schemas.microsoft.com/office/drawing/2014/main" val="20002"/>
                    </a:ext>
                  </a:extLst>
                </a:gridCol>
                <a:gridCol w="940562">
                  <a:extLst>
                    <a:ext uri="{9D8B030D-6E8A-4147-A177-3AD203B41FA5}">
                      <a16:colId xmlns:a16="http://schemas.microsoft.com/office/drawing/2014/main" val="20003"/>
                    </a:ext>
                  </a:extLst>
                </a:gridCol>
                <a:gridCol w="940562">
                  <a:extLst>
                    <a:ext uri="{9D8B030D-6E8A-4147-A177-3AD203B41FA5}">
                      <a16:colId xmlns:a16="http://schemas.microsoft.com/office/drawing/2014/main" val="20004"/>
                    </a:ext>
                  </a:extLst>
                </a:gridCol>
                <a:gridCol w="940562">
                  <a:extLst>
                    <a:ext uri="{9D8B030D-6E8A-4147-A177-3AD203B41FA5}">
                      <a16:colId xmlns:a16="http://schemas.microsoft.com/office/drawing/2014/main" val="20005"/>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Ratio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FY 2025A</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FY 2026E</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FY 2028E</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FY 2030E</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FY 2035E</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ROIC</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15,8 %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14,2 %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15,4 %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17,0 %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22,6 %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ROE</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40,7 %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29,8 %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31,9 %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35,5 %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48,1 %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Margen neto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27,3 %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21,4 %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22,2 %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22,7 %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25,0 %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Deuda neta (M$)</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33.551</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31.944</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31.833</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32.018</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32.558</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Deuda neta / EBITDA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2,1x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2,1x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1,9x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1,7x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1,3x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EBIT / intereses netos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5,9x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19,2x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20,7x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22,8x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30,4x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Payout</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67,0 %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73,3 %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73,3 %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73,3 %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73,3 %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Ciclo de caja (días)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−1,4</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5,8</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5,8</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5,8</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5,8</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0" name="Shape 7"/>
          <p:cNvSpPr/>
          <p:nvPr/>
        </p:nvSpPr>
        <p:spPr>
          <a:xfrm>
            <a:off x="7797800" y="1909762"/>
            <a:ext cx="3784600" cy="0"/>
          </a:xfrm>
          <a:prstGeom prst="line">
            <a:avLst/>
          </a:prstGeom>
          <a:noFill/>
          <a:ln w="9525">
            <a:solidFill>
              <a:srgbClr val="010736"/>
            </a:solidFill>
            <a:prstDash val="solid"/>
          </a:ln>
        </p:spPr>
        <p:txBody>
          <a:bodyPr/>
          <a:lstStyle/>
          <a:p>
            <a:endParaRPr lang="en-US"/>
          </a:p>
        </p:txBody>
      </p:sp>
      <p:sp>
        <p:nvSpPr>
          <p:cNvPr id="11" name="Shape 8"/>
          <p:cNvSpPr/>
          <p:nvPr/>
        </p:nvSpPr>
        <p:spPr>
          <a:xfrm>
            <a:off x="7797800" y="3199606"/>
            <a:ext cx="3784600" cy="0"/>
          </a:xfrm>
          <a:prstGeom prst="line">
            <a:avLst/>
          </a:prstGeom>
          <a:noFill/>
          <a:ln w="6350">
            <a:solidFill>
              <a:srgbClr val="D0CECE"/>
            </a:solidFill>
            <a:prstDash val="solid"/>
          </a:ln>
        </p:spPr>
        <p:txBody>
          <a:bodyPr/>
          <a:lstStyle/>
          <a:p>
            <a:endParaRPr lang="en-US"/>
          </a:p>
        </p:txBody>
      </p:sp>
      <p:sp>
        <p:nvSpPr>
          <p:cNvPr id="12" name="Text 9"/>
          <p:cNvSpPr/>
          <p:nvPr/>
        </p:nvSpPr>
        <p:spPr>
          <a:xfrm>
            <a:off x="7797800" y="2051050"/>
            <a:ext cx="389813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ROIC 2035E</a:t>
            </a:r>
            <a:endParaRPr lang="en-US" sz="1200" dirty="0"/>
          </a:p>
        </p:txBody>
      </p:sp>
      <p:sp>
        <p:nvSpPr>
          <p:cNvPr id="13" name="Text 10"/>
          <p:cNvSpPr/>
          <p:nvPr/>
        </p:nvSpPr>
        <p:spPr>
          <a:xfrm>
            <a:off x="7797800" y="2302470"/>
            <a:ext cx="3898138"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010736"/>
                </a:solidFill>
                <a:latin typeface="Jost" pitchFamily="34" charset="0"/>
                <a:ea typeface="Jost" pitchFamily="34" charset="-122"/>
                <a:cs typeface="Jost" pitchFamily="34" charset="-120"/>
              </a:rPr>
              <a:t>22,6 </a:t>
            </a:r>
            <a:r>
              <a:rPr lang="en-US" sz="3600" dirty="0">
                <a:solidFill>
                  <a:srgbClr val="5A5C77"/>
                </a:solidFill>
                <a:latin typeface="Jost" pitchFamily="34" charset="0"/>
                <a:ea typeface="Jost" pitchFamily="34" charset="-122"/>
                <a:cs typeface="Jost" pitchFamily="34" charset="-120"/>
              </a:rPr>
              <a:t>%</a:t>
            </a:r>
            <a:endParaRPr lang="en-US" sz="3600" dirty="0"/>
          </a:p>
        </p:txBody>
      </p:sp>
      <p:sp>
        <p:nvSpPr>
          <p:cNvPr id="14" name="Text 11"/>
          <p:cNvSpPr/>
          <p:nvPr/>
        </p:nvSpPr>
        <p:spPr>
          <a:xfrm>
            <a:off x="7797800" y="2843411"/>
            <a:ext cx="38981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396F"/>
                </a:solidFill>
                <a:latin typeface="Jost" pitchFamily="34" charset="0"/>
                <a:ea typeface="Jost" pitchFamily="34" charset="-122"/>
                <a:cs typeface="Jost" pitchFamily="34" charset="-120"/>
              </a:rPr>
              <a:t>+6,8 pp frente a 2025</a:t>
            </a:r>
            <a:endParaRPr lang="en-US" sz="1200" dirty="0"/>
          </a:p>
        </p:txBody>
      </p:sp>
      <p:sp>
        <p:nvSpPr>
          <p:cNvPr id="15" name="Shape 12"/>
          <p:cNvSpPr/>
          <p:nvPr/>
        </p:nvSpPr>
        <p:spPr>
          <a:xfrm>
            <a:off x="7797800" y="4491038"/>
            <a:ext cx="3784600" cy="0"/>
          </a:xfrm>
          <a:prstGeom prst="line">
            <a:avLst/>
          </a:prstGeom>
          <a:noFill/>
          <a:ln w="6350">
            <a:solidFill>
              <a:srgbClr val="D0CECE"/>
            </a:solidFill>
            <a:prstDash val="solid"/>
          </a:ln>
        </p:spPr>
        <p:txBody>
          <a:bodyPr/>
          <a:lstStyle/>
          <a:p>
            <a:endParaRPr lang="en-US"/>
          </a:p>
        </p:txBody>
      </p:sp>
      <p:sp>
        <p:nvSpPr>
          <p:cNvPr id="16" name="Text 13"/>
          <p:cNvSpPr/>
          <p:nvPr/>
        </p:nvSpPr>
        <p:spPr>
          <a:xfrm>
            <a:off x="7797800" y="3342481"/>
            <a:ext cx="389813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DEUDA NETA / EBITDA</a:t>
            </a:r>
            <a:endParaRPr lang="en-US" sz="1200" dirty="0"/>
          </a:p>
        </p:txBody>
      </p:sp>
      <p:sp>
        <p:nvSpPr>
          <p:cNvPr id="17" name="Text 14"/>
          <p:cNvSpPr/>
          <p:nvPr/>
        </p:nvSpPr>
        <p:spPr>
          <a:xfrm>
            <a:off x="7797800" y="3593902"/>
            <a:ext cx="3898138"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010736"/>
                </a:solidFill>
                <a:latin typeface="Jost" pitchFamily="34" charset="0"/>
                <a:ea typeface="Jost" pitchFamily="34" charset="-122"/>
                <a:cs typeface="Jost" pitchFamily="34" charset="-120"/>
              </a:rPr>
              <a:t>1,3 </a:t>
            </a:r>
            <a:r>
              <a:rPr lang="en-US" sz="3600" dirty="0">
                <a:solidFill>
                  <a:srgbClr val="5A5C77"/>
                </a:solidFill>
                <a:latin typeface="Jost" pitchFamily="34" charset="0"/>
                <a:ea typeface="Jost" pitchFamily="34" charset="-122"/>
                <a:cs typeface="Jost" pitchFamily="34" charset="-120"/>
              </a:rPr>
              <a:t>x</a:t>
            </a:r>
            <a:endParaRPr lang="en-US" sz="3600" dirty="0"/>
          </a:p>
        </p:txBody>
      </p:sp>
      <p:sp>
        <p:nvSpPr>
          <p:cNvPr id="18" name="Text 15"/>
          <p:cNvSpPr/>
          <p:nvPr/>
        </p:nvSpPr>
        <p:spPr>
          <a:xfrm>
            <a:off x="7797800" y="4134842"/>
            <a:ext cx="38981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396F"/>
                </a:solidFill>
                <a:latin typeface="Jost" pitchFamily="34" charset="0"/>
                <a:ea typeface="Jost" pitchFamily="34" charset="-122"/>
                <a:cs typeface="Jost" pitchFamily="34" charset="-120"/>
              </a:rPr>
              <a:t>Deuda constante, EBITDA al alza</a:t>
            </a:r>
            <a:endParaRPr lang="en-US" sz="1200" dirty="0"/>
          </a:p>
        </p:txBody>
      </p:sp>
      <p:sp>
        <p:nvSpPr>
          <p:cNvPr id="19" name="Shape 16"/>
          <p:cNvSpPr/>
          <p:nvPr/>
        </p:nvSpPr>
        <p:spPr>
          <a:xfrm>
            <a:off x="7797800" y="5782469"/>
            <a:ext cx="3784600" cy="0"/>
          </a:xfrm>
          <a:prstGeom prst="line">
            <a:avLst/>
          </a:prstGeom>
          <a:noFill/>
          <a:ln w="6350">
            <a:solidFill>
              <a:srgbClr val="D0CECE"/>
            </a:solidFill>
            <a:prstDash val="solid"/>
          </a:ln>
        </p:spPr>
        <p:txBody>
          <a:bodyPr/>
          <a:lstStyle/>
          <a:p>
            <a:endParaRPr lang="en-US"/>
          </a:p>
        </p:txBody>
      </p:sp>
      <p:sp>
        <p:nvSpPr>
          <p:cNvPr id="20" name="Text 17"/>
          <p:cNvSpPr/>
          <p:nvPr/>
        </p:nvSpPr>
        <p:spPr>
          <a:xfrm>
            <a:off x="7797800" y="4633913"/>
            <a:ext cx="389813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RECOMPRAS 2027–2035</a:t>
            </a:r>
            <a:endParaRPr lang="en-US" sz="1200" dirty="0"/>
          </a:p>
        </p:txBody>
      </p:sp>
      <p:sp>
        <p:nvSpPr>
          <p:cNvPr id="21" name="Text 18"/>
          <p:cNvSpPr/>
          <p:nvPr/>
        </p:nvSpPr>
        <p:spPr>
          <a:xfrm>
            <a:off x="7797800" y="4885333"/>
            <a:ext cx="3898138"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010736"/>
                </a:solidFill>
                <a:latin typeface="Jost" pitchFamily="34" charset="0"/>
                <a:ea typeface="Jost" pitchFamily="34" charset="-122"/>
                <a:cs typeface="Jost" pitchFamily="34" charset="-120"/>
              </a:rPr>
              <a:t>34,9 </a:t>
            </a:r>
            <a:r>
              <a:rPr lang="en-US" sz="3600" dirty="0">
                <a:solidFill>
                  <a:srgbClr val="5A5C77"/>
                </a:solidFill>
                <a:latin typeface="Jost" pitchFamily="34" charset="0"/>
                <a:ea typeface="Jost" pitchFamily="34" charset="-122"/>
                <a:cs typeface="Jost" pitchFamily="34" charset="-120"/>
              </a:rPr>
              <a:t>mil M$</a:t>
            </a:r>
            <a:endParaRPr lang="en-US" sz="3600" dirty="0"/>
          </a:p>
        </p:txBody>
      </p:sp>
      <p:sp>
        <p:nvSpPr>
          <p:cNvPr id="22" name="Text 19"/>
          <p:cNvSpPr/>
          <p:nvPr/>
        </p:nvSpPr>
        <p:spPr>
          <a:xfrm>
            <a:off x="7797800" y="5426273"/>
            <a:ext cx="38981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2396F"/>
                </a:solidFill>
                <a:latin typeface="Jost" pitchFamily="34" charset="0"/>
                <a:ea typeface="Jost" pitchFamily="34" charset="-122"/>
                <a:cs typeface="Jost" pitchFamily="34" charset="-120"/>
              </a:rPr>
              <a:t>Acciones: 4.303 M a 4.061 M</a:t>
            </a:r>
            <a:endParaRPr lang="en-US" sz="1200" dirty="0"/>
          </a:p>
        </p:txBody>
      </p:sp>
      <p:sp>
        <p:nvSpPr>
          <p:cNvPr id="23" name="Shape 20"/>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4" name="Text 21"/>
          <p:cNvSpPr/>
          <p:nvPr/>
        </p:nvSpPr>
        <p:spPr>
          <a:xfrm>
            <a:off x="609600" y="6398320"/>
            <a:ext cx="9699327"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Coca-Cola FA, hoja «Ratios». La cobertura de intereses salta en 2026E porque el modelo imputa un rendimiento del 5,4 % a la caja.</a:t>
            </a:r>
            <a:endParaRPr lang="en-US" sz="1200" dirty="0"/>
          </a:p>
        </p:txBody>
      </p:sp>
      <p:sp>
        <p:nvSpPr>
          <p:cNvPr id="26" name="Text 23"/>
          <p:cNvSpPr/>
          <p:nvPr/>
        </p:nvSpPr>
        <p:spPr>
          <a:xfrm>
            <a:off x="11379994" y="6390680"/>
            <a:ext cx="253206"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21</a:t>
            </a:r>
            <a:endParaRPr lang="en-US" sz="1200" dirty="0"/>
          </a:p>
        </p:txBody>
      </p:sp>
    </p:spTree>
    <p:extLst>
      <p:ext uri="{BB962C8B-B14F-4D97-AF65-F5344CB8AC3E}">
        <p14:creationId xmlns:p14="http://schemas.microsoft.com/office/powerpoint/2010/main" val="157219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C42"/>
        </a:solidFill>
        <a:effectLst/>
      </p:bgPr>
    </p:bg>
    <p:spTree>
      <p:nvGrpSpPr>
        <p:cNvPr id="1" name=""/>
        <p:cNvGrpSpPr/>
        <p:nvPr/>
      </p:nvGrpSpPr>
      <p:grpSpPr>
        <a:xfrm>
          <a:off x="0" y="0"/>
          <a:ext cx="0" cy="0"/>
          <a:chOff x="0" y="0"/>
          <a:chExt cx="0" cy="0"/>
        </a:xfrm>
      </p:grpSpPr>
      <p:sp>
        <p:nvSpPr>
          <p:cNvPr id="2" name="Shape 0"/>
          <p:cNvSpPr/>
          <p:nvPr/>
        </p:nvSpPr>
        <p:spPr>
          <a:xfrm>
            <a:off x="387350" y="387350"/>
            <a:ext cx="11417300" cy="6083300"/>
          </a:xfrm>
          <a:prstGeom prst="rect">
            <a:avLst/>
          </a:prstGeom>
          <a:noFill/>
          <a:ln w="12700">
            <a:solidFill>
              <a:srgbClr val="FCF1D0"/>
            </a:solidFill>
            <a:prstDash val="solid"/>
          </a:ln>
        </p:spPr>
        <p:txBody>
          <a:bodyPr/>
          <a:lstStyle/>
          <a:p>
            <a:endParaRPr lang="en-US"/>
          </a:p>
        </p:txBody>
      </p:sp>
      <p:sp>
        <p:nvSpPr>
          <p:cNvPr id="3" name="Text 1"/>
          <p:cNvSpPr/>
          <p:nvPr/>
        </p:nvSpPr>
        <p:spPr>
          <a:xfrm>
            <a:off x="952500" y="1016000"/>
            <a:ext cx="3924300" cy="1739900"/>
          </a:xfrm>
          <a:prstGeom prst="rect">
            <a:avLst/>
          </a:prstGeom>
          <a:noFill/>
          <a:ln/>
        </p:spPr>
        <p:txBody>
          <a:bodyPr wrap="square" lIns="0" tIns="0" rIns="0" bIns="0" rtlCol="0" anchor="t">
            <a:normAutofit fontScale="85000" lnSpcReduction="10000"/>
          </a:bodyPr>
          <a:lstStyle/>
          <a:p>
            <a:pPr marL="0" indent="0" algn="l">
              <a:lnSpc>
                <a:spcPts val="13500"/>
              </a:lnSpc>
              <a:buNone/>
            </a:pPr>
            <a:r>
              <a:rPr lang="en-US" sz="13500" kern="0" spc="-200" dirty="0">
                <a:solidFill>
                  <a:srgbClr val="FCF1D0"/>
                </a:solidFill>
                <a:latin typeface="Jost" pitchFamily="34" charset="0"/>
                <a:ea typeface="Jost" pitchFamily="34" charset="-122"/>
                <a:cs typeface="Jost" pitchFamily="34" charset="-120"/>
              </a:rPr>
              <a:t>04</a:t>
            </a:r>
            <a:endParaRPr lang="en-US" sz="13500" dirty="0"/>
          </a:p>
        </p:txBody>
      </p:sp>
      <p:sp>
        <p:nvSpPr>
          <p:cNvPr id="4" name="Text 2"/>
          <p:cNvSpPr/>
          <p:nvPr/>
        </p:nvSpPr>
        <p:spPr>
          <a:xfrm>
            <a:off x="1066800" y="3556000"/>
            <a:ext cx="784860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CF1D0"/>
                </a:solidFill>
                <a:latin typeface="Jost" pitchFamily="34" charset="0"/>
                <a:ea typeface="Jost" pitchFamily="34" charset="-122"/>
                <a:cs typeface="Jost" pitchFamily="34" charset="-120"/>
              </a:rPr>
              <a:t>SECCIÓN</a:t>
            </a:r>
            <a:endParaRPr lang="en-US" sz="1200" dirty="0"/>
          </a:p>
        </p:txBody>
      </p:sp>
      <p:sp>
        <p:nvSpPr>
          <p:cNvPr id="5" name="Text 3"/>
          <p:cNvSpPr>
            <a:spLocks noGrp="1"/>
          </p:cNvSpPr>
          <p:nvPr>
            <p:ph type="title"/>
          </p:nvPr>
        </p:nvSpPr>
        <p:spPr>
          <a:xfrm>
            <a:off x="1066800" y="3870920"/>
            <a:ext cx="7848600" cy="551160"/>
          </a:xfrm>
          <a:prstGeom prst="rect">
            <a:avLst/>
          </a:prstGeom>
          <a:noFill/>
          <a:ln/>
        </p:spPr>
        <p:txBody>
          <a:bodyPr wrap="square" lIns="0" tIns="0" rIns="0" bIns="0" rtlCol="0" anchor="t">
            <a:normAutofit/>
          </a:bodyPr>
          <a:lstStyle/>
          <a:p>
            <a:pPr marL="0" indent="0" algn="l">
              <a:lnSpc>
                <a:spcPts val="4140"/>
              </a:lnSpc>
              <a:buNone/>
            </a:pPr>
            <a:r>
              <a:rPr lang="en-US" sz="3600" b="0" i="0" kern="0" spc="-50" dirty="0">
                <a:solidFill>
                  <a:srgbClr val="FCF1D0"/>
                </a:solidFill>
                <a:latin typeface="Jost" pitchFamily="34" charset="0"/>
                <a:ea typeface="Jost" pitchFamily="34" charset="-122"/>
                <a:cs typeface="Jost" pitchFamily="34" charset="-120"/>
              </a:rPr>
              <a:t>Conclusiones</a:t>
            </a:r>
            <a:endParaRPr lang="en-US" sz="3600" dirty="0"/>
          </a:p>
        </p:txBody>
      </p:sp>
      <p:sp>
        <p:nvSpPr>
          <p:cNvPr id="6" name="Text 4"/>
          <p:cNvSpPr/>
          <p:nvPr/>
        </p:nvSpPr>
        <p:spPr>
          <a:xfrm>
            <a:off x="1066800" y="4498280"/>
            <a:ext cx="7848600" cy="405110"/>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FCF1D0"/>
                </a:solidFill>
                <a:latin typeface="Pinyon Script" pitchFamily="18" charset="0"/>
                <a:ea typeface="Pinyon Script" pitchFamily="18" charset="-122"/>
                <a:cs typeface="Pinyon Script" pitchFamily="18" charset="-120"/>
              </a:rPr>
              <a:t>Calidad, pero a buen precio</a:t>
            </a:r>
            <a:endParaRPr lang="en-US" sz="2300" dirty="0"/>
          </a:p>
        </p:txBody>
      </p:sp>
      <p:sp>
        <p:nvSpPr>
          <p:cNvPr id="7" name="Shape 5"/>
          <p:cNvSpPr/>
          <p:nvPr/>
        </p:nvSpPr>
        <p:spPr>
          <a:xfrm>
            <a:off x="1066800" y="5816005"/>
            <a:ext cx="10058400" cy="0"/>
          </a:xfrm>
          <a:prstGeom prst="line">
            <a:avLst/>
          </a:prstGeom>
          <a:noFill/>
          <a:ln w="6350">
            <a:solidFill>
              <a:srgbClr val="FCF1D0"/>
            </a:solidFill>
            <a:prstDash val="solid"/>
          </a:ln>
        </p:spPr>
        <p:txBody>
          <a:bodyPr/>
          <a:lstStyle/>
          <a:p>
            <a:endParaRPr lang="en-US"/>
          </a:p>
        </p:txBody>
      </p:sp>
      <p:sp>
        <p:nvSpPr>
          <p:cNvPr id="8" name="Text 6"/>
          <p:cNvSpPr/>
          <p:nvPr/>
        </p:nvSpPr>
        <p:spPr>
          <a:xfrm>
            <a:off x="1066800" y="5920780"/>
            <a:ext cx="4104799"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FCF1D0"/>
                </a:solidFill>
                <a:latin typeface="Jost" pitchFamily="34" charset="0"/>
                <a:ea typeface="Jost" pitchFamily="34" charset="-122"/>
                <a:cs typeface="Jost" pitchFamily="34" charset="-120"/>
              </a:rPr>
              <a:t>Negocio | Finanzas | Valoración | </a:t>
            </a:r>
            <a:r>
              <a:rPr lang="en-US" sz="1200" b="1" kern="0" spc="50" dirty="0">
                <a:solidFill>
                  <a:srgbClr val="FCF1D0"/>
                </a:solidFill>
                <a:latin typeface="Jost" pitchFamily="34" charset="0"/>
                <a:ea typeface="Jost" pitchFamily="34" charset="-122"/>
                <a:cs typeface="Jost" pitchFamily="34" charset="-120"/>
              </a:rPr>
              <a:t>Conclusiones</a:t>
            </a:r>
            <a:endParaRPr lang="en-US" sz="1200" dirty="0"/>
          </a:p>
        </p:txBody>
      </p:sp>
      <p:sp>
        <p:nvSpPr>
          <p:cNvPr id="9" name="Text 7"/>
          <p:cNvSpPr/>
          <p:nvPr/>
        </p:nvSpPr>
        <p:spPr>
          <a:xfrm>
            <a:off x="10314027" y="5920780"/>
            <a:ext cx="811173" cy="238720"/>
          </a:xfrm>
          <a:prstGeom prst="rect">
            <a:avLst/>
          </a:prstGeom>
          <a:noFill/>
          <a:ln/>
        </p:spPr>
        <p:txBody>
          <a:bodyPr wrap="square" lIns="0" tIns="0" rIns="0" bIns="0" rtlCol="0" anchor="t">
            <a:normAutofit/>
          </a:bodyPr>
          <a:lstStyle/>
          <a:p>
            <a:pPr marL="0" indent="0" algn="r">
              <a:lnSpc>
                <a:spcPts val="1680"/>
              </a:lnSpc>
              <a:buNone/>
            </a:pPr>
            <a:r>
              <a:rPr lang="en-US" sz="1200" kern="0" spc="150" dirty="0">
                <a:solidFill>
                  <a:srgbClr val="FCF1D0"/>
                </a:solidFill>
                <a:latin typeface="Jost" pitchFamily="34" charset="0"/>
                <a:ea typeface="Jost" pitchFamily="34" charset="-122"/>
                <a:cs typeface="Jost" pitchFamily="34" charset="-120"/>
              </a:rPr>
              <a:t>22 / 25</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719393"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04 · CATALIZADORES Y RIESGOS</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Los catalizadores a corto plazo ya están en el precio; el riesgo está en volúmenes, divisa y fiscalidad</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5415534"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CATALIZADORES</a:t>
            </a:r>
            <a:endParaRPr lang="en-US" sz="1200" dirty="0"/>
          </a:p>
        </p:txBody>
      </p:sp>
      <p:sp>
        <p:nvSpPr>
          <p:cNvPr id="9" name="Shape 7"/>
          <p:cNvSpPr/>
          <p:nvPr/>
        </p:nvSpPr>
        <p:spPr>
          <a:xfrm>
            <a:off x="609600" y="2211983"/>
            <a:ext cx="5257800" cy="0"/>
          </a:xfrm>
          <a:prstGeom prst="line">
            <a:avLst/>
          </a:prstGeom>
          <a:noFill/>
          <a:ln w="9525">
            <a:solidFill>
              <a:srgbClr val="010736"/>
            </a:solidFill>
            <a:prstDash val="solid"/>
          </a:ln>
        </p:spPr>
        <p:txBody>
          <a:bodyPr/>
          <a:lstStyle/>
          <a:p>
            <a:endParaRPr lang="en-US"/>
          </a:p>
        </p:txBody>
      </p:sp>
      <p:sp>
        <p:nvSpPr>
          <p:cNvPr id="10" name="Text 8"/>
          <p:cNvSpPr/>
          <p:nvPr/>
        </p:nvSpPr>
        <p:spPr>
          <a:xfrm>
            <a:off x="609600" y="2353270"/>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01</a:t>
            </a:r>
            <a:endParaRPr lang="en-US" sz="1200" dirty="0"/>
          </a:p>
        </p:txBody>
      </p:sp>
      <p:sp>
        <p:nvSpPr>
          <p:cNvPr id="11" name="Text 9"/>
          <p:cNvSpPr/>
          <p:nvPr/>
        </p:nvSpPr>
        <p:spPr>
          <a:xfrm>
            <a:off x="1066800" y="2353270"/>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Resultados del 3T 2026</a:t>
            </a:r>
            <a:r>
              <a:rPr lang="en-US" sz="1400" dirty="0">
                <a:solidFill>
                  <a:srgbClr val="010736"/>
                </a:solidFill>
                <a:latin typeface="EB Garamond" pitchFamily="18" charset="0"/>
                <a:ea typeface="EB Garamond" pitchFamily="18" charset="-122"/>
                <a:cs typeface="EB Garamond" pitchFamily="18" charset="-120"/>
              </a:rPr>
              <a:t> (27/10): el consenso espera un BPA de 0,88 $ y 12,9 mil M$ de ingresos.</a:t>
            </a:r>
            <a:endParaRPr lang="en-US" sz="1400" dirty="0"/>
          </a:p>
        </p:txBody>
      </p:sp>
      <p:sp>
        <p:nvSpPr>
          <p:cNvPr id="12" name="Shape 10"/>
          <p:cNvSpPr/>
          <p:nvPr/>
        </p:nvSpPr>
        <p:spPr>
          <a:xfrm>
            <a:off x="609600" y="2993827"/>
            <a:ext cx="5257800" cy="0"/>
          </a:xfrm>
          <a:prstGeom prst="line">
            <a:avLst/>
          </a:prstGeom>
          <a:noFill/>
          <a:ln w="6350">
            <a:solidFill>
              <a:srgbClr val="D0CECE"/>
            </a:solidFill>
            <a:prstDash val="solid"/>
          </a:ln>
        </p:spPr>
        <p:txBody>
          <a:bodyPr/>
          <a:lstStyle/>
          <a:p>
            <a:endParaRPr lang="en-US"/>
          </a:p>
        </p:txBody>
      </p:sp>
      <p:sp>
        <p:nvSpPr>
          <p:cNvPr id="13" name="Text 11"/>
          <p:cNvSpPr/>
          <p:nvPr/>
        </p:nvSpPr>
        <p:spPr>
          <a:xfrm>
            <a:off x="609600" y="3136702"/>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02</a:t>
            </a:r>
            <a:endParaRPr lang="en-US" sz="1200" dirty="0"/>
          </a:p>
        </p:txBody>
      </p:sp>
      <p:sp>
        <p:nvSpPr>
          <p:cNvPr id="14" name="Text 12"/>
          <p:cNvSpPr/>
          <p:nvPr/>
        </p:nvSpPr>
        <p:spPr>
          <a:xfrm>
            <a:off x="1066800" y="3136702"/>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Cierre de la venta de CCBA:</a:t>
            </a:r>
            <a:r>
              <a:rPr lang="en-US" sz="1400" dirty="0">
                <a:solidFill>
                  <a:srgbClr val="010736"/>
                </a:solidFill>
                <a:latin typeface="EB Garamond" pitchFamily="18" charset="0"/>
                <a:ea typeface="EB Garamond" pitchFamily="18" charset="-122"/>
                <a:cs typeface="EB Garamond" pitchFamily="18" charset="-120"/>
              </a:rPr>
              <a:t> más margen y menos capital, con el embotellado propio cerca del 5 % de los ingresos.</a:t>
            </a:r>
            <a:endParaRPr lang="en-US" sz="1400" dirty="0"/>
          </a:p>
        </p:txBody>
      </p:sp>
      <p:sp>
        <p:nvSpPr>
          <p:cNvPr id="15" name="Shape 13"/>
          <p:cNvSpPr/>
          <p:nvPr/>
        </p:nvSpPr>
        <p:spPr>
          <a:xfrm>
            <a:off x="609600" y="3777258"/>
            <a:ext cx="5257800" cy="0"/>
          </a:xfrm>
          <a:prstGeom prst="line">
            <a:avLst/>
          </a:prstGeom>
          <a:noFill/>
          <a:ln w="6350">
            <a:solidFill>
              <a:srgbClr val="D0CECE"/>
            </a:solidFill>
            <a:prstDash val="solid"/>
          </a:ln>
        </p:spPr>
        <p:txBody>
          <a:bodyPr/>
          <a:lstStyle/>
          <a:p>
            <a:endParaRPr lang="en-US"/>
          </a:p>
        </p:txBody>
      </p:sp>
      <p:sp>
        <p:nvSpPr>
          <p:cNvPr id="16" name="Text 14"/>
          <p:cNvSpPr/>
          <p:nvPr/>
        </p:nvSpPr>
        <p:spPr>
          <a:xfrm>
            <a:off x="609600" y="3920133"/>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03</a:t>
            </a:r>
            <a:endParaRPr lang="en-US" sz="1200" dirty="0"/>
          </a:p>
        </p:txBody>
      </p:sp>
      <p:sp>
        <p:nvSpPr>
          <p:cNvPr id="17" name="Text 15"/>
          <p:cNvSpPr/>
          <p:nvPr/>
        </p:nvSpPr>
        <p:spPr>
          <a:xfrm>
            <a:off x="1066800" y="3920133"/>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Retorno al accionista:</a:t>
            </a:r>
            <a:r>
              <a:rPr lang="en-US" sz="1400" dirty="0">
                <a:solidFill>
                  <a:srgbClr val="010736"/>
                </a:solidFill>
                <a:latin typeface="EB Garamond" pitchFamily="18" charset="0"/>
                <a:ea typeface="EB Garamond" pitchFamily="18" charset="-122"/>
                <a:cs typeface="EB Garamond" pitchFamily="18" charset="-120"/>
              </a:rPr>
              <a:t> el modelo prevé recompras desde 2027, de 2,4 a 5,1 mil M$ anuales.</a:t>
            </a:r>
            <a:endParaRPr lang="en-US" sz="1400" dirty="0"/>
          </a:p>
        </p:txBody>
      </p:sp>
      <p:sp>
        <p:nvSpPr>
          <p:cNvPr id="18" name="Text 16"/>
          <p:cNvSpPr/>
          <p:nvPr/>
        </p:nvSpPr>
        <p:spPr>
          <a:xfrm>
            <a:off x="6324600" y="1905000"/>
            <a:ext cx="5415534"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RIESGOS</a:t>
            </a:r>
            <a:endParaRPr lang="en-US" sz="1200" dirty="0"/>
          </a:p>
        </p:txBody>
      </p:sp>
      <p:sp>
        <p:nvSpPr>
          <p:cNvPr id="19" name="Shape 17"/>
          <p:cNvSpPr/>
          <p:nvPr/>
        </p:nvSpPr>
        <p:spPr>
          <a:xfrm>
            <a:off x="6324600" y="2211983"/>
            <a:ext cx="5257800" cy="0"/>
          </a:xfrm>
          <a:prstGeom prst="line">
            <a:avLst/>
          </a:prstGeom>
          <a:noFill/>
          <a:ln w="9525">
            <a:solidFill>
              <a:srgbClr val="010736"/>
            </a:solidFill>
            <a:prstDash val="solid"/>
          </a:ln>
        </p:spPr>
        <p:txBody>
          <a:bodyPr/>
          <a:lstStyle/>
          <a:p>
            <a:endParaRPr lang="en-US"/>
          </a:p>
        </p:txBody>
      </p:sp>
      <p:sp>
        <p:nvSpPr>
          <p:cNvPr id="20" name="Text 18"/>
          <p:cNvSpPr/>
          <p:nvPr/>
        </p:nvSpPr>
        <p:spPr>
          <a:xfrm>
            <a:off x="6324600" y="2353270"/>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01</a:t>
            </a:r>
            <a:endParaRPr lang="en-US" sz="1200" dirty="0"/>
          </a:p>
        </p:txBody>
      </p:sp>
      <p:sp>
        <p:nvSpPr>
          <p:cNvPr id="21" name="Text 19"/>
          <p:cNvSpPr/>
          <p:nvPr/>
        </p:nvSpPr>
        <p:spPr>
          <a:xfrm>
            <a:off x="6781800" y="2353270"/>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Salud y regulación:</a:t>
            </a:r>
            <a:r>
              <a:rPr lang="en-US" sz="1400" dirty="0">
                <a:solidFill>
                  <a:srgbClr val="010736"/>
                </a:solidFill>
                <a:latin typeface="EB Garamond" pitchFamily="18" charset="0"/>
                <a:ea typeface="EB Garamond" pitchFamily="18" charset="-122"/>
                <a:cs typeface="EB Garamond" pitchFamily="18" charset="-120"/>
              </a:rPr>
              <a:t> los fármacos GLP-1 y los impuestos al azúcar presionan el volumen de refrescos.</a:t>
            </a:r>
            <a:endParaRPr lang="en-US" sz="1400" dirty="0"/>
          </a:p>
        </p:txBody>
      </p:sp>
      <p:sp>
        <p:nvSpPr>
          <p:cNvPr id="22" name="Shape 20"/>
          <p:cNvSpPr/>
          <p:nvPr/>
        </p:nvSpPr>
        <p:spPr>
          <a:xfrm>
            <a:off x="6324600" y="2993827"/>
            <a:ext cx="5257800" cy="0"/>
          </a:xfrm>
          <a:prstGeom prst="line">
            <a:avLst/>
          </a:prstGeom>
          <a:noFill/>
          <a:ln w="6350">
            <a:solidFill>
              <a:srgbClr val="D0CECE"/>
            </a:solidFill>
            <a:prstDash val="solid"/>
          </a:ln>
        </p:spPr>
        <p:txBody>
          <a:bodyPr/>
          <a:lstStyle/>
          <a:p>
            <a:endParaRPr lang="en-US"/>
          </a:p>
        </p:txBody>
      </p:sp>
      <p:sp>
        <p:nvSpPr>
          <p:cNvPr id="23" name="Text 21"/>
          <p:cNvSpPr/>
          <p:nvPr/>
        </p:nvSpPr>
        <p:spPr>
          <a:xfrm>
            <a:off x="6324600" y="3136702"/>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02</a:t>
            </a:r>
            <a:endParaRPr lang="en-US" sz="1200" dirty="0"/>
          </a:p>
        </p:txBody>
      </p:sp>
      <p:sp>
        <p:nvSpPr>
          <p:cNvPr id="24" name="Text 22"/>
          <p:cNvSpPr/>
          <p:nvPr/>
        </p:nvSpPr>
        <p:spPr>
          <a:xfrm>
            <a:off x="6781800" y="3136702"/>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Divisa y emergentes:</a:t>
            </a:r>
            <a:r>
              <a:rPr lang="en-US" sz="1400" dirty="0">
                <a:solidFill>
                  <a:srgbClr val="010736"/>
                </a:solidFill>
                <a:latin typeface="EB Garamond" pitchFamily="18" charset="0"/>
                <a:ea typeface="EB Garamond" pitchFamily="18" charset="-122"/>
                <a:cs typeface="EB Garamond" pitchFamily="18" charset="-120"/>
              </a:rPr>
              <a:t> un dólar fuerte resta ingresos donde la compañía más crece.</a:t>
            </a:r>
            <a:endParaRPr lang="en-US" sz="1400" dirty="0"/>
          </a:p>
        </p:txBody>
      </p:sp>
      <p:sp>
        <p:nvSpPr>
          <p:cNvPr id="25" name="Shape 23"/>
          <p:cNvSpPr/>
          <p:nvPr/>
        </p:nvSpPr>
        <p:spPr>
          <a:xfrm>
            <a:off x="6324600" y="3777258"/>
            <a:ext cx="5257800" cy="0"/>
          </a:xfrm>
          <a:prstGeom prst="line">
            <a:avLst/>
          </a:prstGeom>
          <a:noFill/>
          <a:ln w="6350">
            <a:solidFill>
              <a:srgbClr val="D0CECE"/>
            </a:solidFill>
            <a:prstDash val="solid"/>
          </a:ln>
        </p:spPr>
        <p:txBody>
          <a:bodyPr/>
          <a:lstStyle/>
          <a:p>
            <a:endParaRPr lang="en-US"/>
          </a:p>
        </p:txBody>
      </p:sp>
      <p:sp>
        <p:nvSpPr>
          <p:cNvPr id="26" name="Text 24"/>
          <p:cNvSpPr/>
          <p:nvPr/>
        </p:nvSpPr>
        <p:spPr>
          <a:xfrm>
            <a:off x="6324600" y="3920133"/>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03</a:t>
            </a:r>
            <a:endParaRPr lang="en-US" sz="1200" dirty="0"/>
          </a:p>
        </p:txBody>
      </p:sp>
      <p:sp>
        <p:nvSpPr>
          <p:cNvPr id="27" name="Text 25"/>
          <p:cNvSpPr/>
          <p:nvPr/>
        </p:nvSpPr>
        <p:spPr>
          <a:xfrm>
            <a:off x="6781800" y="3920133"/>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Litigio fiscal con el IRS</a:t>
            </a:r>
            <a:r>
              <a:rPr lang="en-US" sz="1400" dirty="0">
                <a:solidFill>
                  <a:srgbClr val="010736"/>
                </a:solidFill>
                <a:latin typeface="EB Garamond" pitchFamily="18" charset="0"/>
                <a:ea typeface="EB Garamond" pitchFamily="18" charset="-122"/>
                <a:cs typeface="EB Garamond" pitchFamily="18" charset="-120"/>
              </a:rPr>
              <a:t> por precios de transferencia, aún recurrido: una exposición de varios miles de millones.</a:t>
            </a:r>
            <a:endParaRPr lang="en-US" sz="1400" dirty="0"/>
          </a:p>
        </p:txBody>
      </p:sp>
      <p:sp>
        <p:nvSpPr>
          <p:cNvPr id="28" name="Shape 26"/>
          <p:cNvSpPr/>
          <p:nvPr/>
        </p:nvSpPr>
        <p:spPr>
          <a:xfrm>
            <a:off x="6324600" y="4560689"/>
            <a:ext cx="5257800" cy="0"/>
          </a:xfrm>
          <a:prstGeom prst="line">
            <a:avLst/>
          </a:prstGeom>
          <a:noFill/>
          <a:ln w="6350">
            <a:solidFill>
              <a:srgbClr val="D0CECE"/>
            </a:solidFill>
            <a:prstDash val="solid"/>
          </a:ln>
        </p:spPr>
        <p:txBody>
          <a:bodyPr/>
          <a:lstStyle/>
          <a:p>
            <a:endParaRPr lang="en-US"/>
          </a:p>
        </p:txBody>
      </p:sp>
      <p:sp>
        <p:nvSpPr>
          <p:cNvPr id="29" name="Text 27"/>
          <p:cNvSpPr/>
          <p:nvPr/>
        </p:nvSpPr>
        <p:spPr>
          <a:xfrm>
            <a:off x="6324600" y="4703564"/>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04</a:t>
            </a:r>
            <a:endParaRPr lang="en-US" sz="1200" dirty="0"/>
          </a:p>
        </p:txBody>
      </p:sp>
      <p:sp>
        <p:nvSpPr>
          <p:cNvPr id="30" name="Text 28"/>
          <p:cNvSpPr/>
          <p:nvPr/>
        </p:nvSpPr>
        <p:spPr>
          <a:xfrm>
            <a:off x="6781800" y="4703564"/>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Valoración:</a:t>
            </a:r>
            <a:r>
              <a:rPr lang="en-US" sz="1400" dirty="0">
                <a:solidFill>
                  <a:srgbClr val="010736"/>
                </a:solidFill>
                <a:latin typeface="EB Garamond" pitchFamily="18" charset="0"/>
                <a:ea typeface="EB Garamond" pitchFamily="18" charset="-122"/>
                <a:cs typeface="EB Garamond" pitchFamily="18" charset="-120"/>
              </a:rPr>
              <a:t> un PER de 29x frente a 14–21x de los comparables deja poco margen de error.</a:t>
            </a:r>
            <a:endParaRPr lang="en-US" sz="1400" dirty="0"/>
          </a:p>
        </p:txBody>
      </p:sp>
      <p:sp>
        <p:nvSpPr>
          <p:cNvPr id="31" name="Shape 29"/>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32" name="Text 30"/>
          <p:cNvSpPr/>
          <p:nvPr/>
        </p:nvSpPr>
        <p:spPr>
          <a:xfrm>
            <a:off x="609600" y="6398320"/>
            <a:ext cx="6960632"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Coca-Cola; MarketBeat (consenso y PER a 20/10/2026); modelo Coca-Cola FA; análisis propio.</a:t>
            </a:r>
            <a:endParaRPr lang="en-US" sz="1200" dirty="0"/>
          </a:p>
        </p:txBody>
      </p:sp>
      <p:sp>
        <p:nvSpPr>
          <p:cNvPr id="34" name="Text 32"/>
          <p:cNvSpPr/>
          <p:nvPr/>
        </p:nvSpPr>
        <p:spPr>
          <a:xfrm>
            <a:off x="11364416" y="6390680"/>
            <a:ext cx="268784"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23</a:t>
            </a:r>
            <a:endParaRPr lang="en-US" sz="1200" dirty="0"/>
          </a:p>
        </p:txBody>
      </p:sp>
    </p:spTree>
    <p:extLst>
      <p:ext uri="{BB962C8B-B14F-4D97-AF65-F5344CB8AC3E}">
        <p14:creationId xmlns:p14="http://schemas.microsoft.com/office/powerpoint/2010/main" val="3889617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2584371"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04 · RECOMENDACIÓN</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Mantener con precio objetivo de 87,7 $: entraríamos por debajo de 80 $ o tras una revisión al alza del beneficio</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Shape 6"/>
          <p:cNvSpPr/>
          <p:nvPr/>
        </p:nvSpPr>
        <p:spPr>
          <a:xfrm>
            <a:off x="609600" y="1905000"/>
            <a:ext cx="6731000" cy="3937000"/>
          </a:xfrm>
          <a:prstGeom prst="rect">
            <a:avLst/>
          </a:prstGeom>
          <a:solidFill>
            <a:srgbClr val="FCF1D0"/>
          </a:solidFill>
          <a:ln/>
        </p:spPr>
        <p:txBody>
          <a:bodyPr/>
          <a:lstStyle/>
          <a:p>
            <a:endParaRPr lang="en-US"/>
          </a:p>
        </p:txBody>
      </p:sp>
      <p:sp>
        <p:nvSpPr>
          <p:cNvPr id="9" name="Shape 7"/>
          <p:cNvSpPr/>
          <p:nvPr/>
        </p:nvSpPr>
        <p:spPr>
          <a:xfrm>
            <a:off x="609600" y="1914525"/>
            <a:ext cx="6731000" cy="0"/>
          </a:xfrm>
          <a:prstGeom prst="line">
            <a:avLst/>
          </a:prstGeom>
          <a:noFill/>
          <a:ln w="19050">
            <a:solidFill>
              <a:srgbClr val="010736"/>
            </a:solidFill>
            <a:prstDash val="solid"/>
          </a:ln>
        </p:spPr>
        <p:txBody>
          <a:bodyPr/>
          <a:lstStyle/>
          <a:p>
            <a:endParaRPr lang="en-US"/>
          </a:p>
        </p:txBody>
      </p:sp>
      <p:sp>
        <p:nvSpPr>
          <p:cNvPr id="10" name="Text 8"/>
          <p:cNvSpPr/>
          <p:nvPr/>
        </p:nvSpPr>
        <p:spPr>
          <a:xfrm>
            <a:off x="863600" y="2114550"/>
            <a:ext cx="640969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QUÉ HACER, CON QUÉ CONDICIÓN Y CUÁNDO</a:t>
            </a:r>
            <a:endParaRPr lang="en-US" sz="1200" dirty="0"/>
          </a:p>
        </p:txBody>
      </p:sp>
      <p:sp>
        <p:nvSpPr>
          <p:cNvPr id="11" name="Text 9"/>
          <p:cNvSpPr/>
          <p:nvPr/>
        </p:nvSpPr>
        <p:spPr>
          <a:xfrm>
            <a:off x="863600" y="2505670"/>
            <a:ext cx="431800" cy="540941"/>
          </a:xfrm>
          <a:prstGeom prst="rect">
            <a:avLst/>
          </a:prstGeom>
          <a:noFill/>
          <a:ln/>
        </p:spPr>
        <p:txBody>
          <a:bodyPr wrap="square" lIns="0" tIns="0" rIns="0" bIns="0" rtlCol="0" anchor="t">
            <a:normAutofit/>
          </a:bodyPr>
          <a:lstStyle/>
          <a:p>
            <a:pPr marL="0" indent="0" algn="l">
              <a:lnSpc>
                <a:spcPts val="1980"/>
              </a:lnSpc>
              <a:buNone/>
            </a:pPr>
            <a:r>
              <a:rPr lang="en-US" sz="1800" dirty="0">
                <a:solidFill>
                  <a:srgbClr val="22396F"/>
                </a:solidFill>
                <a:latin typeface="Jost" pitchFamily="34" charset="0"/>
                <a:ea typeface="Jost" pitchFamily="34" charset="-122"/>
                <a:cs typeface="Jost" pitchFamily="34" charset="-120"/>
              </a:rPr>
              <a:t>01</a:t>
            </a:r>
            <a:endParaRPr lang="en-US" sz="1800" dirty="0"/>
          </a:p>
        </p:txBody>
      </p:sp>
      <p:sp>
        <p:nvSpPr>
          <p:cNvPr id="12" name="Text 10"/>
          <p:cNvSpPr/>
          <p:nvPr/>
        </p:nvSpPr>
        <p:spPr>
          <a:xfrm>
            <a:off x="1371600" y="2505670"/>
            <a:ext cx="5886450" cy="540941"/>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010736"/>
                </a:solidFill>
                <a:latin typeface="EB Garamond" pitchFamily="18" charset="0"/>
                <a:ea typeface="EB Garamond" pitchFamily="18" charset="-122"/>
                <a:cs typeface="EB Garamond" pitchFamily="18" charset="-120"/>
              </a:rPr>
              <a:t>Mantener</a:t>
            </a:r>
            <a:r>
              <a:rPr lang="en-US" sz="1450" dirty="0">
                <a:solidFill>
                  <a:srgbClr val="010736"/>
                </a:solidFill>
                <a:latin typeface="EB Garamond" pitchFamily="18" charset="0"/>
                <a:ea typeface="EB Garamond" pitchFamily="18" charset="-122"/>
                <a:cs typeface="EB Garamond" pitchFamily="18" charset="-120"/>
              </a:rPr>
              <a:t> las posiciones actuales: la calidad del negocio no compensa un potencial del −5,5 %.</a:t>
            </a:r>
            <a:endParaRPr lang="en-US" sz="1450" dirty="0"/>
          </a:p>
        </p:txBody>
      </p:sp>
      <p:sp>
        <p:nvSpPr>
          <p:cNvPr id="13" name="Shape 11"/>
          <p:cNvSpPr/>
          <p:nvPr/>
        </p:nvSpPr>
        <p:spPr>
          <a:xfrm>
            <a:off x="863600" y="3202186"/>
            <a:ext cx="6223000" cy="0"/>
          </a:xfrm>
          <a:prstGeom prst="line">
            <a:avLst/>
          </a:prstGeom>
          <a:noFill/>
          <a:ln w="6350">
            <a:solidFill>
              <a:srgbClr val="D0CECE"/>
            </a:solidFill>
            <a:prstDash val="solid"/>
          </a:ln>
        </p:spPr>
        <p:txBody>
          <a:bodyPr/>
          <a:lstStyle/>
          <a:p>
            <a:endParaRPr lang="en-US"/>
          </a:p>
        </p:txBody>
      </p:sp>
      <p:sp>
        <p:nvSpPr>
          <p:cNvPr id="14" name="Text 12"/>
          <p:cNvSpPr/>
          <p:nvPr/>
        </p:nvSpPr>
        <p:spPr>
          <a:xfrm>
            <a:off x="863600" y="3332361"/>
            <a:ext cx="431800" cy="540941"/>
          </a:xfrm>
          <a:prstGeom prst="rect">
            <a:avLst/>
          </a:prstGeom>
          <a:noFill/>
          <a:ln/>
        </p:spPr>
        <p:txBody>
          <a:bodyPr wrap="square" lIns="0" tIns="0" rIns="0" bIns="0" rtlCol="0" anchor="t">
            <a:normAutofit/>
          </a:bodyPr>
          <a:lstStyle/>
          <a:p>
            <a:pPr marL="0" indent="0" algn="l">
              <a:lnSpc>
                <a:spcPts val="1980"/>
              </a:lnSpc>
              <a:buNone/>
            </a:pPr>
            <a:r>
              <a:rPr lang="en-US" sz="1800" dirty="0">
                <a:solidFill>
                  <a:srgbClr val="22396F"/>
                </a:solidFill>
                <a:latin typeface="Jost" pitchFamily="34" charset="0"/>
                <a:ea typeface="Jost" pitchFamily="34" charset="-122"/>
                <a:cs typeface="Jost" pitchFamily="34" charset="-120"/>
              </a:rPr>
              <a:t>02</a:t>
            </a:r>
            <a:endParaRPr lang="en-US" sz="1800" dirty="0"/>
          </a:p>
        </p:txBody>
      </p:sp>
      <p:sp>
        <p:nvSpPr>
          <p:cNvPr id="15" name="Text 13"/>
          <p:cNvSpPr/>
          <p:nvPr/>
        </p:nvSpPr>
        <p:spPr>
          <a:xfrm>
            <a:off x="1371600" y="3332361"/>
            <a:ext cx="5886450" cy="540941"/>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010736"/>
                </a:solidFill>
                <a:latin typeface="EB Garamond" pitchFamily="18" charset="0"/>
                <a:ea typeface="EB Garamond" pitchFamily="18" charset="-122"/>
                <a:cs typeface="EB Garamond" pitchFamily="18" charset="-120"/>
              </a:rPr>
              <a:t>Comprar por debajo de 80 $,</a:t>
            </a:r>
            <a:r>
              <a:rPr lang="en-US" sz="1450" dirty="0">
                <a:solidFill>
                  <a:srgbClr val="010736"/>
                </a:solidFill>
                <a:latin typeface="EB Garamond" pitchFamily="18" charset="0"/>
                <a:ea typeface="EB Garamond" pitchFamily="18" charset="-122"/>
                <a:cs typeface="EB Garamond" pitchFamily="18" charset="-120"/>
              </a:rPr>
              <a:t> donde el DCF por crecimiento perpetuo y el DDM ofrecen un margen de seguridad cercano al 10 %.</a:t>
            </a:r>
            <a:endParaRPr lang="en-US" sz="1450" dirty="0"/>
          </a:p>
        </p:txBody>
      </p:sp>
      <p:sp>
        <p:nvSpPr>
          <p:cNvPr id="16" name="Shape 14"/>
          <p:cNvSpPr/>
          <p:nvPr/>
        </p:nvSpPr>
        <p:spPr>
          <a:xfrm>
            <a:off x="863600" y="4028877"/>
            <a:ext cx="6223000" cy="0"/>
          </a:xfrm>
          <a:prstGeom prst="line">
            <a:avLst/>
          </a:prstGeom>
          <a:noFill/>
          <a:ln w="6350">
            <a:solidFill>
              <a:srgbClr val="D0CECE"/>
            </a:solidFill>
            <a:prstDash val="solid"/>
          </a:ln>
        </p:spPr>
        <p:txBody>
          <a:bodyPr/>
          <a:lstStyle/>
          <a:p>
            <a:endParaRPr lang="en-US"/>
          </a:p>
        </p:txBody>
      </p:sp>
      <p:sp>
        <p:nvSpPr>
          <p:cNvPr id="17" name="Text 15"/>
          <p:cNvSpPr/>
          <p:nvPr/>
        </p:nvSpPr>
        <p:spPr>
          <a:xfrm>
            <a:off x="863600" y="4159052"/>
            <a:ext cx="431800" cy="540941"/>
          </a:xfrm>
          <a:prstGeom prst="rect">
            <a:avLst/>
          </a:prstGeom>
          <a:noFill/>
          <a:ln/>
        </p:spPr>
        <p:txBody>
          <a:bodyPr wrap="square" lIns="0" tIns="0" rIns="0" bIns="0" rtlCol="0" anchor="t">
            <a:normAutofit/>
          </a:bodyPr>
          <a:lstStyle/>
          <a:p>
            <a:pPr marL="0" indent="0" algn="l">
              <a:lnSpc>
                <a:spcPts val="1980"/>
              </a:lnSpc>
              <a:buNone/>
            </a:pPr>
            <a:r>
              <a:rPr lang="en-US" sz="1800" dirty="0">
                <a:solidFill>
                  <a:srgbClr val="22396F"/>
                </a:solidFill>
                <a:latin typeface="Jost" pitchFamily="34" charset="0"/>
                <a:ea typeface="Jost" pitchFamily="34" charset="-122"/>
                <a:cs typeface="Jost" pitchFamily="34" charset="-120"/>
              </a:rPr>
              <a:t>03</a:t>
            </a:r>
            <a:endParaRPr lang="en-US" sz="1800" dirty="0"/>
          </a:p>
        </p:txBody>
      </p:sp>
      <p:sp>
        <p:nvSpPr>
          <p:cNvPr id="18" name="Text 16"/>
          <p:cNvSpPr/>
          <p:nvPr/>
        </p:nvSpPr>
        <p:spPr>
          <a:xfrm>
            <a:off x="1371600" y="4159052"/>
            <a:ext cx="5886450" cy="540941"/>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010736"/>
                </a:solidFill>
                <a:latin typeface="EB Garamond" pitchFamily="18" charset="0"/>
                <a:ea typeface="EB Garamond" pitchFamily="18" charset="-122"/>
                <a:cs typeface="EB Garamond" pitchFamily="18" charset="-120"/>
              </a:rPr>
              <a:t>Revisar tras el 3T 2026</a:t>
            </a:r>
            <a:r>
              <a:rPr lang="en-US" sz="1450" dirty="0">
                <a:solidFill>
                  <a:srgbClr val="010736"/>
                </a:solidFill>
                <a:latin typeface="EB Garamond" pitchFamily="18" charset="0"/>
                <a:ea typeface="EB Garamond" pitchFamily="18" charset="-122"/>
                <a:cs typeface="EB Garamond" pitchFamily="18" charset="-120"/>
              </a:rPr>
              <a:t> (27/10) e incorporar al modelo el resultado de participadas, hoy omitido.</a:t>
            </a:r>
            <a:endParaRPr lang="en-US" sz="1450" dirty="0"/>
          </a:p>
        </p:txBody>
      </p:sp>
      <p:sp>
        <p:nvSpPr>
          <p:cNvPr id="25" name="Shape 23"/>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6" name="Text 24"/>
          <p:cNvSpPr/>
          <p:nvPr/>
        </p:nvSpPr>
        <p:spPr>
          <a:xfrm>
            <a:off x="609600" y="6398320"/>
            <a:ext cx="8430220"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Coca-Cola FA; análisis propio. Documento para uso interno del club; no constituye asesoramiento de inversión.</a:t>
            </a:r>
            <a:endParaRPr lang="en-US" sz="1200" dirty="0"/>
          </a:p>
        </p:txBody>
      </p:sp>
      <p:sp>
        <p:nvSpPr>
          <p:cNvPr id="28" name="Text 26"/>
          <p:cNvSpPr/>
          <p:nvPr/>
        </p:nvSpPr>
        <p:spPr>
          <a:xfrm>
            <a:off x="11356380" y="6390680"/>
            <a:ext cx="276820"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24</a:t>
            </a:r>
            <a:endParaRPr lang="en-US" sz="1200" dirty="0"/>
          </a:p>
        </p:txBody>
      </p:sp>
    </p:spTree>
    <p:extLst>
      <p:ext uri="{BB962C8B-B14F-4D97-AF65-F5344CB8AC3E}">
        <p14:creationId xmlns:p14="http://schemas.microsoft.com/office/powerpoint/2010/main" val="2059032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414778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04 · ONE PAGER DE CONCLUSIONES</a:t>
            </a:r>
            <a:endParaRPr lang="en-US" sz="1200" dirty="0"/>
          </a:p>
        </p:txBody>
      </p:sp>
      <p:sp>
        <p:nvSpPr>
          <p:cNvPr id="3" name="Text 1"/>
          <p:cNvSpPr/>
          <p:nvPr/>
        </p:nvSpPr>
        <p:spPr>
          <a:xfrm>
            <a:off x="8229600" y="355600"/>
            <a:ext cx="50800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8824615" y="379710"/>
            <a:ext cx="6350" cy="165100"/>
          </a:xfrm>
          <a:prstGeom prst="rect">
            <a:avLst/>
          </a:prstGeom>
          <a:solidFill>
            <a:srgbClr val="010736"/>
          </a:solidFill>
          <a:ln/>
        </p:spPr>
        <p:txBody>
          <a:bodyPr/>
          <a:lstStyle/>
          <a:p>
            <a:endParaRPr lang="en-US"/>
          </a:p>
        </p:txBody>
      </p:sp>
      <p:sp>
        <p:nvSpPr>
          <p:cNvPr id="5" name="Text 3"/>
          <p:cNvSpPr/>
          <p:nvPr/>
        </p:nvSpPr>
        <p:spPr>
          <a:xfrm>
            <a:off x="8907165" y="355600"/>
            <a:ext cx="3210282" cy="23872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Coca-Cola es un negocio de primera a un precio que ya lo descuenta: mantener, con precio objetivo de 87,7 $</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Shape 6"/>
          <p:cNvSpPr/>
          <p:nvPr/>
        </p:nvSpPr>
        <p:spPr>
          <a:xfrm>
            <a:off x="609600" y="1803400"/>
            <a:ext cx="3403600" cy="1672431"/>
          </a:xfrm>
          <a:prstGeom prst="rect">
            <a:avLst/>
          </a:prstGeom>
          <a:solidFill>
            <a:srgbClr val="FCF1D0"/>
          </a:solidFill>
          <a:ln/>
        </p:spPr>
        <p:txBody>
          <a:bodyPr/>
          <a:lstStyle/>
          <a:p>
            <a:endParaRPr lang="en-US"/>
          </a:p>
        </p:txBody>
      </p:sp>
      <p:sp>
        <p:nvSpPr>
          <p:cNvPr id="9" name="Shape 7"/>
          <p:cNvSpPr/>
          <p:nvPr/>
        </p:nvSpPr>
        <p:spPr>
          <a:xfrm>
            <a:off x="609600" y="1812925"/>
            <a:ext cx="3403600" cy="0"/>
          </a:xfrm>
          <a:prstGeom prst="line">
            <a:avLst/>
          </a:prstGeom>
          <a:noFill/>
          <a:ln w="19050">
            <a:solidFill>
              <a:srgbClr val="010736"/>
            </a:solidFill>
            <a:prstDash val="solid"/>
          </a:ln>
        </p:spPr>
        <p:txBody>
          <a:bodyPr/>
          <a:lstStyle/>
          <a:p>
            <a:endParaRPr lang="en-US"/>
          </a:p>
        </p:txBody>
      </p:sp>
      <p:sp>
        <p:nvSpPr>
          <p:cNvPr id="10" name="Text 8"/>
          <p:cNvSpPr/>
          <p:nvPr/>
        </p:nvSpPr>
        <p:spPr>
          <a:xfrm>
            <a:off x="774700" y="1949450"/>
            <a:ext cx="316560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RECOMENDACIÓN</a:t>
            </a:r>
            <a:endParaRPr lang="en-US" sz="1200" dirty="0"/>
          </a:p>
        </p:txBody>
      </p:sp>
      <p:sp>
        <p:nvSpPr>
          <p:cNvPr id="11" name="Text 9"/>
          <p:cNvSpPr/>
          <p:nvPr/>
        </p:nvSpPr>
        <p:spPr>
          <a:xfrm>
            <a:off x="774700" y="2200870"/>
            <a:ext cx="3165602" cy="444500"/>
          </a:xfrm>
          <a:prstGeom prst="rect">
            <a:avLst/>
          </a:prstGeom>
          <a:noFill/>
          <a:ln/>
        </p:spPr>
        <p:txBody>
          <a:bodyPr wrap="square" lIns="0" tIns="0" rIns="0" bIns="0" rtlCol="0" anchor="t">
            <a:normAutofit/>
          </a:bodyPr>
          <a:lstStyle/>
          <a:p>
            <a:pPr marL="0" indent="0" algn="l">
              <a:lnSpc>
                <a:spcPts val="3300"/>
              </a:lnSpc>
              <a:buNone/>
            </a:pPr>
            <a:r>
              <a:rPr lang="en-US" sz="3000" dirty="0">
                <a:solidFill>
                  <a:srgbClr val="010736"/>
                </a:solidFill>
                <a:latin typeface="Jost" pitchFamily="34" charset="0"/>
                <a:ea typeface="Jost" pitchFamily="34" charset="-122"/>
                <a:cs typeface="Jost" pitchFamily="34" charset="-120"/>
              </a:rPr>
              <a:t>Mantener</a:t>
            </a:r>
            <a:endParaRPr lang="en-US" sz="3000" dirty="0"/>
          </a:p>
        </p:txBody>
      </p:sp>
      <p:sp>
        <p:nvSpPr>
          <p:cNvPr id="12" name="Text 10"/>
          <p:cNvSpPr/>
          <p:nvPr/>
        </p:nvSpPr>
        <p:spPr>
          <a:xfrm>
            <a:off x="774700" y="2658070"/>
            <a:ext cx="31656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Precio objetivo </a:t>
            </a:r>
            <a:r>
              <a:rPr lang="en-US" sz="1200" b="1" dirty="0">
                <a:solidFill>
                  <a:srgbClr val="010736"/>
                </a:solidFill>
                <a:latin typeface="Jost" pitchFamily="34" charset="0"/>
                <a:ea typeface="Jost" pitchFamily="34" charset="-122"/>
                <a:cs typeface="Jost" pitchFamily="34" charset="-120"/>
              </a:rPr>
              <a:t>87,7 $</a:t>
            </a:r>
            <a:r>
              <a:rPr lang="en-US" sz="1200" dirty="0">
                <a:solidFill>
                  <a:srgbClr val="010736"/>
                </a:solidFill>
                <a:latin typeface="Jost" pitchFamily="34" charset="0"/>
                <a:ea typeface="Jost" pitchFamily="34" charset="-122"/>
                <a:cs typeface="Jost" pitchFamily="34" charset="-120"/>
              </a:rPr>
              <a:t> · potencial </a:t>
            </a:r>
            <a:r>
              <a:rPr lang="en-US" sz="1200" b="1" dirty="0">
                <a:solidFill>
                  <a:srgbClr val="010736"/>
                </a:solidFill>
                <a:latin typeface="Jost" pitchFamily="34" charset="0"/>
                <a:ea typeface="Jost" pitchFamily="34" charset="-122"/>
                <a:cs typeface="Jost" pitchFamily="34" charset="-120"/>
              </a:rPr>
              <a:t>−5,5 %</a:t>
            </a:r>
            <a:endParaRPr lang="en-US" sz="1200" dirty="0"/>
          </a:p>
        </p:txBody>
      </p:sp>
      <p:sp>
        <p:nvSpPr>
          <p:cNvPr id="13" name="Text 11"/>
          <p:cNvSpPr/>
          <p:nvPr/>
        </p:nvSpPr>
        <p:spPr>
          <a:xfrm>
            <a:off x="774700" y="2909491"/>
            <a:ext cx="316560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C77"/>
                </a:solidFill>
                <a:latin typeface="Jost" pitchFamily="34" charset="0"/>
                <a:ea typeface="Jost" pitchFamily="34" charset="-122"/>
                <a:cs typeface="Jost" pitchFamily="34" charset="-120"/>
              </a:rPr>
              <a:t>Cotización 92,7 $ · capitalización 401,7 mil M$</a:t>
            </a:r>
            <a:endParaRPr lang="en-US" sz="1200" dirty="0"/>
          </a:p>
        </p:txBody>
      </p:sp>
      <p:sp>
        <p:nvSpPr>
          <p:cNvPr id="14" name="Text 12"/>
          <p:cNvSpPr/>
          <p:nvPr/>
        </p:nvSpPr>
        <p:spPr>
          <a:xfrm>
            <a:off x="609600" y="3590131"/>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TESIS</a:t>
            </a:r>
            <a:endParaRPr lang="en-US" sz="1200" dirty="0"/>
          </a:p>
        </p:txBody>
      </p:sp>
      <p:sp>
        <p:nvSpPr>
          <p:cNvPr id="15" name="Shape 13"/>
          <p:cNvSpPr/>
          <p:nvPr/>
        </p:nvSpPr>
        <p:spPr>
          <a:xfrm>
            <a:off x="609600" y="3922514"/>
            <a:ext cx="3403600" cy="0"/>
          </a:xfrm>
          <a:prstGeom prst="line">
            <a:avLst/>
          </a:prstGeom>
          <a:noFill/>
          <a:ln w="9525">
            <a:solidFill>
              <a:srgbClr val="010736"/>
            </a:solidFill>
            <a:prstDash val="solid"/>
          </a:ln>
        </p:spPr>
        <p:txBody>
          <a:bodyPr/>
          <a:lstStyle/>
          <a:p>
            <a:endParaRPr lang="en-US"/>
          </a:p>
        </p:txBody>
      </p:sp>
      <p:sp>
        <p:nvSpPr>
          <p:cNvPr id="16" name="Text 14"/>
          <p:cNvSpPr/>
          <p:nvPr/>
        </p:nvSpPr>
        <p:spPr>
          <a:xfrm>
            <a:off x="609600" y="4000302"/>
            <a:ext cx="330200" cy="66833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396F"/>
                </a:solidFill>
                <a:latin typeface="Jost" pitchFamily="34" charset="0"/>
                <a:ea typeface="Jost" pitchFamily="34" charset="-122"/>
                <a:cs typeface="Jost" pitchFamily="34" charset="-120"/>
              </a:rPr>
              <a:t>01</a:t>
            </a:r>
            <a:endParaRPr lang="en-US" sz="1200" dirty="0"/>
          </a:p>
        </p:txBody>
      </p:sp>
      <p:sp>
        <p:nvSpPr>
          <p:cNvPr id="17" name="Text 15"/>
          <p:cNvSpPr/>
          <p:nvPr/>
        </p:nvSpPr>
        <p:spPr>
          <a:xfrm>
            <a:off x="965200" y="4000302"/>
            <a:ext cx="3139440" cy="668338"/>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010736"/>
                </a:solidFill>
                <a:latin typeface="EB Garamond" pitchFamily="18" charset="0"/>
                <a:ea typeface="EB Garamond" pitchFamily="18" charset="-122"/>
                <a:cs typeface="EB Garamond" pitchFamily="18" charset="-120"/>
              </a:rPr>
              <a:t>Asset-light:</a:t>
            </a:r>
            <a:r>
              <a:rPr lang="en-US" sz="1250" dirty="0">
                <a:solidFill>
                  <a:srgbClr val="010736"/>
                </a:solidFill>
                <a:latin typeface="EB Garamond" pitchFamily="18" charset="0"/>
                <a:ea typeface="EB Garamond" pitchFamily="18" charset="-122"/>
                <a:cs typeface="EB Garamond" pitchFamily="18" charset="-120"/>
              </a:rPr>
              <a:t> margen bruto del 62,0 % y ROIC del 15,8 %; el embotellado bajará al 5 % de los ingresos.</a:t>
            </a:r>
            <a:endParaRPr lang="en-US" sz="1250" dirty="0"/>
          </a:p>
        </p:txBody>
      </p:sp>
      <p:sp>
        <p:nvSpPr>
          <p:cNvPr id="18" name="Shape 16"/>
          <p:cNvSpPr/>
          <p:nvPr/>
        </p:nvSpPr>
        <p:spPr>
          <a:xfrm>
            <a:off x="609600" y="4722614"/>
            <a:ext cx="3403600" cy="0"/>
          </a:xfrm>
          <a:prstGeom prst="line">
            <a:avLst/>
          </a:prstGeom>
          <a:noFill/>
          <a:ln w="6350">
            <a:solidFill>
              <a:srgbClr val="D0CECE"/>
            </a:solidFill>
            <a:prstDash val="solid"/>
          </a:ln>
        </p:spPr>
        <p:txBody>
          <a:bodyPr/>
          <a:lstStyle/>
          <a:p>
            <a:endParaRPr lang="en-US"/>
          </a:p>
        </p:txBody>
      </p:sp>
      <p:sp>
        <p:nvSpPr>
          <p:cNvPr id="19" name="Text 17"/>
          <p:cNvSpPr/>
          <p:nvPr/>
        </p:nvSpPr>
        <p:spPr>
          <a:xfrm>
            <a:off x="609600" y="4801989"/>
            <a:ext cx="330200" cy="45402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396F"/>
                </a:solidFill>
                <a:latin typeface="Jost" pitchFamily="34" charset="0"/>
                <a:ea typeface="Jost" pitchFamily="34" charset="-122"/>
                <a:cs typeface="Jost" pitchFamily="34" charset="-120"/>
              </a:rPr>
              <a:t>02</a:t>
            </a:r>
            <a:endParaRPr lang="en-US" sz="1200" dirty="0"/>
          </a:p>
        </p:txBody>
      </p:sp>
      <p:sp>
        <p:nvSpPr>
          <p:cNvPr id="20" name="Text 18"/>
          <p:cNvSpPr/>
          <p:nvPr/>
        </p:nvSpPr>
        <p:spPr>
          <a:xfrm>
            <a:off x="965200" y="4801989"/>
            <a:ext cx="3139440" cy="454025"/>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010736"/>
                </a:solidFill>
                <a:latin typeface="EB Garamond" pitchFamily="18" charset="0"/>
                <a:ea typeface="EB Garamond" pitchFamily="18" charset="-122"/>
                <a:cs typeface="EB Garamond" pitchFamily="18" charset="-120"/>
              </a:rPr>
              <a:t>Crecimiento maduro:</a:t>
            </a:r>
            <a:r>
              <a:rPr lang="en-US" sz="1250" dirty="0">
                <a:solidFill>
                  <a:srgbClr val="010736"/>
                </a:solidFill>
                <a:latin typeface="EB Garamond" pitchFamily="18" charset="0"/>
                <a:ea typeface="EB Garamond" pitchFamily="18" charset="-122"/>
                <a:cs typeface="EB Garamond" pitchFamily="18" charset="-120"/>
              </a:rPr>
              <a:t> ingresos al 4,2 % anual y margen EBITDA del 30,7 % al 35,1 %.</a:t>
            </a:r>
            <a:endParaRPr lang="en-US" sz="1250" dirty="0"/>
          </a:p>
        </p:txBody>
      </p:sp>
      <p:sp>
        <p:nvSpPr>
          <p:cNvPr id="21" name="Shape 19"/>
          <p:cNvSpPr/>
          <p:nvPr/>
        </p:nvSpPr>
        <p:spPr>
          <a:xfrm>
            <a:off x="609600" y="5309989"/>
            <a:ext cx="3403600" cy="0"/>
          </a:xfrm>
          <a:prstGeom prst="line">
            <a:avLst/>
          </a:prstGeom>
          <a:noFill/>
          <a:ln w="6350">
            <a:solidFill>
              <a:srgbClr val="D0CECE"/>
            </a:solidFill>
            <a:prstDash val="solid"/>
          </a:ln>
        </p:spPr>
        <p:txBody>
          <a:bodyPr/>
          <a:lstStyle/>
          <a:p>
            <a:endParaRPr lang="en-US"/>
          </a:p>
        </p:txBody>
      </p:sp>
      <p:sp>
        <p:nvSpPr>
          <p:cNvPr id="22" name="Text 20"/>
          <p:cNvSpPr/>
          <p:nvPr/>
        </p:nvSpPr>
        <p:spPr>
          <a:xfrm>
            <a:off x="609600" y="5389364"/>
            <a:ext cx="330200" cy="454025"/>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396F"/>
                </a:solidFill>
                <a:latin typeface="Jost" pitchFamily="34" charset="0"/>
                <a:ea typeface="Jost" pitchFamily="34" charset="-122"/>
                <a:cs typeface="Jost" pitchFamily="34" charset="-120"/>
              </a:rPr>
              <a:t>03</a:t>
            </a:r>
            <a:endParaRPr lang="en-US" sz="1200" dirty="0"/>
          </a:p>
        </p:txBody>
      </p:sp>
      <p:sp>
        <p:nvSpPr>
          <p:cNvPr id="23" name="Text 21"/>
          <p:cNvSpPr/>
          <p:nvPr/>
        </p:nvSpPr>
        <p:spPr>
          <a:xfrm>
            <a:off x="965200" y="5389364"/>
            <a:ext cx="3139440" cy="454025"/>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010736"/>
                </a:solidFill>
                <a:latin typeface="EB Garamond" pitchFamily="18" charset="0"/>
                <a:ea typeface="EB Garamond" pitchFamily="18" charset="-122"/>
                <a:cs typeface="EB Garamond" pitchFamily="18" charset="-120"/>
              </a:rPr>
              <a:t>Sin margen de seguridad:</a:t>
            </a:r>
            <a:r>
              <a:rPr lang="en-US" sz="1250" dirty="0">
                <a:solidFill>
                  <a:srgbClr val="010736"/>
                </a:solidFill>
                <a:latin typeface="EB Garamond" pitchFamily="18" charset="0"/>
                <a:ea typeface="EB Garamond" pitchFamily="18" charset="-122"/>
                <a:cs typeface="EB Garamond" pitchFamily="18" charset="-120"/>
              </a:rPr>
              <a:t> el precio solo cuadra con un múltiplo de salida de 20x.</a:t>
            </a:r>
            <a:endParaRPr lang="en-US" sz="1250" dirty="0"/>
          </a:p>
        </p:txBody>
      </p:sp>
      <p:sp>
        <p:nvSpPr>
          <p:cNvPr id="24" name="Text 22"/>
          <p:cNvSpPr/>
          <p:nvPr/>
        </p:nvSpPr>
        <p:spPr>
          <a:xfrm>
            <a:off x="4267200" y="1803400"/>
            <a:ext cx="363651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CIFRAS CLAVE · M$</a:t>
            </a:r>
            <a:endParaRPr lang="en-US" sz="1200" dirty="0"/>
          </a:p>
        </p:txBody>
      </p:sp>
      <p:graphicFrame>
        <p:nvGraphicFramePr>
          <p:cNvPr id="25" name="Table 0"/>
          <p:cNvGraphicFramePr>
            <a:graphicFrameLocks noGrp="1"/>
          </p:cNvGraphicFramePr>
          <p:nvPr/>
        </p:nvGraphicFramePr>
        <p:xfrm>
          <a:off x="4279900" y="2105620"/>
          <a:ext cx="3517900" cy="2214560"/>
        </p:xfrm>
        <a:graphic>
          <a:graphicData uri="http://schemas.openxmlformats.org/drawingml/2006/table">
            <a:tbl>
              <a:tblPr/>
              <a:tblGrid>
                <a:gridCol w="1196086">
                  <a:extLst>
                    <a:ext uri="{9D8B030D-6E8A-4147-A177-3AD203B41FA5}">
                      <a16:colId xmlns:a16="http://schemas.microsoft.com/office/drawing/2014/main" val="20000"/>
                    </a:ext>
                  </a:extLst>
                </a:gridCol>
                <a:gridCol w="773938">
                  <a:extLst>
                    <a:ext uri="{9D8B030D-6E8A-4147-A177-3AD203B41FA5}">
                      <a16:colId xmlns:a16="http://schemas.microsoft.com/office/drawing/2014/main" val="20001"/>
                    </a:ext>
                  </a:extLst>
                </a:gridCol>
                <a:gridCol w="773938">
                  <a:extLst>
                    <a:ext uri="{9D8B030D-6E8A-4147-A177-3AD203B41FA5}">
                      <a16:colId xmlns:a16="http://schemas.microsoft.com/office/drawing/2014/main" val="20002"/>
                    </a:ext>
                  </a:extLst>
                </a:gridCol>
                <a:gridCol w="773938">
                  <a:extLst>
                    <a:ext uri="{9D8B030D-6E8A-4147-A177-3AD203B41FA5}">
                      <a16:colId xmlns:a16="http://schemas.microsoft.com/office/drawing/2014/main" val="20003"/>
                    </a:ext>
                  </a:extLst>
                </a:gridCol>
              </a:tblGrid>
              <a:tr h="276820">
                <a:tc>
                  <a:txBody>
                    <a:bodyPr/>
                    <a:lstStyle/>
                    <a:p>
                      <a:pPr marL="0" indent="0">
                        <a:lnSpc>
                          <a:spcPts val="1680"/>
                        </a:lnSpc>
                        <a:buNone/>
                      </a:pP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FY25</a:t>
                      </a:r>
                      <a:endParaRPr lang="en-US" sz="1200" dirty="0">
                        <a:latin typeface="EB Garamond" charset="0"/>
                        <a:ea typeface="EB Garamond" charset="0"/>
                        <a:cs typeface="EB Garamond" charset="0"/>
                      </a:endParaRPr>
                    </a:p>
                  </a:txBody>
                  <a:tcPr marL="50800" marR="50800" marT="25400" marB="254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FY26E</a:t>
                      </a:r>
                      <a:endParaRPr lang="en-US" sz="1200" dirty="0">
                        <a:latin typeface="EB Garamond" charset="0"/>
                        <a:ea typeface="EB Garamond" charset="0"/>
                        <a:cs typeface="EB Garamond" charset="0"/>
                      </a:endParaRPr>
                    </a:p>
                  </a:txBody>
                  <a:tcPr marL="50800" marR="50800" marT="25400" marB="254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FY30E</a:t>
                      </a:r>
                      <a:endParaRPr lang="en-US" sz="1200" dirty="0">
                        <a:latin typeface="EB Garamond" charset="0"/>
                        <a:ea typeface="EB Garamond" charset="0"/>
                        <a:cs typeface="EB Garamond" charset="0"/>
                      </a:endParaRPr>
                    </a:p>
                  </a:txBody>
                  <a:tcPr marL="50800" marR="50800" marT="25400" marB="254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Ingresos</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48.062</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49.135</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57.564</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EBITDA</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15.770</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15.087</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18.763</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276820">
                <a:tc>
                  <a:txBody>
                    <a:bodyPr/>
                    <a:lstStyle/>
                    <a:p>
                      <a:pPr marL="0" indent="0">
                        <a:lnSpc>
                          <a:spcPts val="1680"/>
                        </a:lnSpc>
                        <a:buNone/>
                      </a:pPr>
                      <a:r>
                        <a:rPr lang="en-US" sz="1200" dirty="0">
                          <a:solidFill>
                            <a:srgbClr val="5A5C77"/>
                          </a:solidFill>
                          <a:latin typeface="EB Garamond" pitchFamily="18" charset="0"/>
                          <a:ea typeface="EB Garamond" pitchFamily="18" charset="-122"/>
                          <a:cs typeface="EB Garamond" pitchFamily="18" charset="-120"/>
                        </a:rPr>
                        <a:t>Margen</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32,8 %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30,7 %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32,6 %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BPA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3,04</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2,44</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3,09</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FCFF</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2.429</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9.154</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12.826</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DN/EBITDA</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2,1x</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2,1x</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1,7x</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6"/>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ROIC</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15,8 %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14,2 %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17,0 %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6" name="Text 23"/>
          <p:cNvSpPr/>
          <p:nvPr/>
        </p:nvSpPr>
        <p:spPr>
          <a:xfrm>
            <a:off x="4267200" y="4459883"/>
            <a:ext cx="363651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RIESGOS</a:t>
            </a:r>
            <a:endParaRPr lang="en-US" sz="1200" dirty="0"/>
          </a:p>
        </p:txBody>
      </p:sp>
      <p:sp>
        <p:nvSpPr>
          <p:cNvPr id="27" name="Shape 24"/>
          <p:cNvSpPr/>
          <p:nvPr/>
        </p:nvSpPr>
        <p:spPr>
          <a:xfrm>
            <a:off x="4267200" y="4754166"/>
            <a:ext cx="3530600" cy="0"/>
          </a:xfrm>
          <a:prstGeom prst="line">
            <a:avLst/>
          </a:prstGeom>
          <a:noFill/>
          <a:ln w="9525">
            <a:solidFill>
              <a:srgbClr val="010736"/>
            </a:solidFill>
            <a:prstDash val="solid"/>
          </a:ln>
        </p:spPr>
        <p:txBody>
          <a:bodyPr/>
          <a:lstStyle/>
          <a:p>
            <a:endParaRPr lang="en-US"/>
          </a:p>
        </p:txBody>
      </p:sp>
      <p:sp>
        <p:nvSpPr>
          <p:cNvPr id="28" name="Shape 25"/>
          <p:cNvSpPr/>
          <p:nvPr/>
        </p:nvSpPr>
        <p:spPr>
          <a:xfrm>
            <a:off x="4267200" y="5100241"/>
            <a:ext cx="3530600" cy="0"/>
          </a:xfrm>
          <a:prstGeom prst="line">
            <a:avLst/>
          </a:prstGeom>
          <a:noFill/>
          <a:ln w="6350">
            <a:solidFill>
              <a:srgbClr val="D0CECE"/>
            </a:solidFill>
            <a:prstDash val="solid"/>
          </a:ln>
        </p:spPr>
        <p:txBody>
          <a:bodyPr/>
          <a:lstStyle/>
          <a:p>
            <a:endParaRPr lang="en-US"/>
          </a:p>
        </p:txBody>
      </p:sp>
      <p:sp>
        <p:nvSpPr>
          <p:cNvPr id="29" name="Text 26"/>
          <p:cNvSpPr/>
          <p:nvPr/>
        </p:nvSpPr>
        <p:spPr>
          <a:xfrm>
            <a:off x="4267200" y="4819253"/>
            <a:ext cx="3636518" cy="239713"/>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010736"/>
                </a:solidFill>
                <a:latin typeface="EB Garamond" pitchFamily="18" charset="0"/>
                <a:ea typeface="EB Garamond" pitchFamily="18" charset="-122"/>
                <a:cs typeface="EB Garamond" pitchFamily="18" charset="-120"/>
              </a:rPr>
              <a:t>GLP-1 e impuestos</a:t>
            </a:r>
            <a:r>
              <a:rPr lang="en-US" sz="1250" dirty="0">
                <a:solidFill>
                  <a:srgbClr val="010736"/>
                </a:solidFill>
                <a:latin typeface="EB Garamond" pitchFamily="18" charset="0"/>
                <a:ea typeface="EB Garamond" pitchFamily="18" charset="-122"/>
                <a:cs typeface="EB Garamond" pitchFamily="18" charset="-120"/>
              </a:rPr>
              <a:t> al azúcar sobre el volumen.</a:t>
            </a:r>
            <a:endParaRPr lang="en-US" sz="1250" dirty="0"/>
          </a:p>
        </p:txBody>
      </p:sp>
      <p:sp>
        <p:nvSpPr>
          <p:cNvPr id="30" name="Shape 27"/>
          <p:cNvSpPr/>
          <p:nvPr/>
        </p:nvSpPr>
        <p:spPr>
          <a:xfrm>
            <a:off x="4267200" y="5447903"/>
            <a:ext cx="3530600" cy="0"/>
          </a:xfrm>
          <a:prstGeom prst="line">
            <a:avLst/>
          </a:prstGeom>
          <a:noFill/>
          <a:ln w="6350">
            <a:solidFill>
              <a:srgbClr val="D0CECE"/>
            </a:solidFill>
            <a:prstDash val="solid"/>
          </a:ln>
        </p:spPr>
        <p:txBody>
          <a:bodyPr/>
          <a:lstStyle/>
          <a:p>
            <a:endParaRPr lang="en-US"/>
          </a:p>
        </p:txBody>
      </p:sp>
      <p:sp>
        <p:nvSpPr>
          <p:cNvPr id="31" name="Text 28"/>
          <p:cNvSpPr/>
          <p:nvPr/>
        </p:nvSpPr>
        <p:spPr>
          <a:xfrm>
            <a:off x="4267200" y="5166916"/>
            <a:ext cx="3636518" cy="239713"/>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010736"/>
                </a:solidFill>
                <a:latin typeface="EB Garamond" pitchFamily="18" charset="0"/>
                <a:ea typeface="EB Garamond" pitchFamily="18" charset="-122"/>
                <a:cs typeface="EB Garamond" pitchFamily="18" charset="-120"/>
              </a:rPr>
              <a:t>Divisa:</a:t>
            </a:r>
            <a:r>
              <a:rPr lang="en-US" sz="1250" dirty="0">
                <a:solidFill>
                  <a:srgbClr val="010736"/>
                </a:solidFill>
                <a:latin typeface="EB Garamond" pitchFamily="18" charset="0"/>
                <a:ea typeface="EB Garamond" pitchFamily="18" charset="-122"/>
                <a:cs typeface="EB Garamond" pitchFamily="18" charset="-120"/>
              </a:rPr>
              <a:t> dólar fuerte en emergentes.</a:t>
            </a:r>
            <a:endParaRPr lang="en-US" sz="1250" dirty="0"/>
          </a:p>
        </p:txBody>
      </p:sp>
      <p:sp>
        <p:nvSpPr>
          <p:cNvPr id="32" name="Text 29"/>
          <p:cNvSpPr/>
          <p:nvPr/>
        </p:nvSpPr>
        <p:spPr>
          <a:xfrm>
            <a:off x="4267200" y="5514578"/>
            <a:ext cx="3636518" cy="239713"/>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010736"/>
                </a:solidFill>
                <a:latin typeface="EB Garamond" pitchFamily="18" charset="0"/>
                <a:ea typeface="EB Garamond" pitchFamily="18" charset="-122"/>
                <a:cs typeface="EB Garamond" pitchFamily="18" charset="-120"/>
              </a:rPr>
              <a:t>Litigio con el IRS</a:t>
            </a:r>
            <a:r>
              <a:rPr lang="en-US" sz="1250" dirty="0">
                <a:solidFill>
                  <a:srgbClr val="010736"/>
                </a:solidFill>
                <a:latin typeface="EB Garamond" pitchFamily="18" charset="0"/>
                <a:ea typeface="EB Garamond" pitchFamily="18" charset="-122"/>
                <a:cs typeface="EB Garamond" pitchFamily="18" charset="-120"/>
              </a:rPr>
              <a:t> por precios de transferencia.</a:t>
            </a:r>
            <a:endParaRPr lang="en-US" sz="1250" dirty="0"/>
          </a:p>
        </p:txBody>
      </p:sp>
      <p:sp>
        <p:nvSpPr>
          <p:cNvPr id="33" name="Text 30"/>
          <p:cNvSpPr/>
          <p:nvPr/>
        </p:nvSpPr>
        <p:spPr>
          <a:xfrm>
            <a:off x="8051800" y="1803400"/>
            <a:ext cx="363651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VALORACIÓN · $ POR ACCIÓN</a:t>
            </a:r>
            <a:endParaRPr lang="en-US" sz="1200" dirty="0"/>
          </a:p>
        </p:txBody>
      </p:sp>
      <p:graphicFrame>
        <p:nvGraphicFramePr>
          <p:cNvPr id="34" name="Table 1"/>
          <p:cNvGraphicFramePr>
            <a:graphicFrameLocks noGrp="1"/>
          </p:cNvGraphicFramePr>
          <p:nvPr/>
        </p:nvGraphicFramePr>
        <p:xfrm>
          <a:off x="8064500" y="2105620"/>
          <a:ext cx="3517900" cy="2214560"/>
        </p:xfrm>
        <a:graphic>
          <a:graphicData uri="http://schemas.openxmlformats.org/drawingml/2006/table">
            <a:tbl>
              <a:tblPr/>
              <a:tblGrid>
                <a:gridCol w="1829308">
                  <a:extLst>
                    <a:ext uri="{9D8B030D-6E8A-4147-A177-3AD203B41FA5}">
                      <a16:colId xmlns:a16="http://schemas.microsoft.com/office/drawing/2014/main" val="20000"/>
                    </a:ext>
                  </a:extLst>
                </a:gridCol>
                <a:gridCol w="773938">
                  <a:extLst>
                    <a:ext uri="{9D8B030D-6E8A-4147-A177-3AD203B41FA5}">
                      <a16:colId xmlns:a16="http://schemas.microsoft.com/office/drawing/2014/main" val="20001"/>
                    </a:ext>
                  </a:extLst>
                </a:gridCol>
                <a:gridCol w="914654">
                  <a:extLst>
                    <a:ext uri="{9D8B030D-6E8A-4147-A177-3AD203B41FA5}">
                      <a16:colId xmlns:a16="http://schemas.microsoft.com/office/drawing/2014/main" val="20002"/>
                    </a:ext>
                  </a:extLst>
                </a:gridCol>
              </a:tblGrid>
              <a:tr h="276820">
                <a:tc>
                  <a:txBody>
                    <a:bodyPr/>
                    <a:lstStyle/>
                    <a:p>
                      <a:pPr marL="0" indent="0">
                        <a:lnSpc>
                          <a:spcPts val="1680"/>
                        </a:lnSpc>
                        <a:buNone/>
                      </a:pPr>
                      <a:r>
                        <a:rPr lang="en-US" sz="1200" b="1" dirty="0">
                          <a:solidFill>
                            <a:srgbClr val="010736"/>
                          </a:solidFill>
                          <a:latin typeface="EB Garamond" pitchFamily="18" charset="0"/>
                          <a:ea typeface="EB Garamond" pitchFamily="18" charset="-122"/>
                          <a:cs typeface="EB Garamond" pitchFamily="18" charset="-120"/>
                        </a:rPr>
                        <a:t>Método</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Valor</a:t>
                      </a:r>
                      <a:endParaRPr lang="en-US" sz="1200" dirty="0">
                        <a:latin typeface="EB Garamond" charset="0"/>
                        <a:ea typeface="EB Garamond" charset="0"/>
                        <a:cs typeface="EB Garamond" charset="0"/>
                      </a:endParaRPr>
                    </a:p>
                  </a:txBody>
                  <a:tcPr marL="50800" marR="50800" marT="25400" marB="254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680"/>
                        </a:lnSpc>
                        <a:buNone/>
                      </a:pPr>
                      <a:r>
                        <a:rPr lang="en-US" sz="1200" b="1" dirty="0">
                          <a:solidFill>
                            <a:srgbClr val="010736"/>
                          </a:solidFill>
                          <a:latin typeface="EB Garamond" pitchFamily="18" charset="0"/>
                          <a:ea typeface="EB Garamond" pitchFamily="18" charset="-122"/>
                          <a:cs typeface="EB Garamond" pitchFamily="18" charset="-120"/>
                        </a:rPr>
                        <a:t>vs. precio</a:t>
                      </a:r>
                      <a:endParaRPr lang="en-US" sz="1200" dirty="0">
                        <a:latin typeface="EB Garamond" charset="0"/>
                        <a:ea typeface="EB Garamond" charset="0"/>
                        <a:cs typeface="EB Garamond" charset="0"/>
                      </a:endParaRPr>
                    </a:p>
                  </a:txBody>
                  <a:tcPr marL="50800" marR="50800" marT="25400" marB="254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DCF · múltiplo 20x</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92,1</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−0,6 %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DCF · g 2,5 %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88,0</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−5,0 %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DDM · pago total</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22396F"/>
                          </a:solidFill>
                          <a:latin typeface="EB Garamond" pitchFamily="18" charset="0"/>
                          <a:ea typeface="EB Garamond" pitchFamily="18" charset="-122"/>
                          <a:cs typeface="EB Garamond" pitchFamily="18" charset="-120"/>
                        </a:rPr>
                        <a:t>82,8</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−10,7 %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Comparables · PER</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50,4</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−45,6 %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Comparables · dividendo</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67,5</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−27,2 %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276820">
                <a:tc>
                  <a:txBody>
                    <a:bodyPr/>
                    <a:lstStyle/>
                    <a:p>
                      <a:pPr marL="0" indent="0">
                        <a:lnSpc>
                          <a:spcPts val="1680"/>
                        </a:lnSpc>
                        <a:buNone/>
                      </a:pPr>
                      <a:r>
                        <a:rPr lang="en-US" sz="1200" dirty="0">
                          <a:solidFill>
                            <a:srgbClr val="010736"/>
                          </a:solidFill>
                          <a:latin typeface="EB Garamond" pitchFamily="18" charset="0"/>
                          <a:ea typeface="EB Garamond" pitchFamily="18" charset="-122"/>
                          <a:cs typeface="EB Garamond" pitchFamily="18" charset="-120"/>
                        </a:rPr>
                        <a:t>Precio objetivo¹</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87,7</a:t>
                      </a:r>
                      <a:endParaRPr lang="en-US" sz="1200" dirty="0">
                        <a:latin typeface="EB Garamond" charset="0"/>
                        <a:ea typeface="EB Garamond" charset="0"/>
                        <a:cs typeface="EB Garamond" charset="0"/>
                      </a:endParaRPr>
                    </a:p>
                  </a:txBody>
                  <a:tcPr marL="50800" marR="50800" marT="25400" marB="25400">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680"/>
                        </a:lnSpc>
                        <a:buNone/>
                      </a:pPr>
                      <a:r>
                        <a:rPr lang="en-US" sz="1200" dirty="0">
                          <a:solidFill>
                            <a:srgbClr val="010736"/>
                          </a:solidFill>
                          <a:latin typeface="EB Garamond" pitchFamily="18" charset="0"/>
                          <a:ea typeface="EB Garamond" pitchFamily="18" charset="-122"/>
                          <a:cs typeface="EB Garamond" pitchFamily="18" charset="-120"/>
                        </a:rPr>
                        <a:t>−5,5 %</a:t>
                      </a:r>
                      <a:endParaRPr lang="en-US" sz="1200" dirty="0">
                        <a:latin typeface="EB Garamond" charset="0"/>
                        <a:ea typeface="EB Garamond" charset="0"/>
                        <a:cs typeface="EB Garamond" charset="0"/>
                      </a:endParaRPr>
                    </a:p>
                  </a:txBody>
                  <a:tcPr marL="50800" marR="50800" marT="25400" marB="25400">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6"/>
                  </a:ext>
                </a:extLst>
              </a:tr>
              <a:tr h="276820">
                <a:tc>
                  <a:txBody>
                    <a:bodyPr/>
                    <a:lstStyle/>
                    <a:p>
                      <a:pPr marL="0" indent="0">
                        <a:lnSpc>
                          <a:spcPts val="1680"/>
                        </a:lnSpc>
                        <a:buNone/>
                      </a:pPr>
                      <a:r>
                        <a:rPr lang="en-US" sz="1200" dirty="0">
                          <a:solidFill>
                            <a:srgbClr val="5A5C77"/>
                          </a:solidFill>
                          <a:latin typeface="EB Garamond" pitchFamily="18" charset="0"/>
                          <a:ea typeface="EB Garamond" pitchFamily="18" charset="-122"/>
                          <a:cs typeface="EB Garamond" pitchFamily="18" charset="-120"/>
                        </a:rPr>
                        <a:t>Media de métodos</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76,2</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680"/>
                        </a:lnSpc>
                        <a:buNone/>
                      </a:pPr>
                      <a:r>
                        <a:rPr lang="en-US" sz="1200" dirty="0">
                          <a:solidFill>
                            <a:srgbClr val="5A5C77"/>
                          </a:solidFill>
                          <a:latin typeface="EB Garamond" pitchFamily="18" charset="0"/>
                          <a:ea typeface="EB Garamond" pitchFamily="18" charset="-122"/>
                          <a:cs typeface="EB Garamond" pitchFamily="18" charset="-120"/>
                        </a:rPr>
                        <a:t>−17,8 %</a:t>
                      </a:r>
                      <a:endParaRPr lang="en-US" sz="1200" dirty="0">
                        <a:latin typeface="EB Garamond" charset="0"/>
                        <a:ea typeface="EB Garamond" charset="0"/>
                        <a:cs typeface="EB Garamond" charset="0"/>
                      </a:endParaRPr>
                    </a:p>
                  </a:txBody>
                  <a:tcPr marL="50800" marR="50800" marT="25400" marB="254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5" name="Text 31"/>
          <p:cNvSpPr/>
          <p:nvPr/>
        </p:nvSpPr>
        <p:spPr>
          <a:xfrm>
            <a:off x="8051800" y="4459883"/>
            <a:ext cx="363651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CATALIZADORES</a:t>
            </a:r>
            <a:endParaRPr lang="en-US" sz="1200" dirty="0"/>
          </a:p>
        </p:txBody>
      </p:sp>
      <p:sp>
        <p:nvSpPr>
          <p:cNvPr id="36" name="Shape 32"/>
          <p:cNvSpPr/>
          <p:nvPr/>
        </p:nvSpPr>
        <p:spPr>
          <a:xfrm>
            <a:off x="8051800" y="4754166"/>
            <a:ext cx="3530600" cy="0"/>
          </a:xfrm>
          <a:prstGeom prst="line">
            <a:avLst/>
          </a:prstGeom>
          <a:noFill/>
          <a:ln w="9525">
            <a:solidFill>
              <a:srgbClr val="010736"/>
            </a:solidFill>
            <a:prstDash val="solid"/>
          </a:ln>
        </p:spPr>
        <p:txBody>
          <a:bodyPr/>
          <a:lstStyle/>
          <a:p>
            <a:endParaRPr lang="en-US"/>
          </a:p>
        </p:txBody>
      </p:sp>
      <p:sp>
        <p:nvSpPr>
          <p:cNvPr id="37" name="Shape 33"/>
          <p:cNvSpPr/>
          <p:nvPr/>
        </p:nvSpPr>
        <p:spPr>
          <a:xfrm>
            <a:off x="8051800" y="5100241"/>
            <a:ext cx="3530600" cy="0"/>
          </a:xfrm>
          <a:prstGeom prst="line">
            <a:avLst/>
          </a:prstGeom>
          <a:noFill/>
          <a:ln w="6350">
            <a:solidFill>
              <a:srgbClr val="D0CECE"/>
            </a:solidFill>
            <a:prstDash val="solid"/>
          </a:ln>
        </p:spPr>
        <p:txBody>
          <a:bodyPr/>
          <a:lstStyle/>
          <a:p>
            <a:endParaRPr lang="en-US"/>
          </a:p>
        </p:txBody>
      </p:sp>
      <p:sp>
        <p:nvSpPr>
          <p:cNvPr id="38" name="Text 34"/>
          <p:cNvSpPr/>
          <p:nvPr/>
        </p:nvSpPr>
        <p:spPr>
          <a:xfrm>
            <a:off x="8051800" y="4819253"/>
            <a:ext cx="3636518" cy="239713"/>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010736"/>
                </a:solidFill>
                <a:latin typeface="EB Garamond" pitchFamily="18" charset="0"/>
                <a:ea typeface="EB Garamond" pitchFamily="18" charset="-122"/>
                <a:cs typeface="EB Garamond" pitchFamily="18" charset="-120"/>
              </a:rPr>
              <a:t>3T 2026</a:t>
            </a:r>
            <a:r>
              <a:rPr lang="en-US" sz="1250" dirty="0">
                <a:solidFill>
                  <a:srgbClr val="010736"/>
                </a:solidFill>
                <a:latin typeface="EB Garamond" pitchFamily="18" charset="0"/>
                <a:ea typeface="EB Garamond" pitchFamily="18" charset="-122"/>
                <a:cs typeface="EB Garamond" pitchFamily="18" charset="-120"/>
              </a:rPr>
              <a:t> (27/10): consenso BPA 0,88 $.</a:t>
            </a:r>
            <a:endParaRPr lang="en-US" sz="1250" dirty="0"/>
          </a:p>
        </p:txBody>
      </p:sp>
      <p:sp>
        <p:nvSpPr>
          <p:cNvPr id="39" name="Shape 35"/>
          <p:cNvSpPr/>
          <p:nvPr/>
        </p:nvSpPr>
        <p:spPr>
          <a:xfrm>
            <a:off x="8051800" y="5447903"/>
            <a:ext cx="3530600" cy="0"/>
          </a:xfrm>
          <a:prstGeom prst="line">
            <a:avLst/>
          </a:prstGeom>
          <a:noFill/>
          <a:ln w="6350">
            <a:solidFill>
              <a:srgbClr val="D0CECE"/>
            </a:solidFill>
            <a:prstDash val="solid"/>
          </a:ln>
        </p:spPr>
        <p:txBody>
          <a:bodyPr/>
          <a:lstStyle/>
          <a:p>
            <a:endParaRPr lang="en-US"/>
          </a:p>
        </p:txBody>
      </p:sp>
      <p:sp>
        <p:nvSpPr>
          <p:cNvPr id="40" name="Text 36"/>
          <p:cNvSpPr/>
          <p:nvPr/>
        </p:nvSpPr>
        <p:spPr>
          <a:xfrm>
            <a:off x="8051800" y="5166916"/>
            <a:ext cx="3636518" cy="239713"/>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010736"/>
                </a:solidFill>
                <a:latin typeface="EB Garamond" pitchFamily="18" charset="0"/>
                <a:ea typeface="EB Garamond" pitchFamily="18" charset="-122"/>
                <a:cs typeface="EB Garamond" pitchFamily="18" charset="-120"/>
              </a:rPr>
              <a:t>Cierre de CCBA</a:t>
            </a:r>
            <a:r>
              <a:rPr lang="en-US" sz="1250" dirty="0">
                <a:solidFill>
                  <a:srgbClr val="010736"/>
                </a:solidFill>
                <a:latin typeface="EB Garamond" pitchFamily="18" charset="0"/>
                <a:ea typeface="EB Garamond" pitchFamily="18" charset="-122"/>
                <a:cs typeface="EB Garamond" pitchFamily="18" charset="-120"/>
              </a:rPr>
              <a:t> en el 2S 2026.</a:t>
            </a:r>
            <a:endParaRPr lang="en-US" sz="1250" dirty="0"/>
          </a:p>
        </p:txBody>
      </p:sp>
      <p:sp>
        <p:nvSpPr>
          <p:cNvPr id="41" name="Text 37"/>
          <p:cNvSpPr/>
          <p:nvPr/>
        </p:nvSpPr>
        <p:spPr>
          <a:xfrm>
            <a:off x="8051800" y="5514578"/>
            <a:ext cx="3636518" cy="239713"/>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010736"/>
                </a:solidFill>
                <a:latin typeface="EB Garamond" pitchFamily="18" charset="0"/>
                <a:ea typeface="EB Garamond" pitchFamily="18" charset="-122"/>
                <a:cs typeface="EB Garamond" pitchFamily="18" charset="-120"/>
              </a:rPr>
              <a:t>Recompras</a:t>
            </a:r>
            <a:r>
              <a:rPr lang="en-US" sz="1250" dirty="0">
                <a:solidFill>
                  <a:srgbClr val="010736"/>
                </a:solidFill>
                <a:latin typeface="EB Garamond" pitchFamily="18" charset="0"/>
                <a:ea typeface="EB Garamond" pitchFamily="18" charset="-122"/>
                <a:cs typeface="EB Garamond" pitchFamily="18" charset="-120"/>
              </a:rPr>
              <a:t> desde 2027: 34,9 mil M$.</a:t>
            </a:r>
            <a:endParaRPr lang="en-US" sz="1250" dirty="0"/>
          </a:p>
        </p:txBody>
      </p:sp>
      <p:sp>
        <p:nvSpPr>
          <p:cNvPr id="42" name="Shape 38"/>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43" name="Text 39"/>
          <p:cNvSpPr/>
          <p:nvPr/>
        </p:nvSpPr>
        <p:spPr>
          <a:xfrm>
            <a:off x="609600" y="6398320"/>
            <a:ext cx="8670608"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¹ Media de DCF (2) y DDM. Fuente: modelo Coca-Cola FA; Coca-Cola; Bloomberg; MarketBeat (20/10/2026); análisis propio.</a:t>
            </a:r>
            <a:endParaRPr lang="en-US" sz="1200" dirty="0"/>
          </a:p>
        </p:txBody>
      </p:sp>
      <p:sp>
        <p:nvSpPr>
          <p:cNvPr id="45" name="Text 41"/>
          <p:cNvSpPr/>
          <p:nvPr/>
        </p:nvSpPr>
        <p:spPr>
          <a:xfrm>
            <a:off x="11361341" y="6390680"/>
            <a:ext cx="271859"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25</a:t>
            </a:r>
            <a:endParaRPr lang="en-US" sz="1200" dirty="0"/>
          </a:p>
        </p:txBody>
      </p:sp>
    </p:spTree>
    <p:extLst>
      <p:ext uri="{BB962C8B-B14F-4D97-AF65-F5344CB8AC3E}">
        <p14:creationId xmlns:p14="http://schemas.microsoft.com/office/powerpoint/2010/main" val="1145336864"/>
      </p:ext>
    </p:extLst>
  </p:cSld>
  <p:clrMapOvr>
    <a:masterClrMapping/>
  </p:clrMapOvr>
</p:sld>
</file>

<file path=ppt/theme/theme1.xml><?xml version="1.0" encoding="utf-8"?>
<a:theme xmlns:a="http://schemas.openxmlformats.org/drawingml/2006/main" name="Coca-Cola — Tesis de inversión">
  <a:themeElements>
    <a:clrScheme name="Coca-Cola — Tesis de inversión">
      <a:dk1>
        <a:srgbClr val="010736"/>
      </a:dk1>
      <a:lt1>
        <a:srgbClr val="FEFAEF"/>
      </a:lt1>
      <a:dk2>
        <a:srgbClr val="404464"/>
      </a:dk2>
      <a:lt2>
        <a:srgbClr val="E5E2DD"/>
      </a:lt2>
      <a:accent1>
        <a:srgbClr val="22396F"/>
      </a:accent1>
      <a:accent2>
        <a:srgbClr val="FCF1D0"/>
      </a:accent2>
      <a:accent3>
        <a:srgbClr val="5A5C77"/>
      </a:accent3>
      <a:accent4>
        <a:srgbClr val="8590A9"/>
      </a:accent4>
      <a:accent5>
        <a:srgbClr val="9AA0A6"/>
      </a:accent5>
      <a:accent6>
        <a:srgbClr val="666880"/>
      </a:accent6>
      <a:hlink>
        <a:srgbClr val="0563C1"/>
      </a:hlink>
      <a:folHlink>
        <a:srgbClr val="954F72"/>
      </a:folHlink>
    </a:clrScheme>
    <a:fontScheme name="Coca-Cola — Tesis de inversión">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o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CF23CD1-02AA-4A32-A3A7-C01246D782E0}">
  <we:reference id="WA200010725" version="1.0.0.1" store="Omex" storeType="OMEX"/>
  <we:alternateReferences>
    <we:reference id="WA200010725" version="1.0.0.1" store="WA200010725" storeType="OMEX"/>
  </we:alternateReferences>
  <we:properties>
    <we:property name="claude.fileId" value="&quot;812aa8f1-9bca-4c9d-af08-2ffc7be0444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21</TotalTime>
  <Words>4088</Words>
  <Application>Microsoft Office PowerPoint</Application>
  <PresentationFormat>Widescreen</PresentationFormat>
  <Paragraphs>953</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Jost</vt:lpstr>
      <vt:lpstr>EB Garamond</vt:lpstr>
      <vt:lpstr>Pinyon Script</vt:lpstr>
      <vt:lpstr>Arial</vt:lpstr>
      <vt:lpstr>Coca-Cola — Tesis de inversión</vt:lpstr>
      <vt:lpstr>PowerPoint Presentation</vt:lpstr>
      <vt:lpstr>Recomendación: Mantener, el valor intrínseco de 87,7 $ por acción queda un 5,5 % por debajo de la cotización de 92,7 $</vt:lpstr>
      <vt:lpstr>Negocio</vt:lpstr>
      <vt:lpstr>Coca-Cola vende concentrado y marca, no Botellas. Modelo asset-light con un margen bruto del 62,0 %</vt:lpstr>
      <vt:lpstr>La refranquicia saca el capital del balance: El embotellado propio pasa del 52 % de los ingresos en 2015 a cerca del 5 %</vt:lpstr>
      <vt:lpstr>Coca-Cola Zero Sugar crece un 14 % en volumen en 2025 y sostiene una cartera que, en conjunto, no crece</vt:lpstr>
      <vt:lpstr>Norteamérica aporta el 42 % de los ingresos, pero Latinoamérica crece más del doble en orgánico (+10 % en 2025)</vt:lpstr>
      <vt:lpstr>Marca, distribución y escala sostienen un ROIC del 15,8 % en un mercado maduro y muy competido</vt:lpstr>
      <vt:lpstr>El sector crece por precio y por los mercados emergentes, mientras la salud y la regulación presionan al azúcar</vt:lpstr>
      <vt:lpstr>La nueva dirección hereda una guía al alza: BPA comparable del +9–10 % en 2026 y unos 12,4 mil M$ de caja libre</vt:lpstr>
      <vt:lpstr>Finanzas</vt:lpstr>
      <vt:lpstr>Los ingresos crecen al 5,6 % anual entre 2021 y 2025 con un margen bruto estable en torno al 60 %</vt:lpstr>
      <vt:lpstr>El margen EBITDA vuelve al 32,8 % en 2025 tras el cargo puntual de fairlife que lo hundió al 25,8 % en 2024</vt:lpstr>
      <vt:lpstr>Valoración</vt:lpstr>
      <vt:lpstr>El caso base proyecta ingresos al 4,2 % anual hasta 2035 y un margen EBIT que sube hasta el 32,2 %</vt:lpstr>
      <vt:lpstr>El EBITDA pasa de 15,1 a 25,5 mil M$ entre 2026 y 2035 y el flujo libre para la empresa casi se duplica, hasta 17,7 mil M$</vt:lpstr>
      <vt:lpstr>Un WACC del 6,0 %, con una beta de 0,40, refleja el perfil defensivo de Coca-Cola y su bajo apalancamiento</vt:lpstr>
      <vt:lpstr>El DCF sitúa el valor entre 88,0 $ y 92,1 $ por acción, prácticamente en línea con la cotización actual</vt:lpstr>
      <vt:lpstr>La media de los métodos da 76,2 $ por acción: solo el DCF por múltiplo de salida alcanza la cotización de 92,7 $</vt:lpstr>
      <vt:lpstr>Medio punto de WACC mueve el valor unos 4 $ con múltiplo de salida y hasta 15 $ con crecimiento perpetuo</vt:lpstr>
      <vt:lpstr>La deuda neta/EBITDA baja de 2,1x a 1,3x en 2035 mientras el ROIC sube hasta el 22,6 %</vt:lpstr>
      <vt:lpstr>Conclusiones</vt:lpstr>
      <vt:lpstr>Los catalizadores a corto plazo ya están en el precio; el riesgo está en volúmenes, divisa y fiscalidad</vt:lpstr>
      <vt:lpstr>Mantener con precio objetivo de 87,7 $: entraríamos por debajo de 80 $ o tras una revisión al alza del beneficio</vt:lpstr>
      <vt:lpstr>Coca-Cola es un negocio de primera a un precio que ya lo descuenta: mantener, con precio objetivo de 87,7 $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Coca-Cola — Tesis de inversión</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Jost
Copyright 2020 The Jost Project Authors (https://github.com/indestructible-type)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Pinyon Script
Copyright 2024 The Pinyon Project Authors (https://github.com/SorkinType/Pinyon)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Carlos Arizcuren Elizondo</cp:lastModifiedBy>
  <cp:revision>2</cp:revision>
  <dcterms:created xsi:type="dcterms:W3CDTF">2026-10-25T21:10:19Z</dcterms:created>
  <dcterms:modified xsi:type="dcterms:W3CDTF">2026-10-25T21:32:04Z</dcterms:modified>
</cp:coreProperties>
</file>