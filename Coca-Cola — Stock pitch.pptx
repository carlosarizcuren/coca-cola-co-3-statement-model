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78" r:id="rId2"/>
    <p:sldId id="280" r:id="rId3"/>
    <p:sldId id="281" r:id="rId4"/>
    <p:sldId id="282" r:id="rId5"/>
    <p:sldId id="283" r:id="rId6"/>
    <p:sldId id="284" r:id="rId7"/>
    <p:sldId id="285" r:id="rId8"/>
    <p:sldId id="286" r:id="rId9"/>
    <p:sldId id="287" r:id="rId10"/>
    <p:sldId id="288" r:id="rId11"/>
    <p:sldId id="289" r:id="rId12"/>
  </p:sldIdLst>
  <p:sldSz cx="12192000" cy="6858000"/>
  <p:notesSz cx="6858000" cy="12192000"/>
  <p:embeddedFontLst>
    <p:embeddedFont>
      <p:font typeface="EB Garamond" panose="00000500000000000000" pitchFamily="2" charset="0"/>
      <p:regular r:id="rId14"/>
      <p:bold r:id="rId15"/>
      <p:italic r:id="rId16"/>
      <p:boldItalic r:id="rId17"/>
    </p:embeddedFont>
    <p:embeddedFont>
      <p:font typeface="Jost" panose="020B0604020202020204" charset="0"/>
      <p:regular r:id="rId18"/>
      <p:bold r:id="rId19"/>
    </p:embeddedFont>
    <p:embeddedFont>
      <p:font typeface="Pinyon Script" panose="020B0604020202020204" charset="0"/>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2111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del stock pitch para LinkedIn. Recomendación, precio objetivo y potencial en la primera línea; el gancho en el titular.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recomendación, rango de valor, dónde descargar el modelo y aviso legal. Confirmar que no se tiene posición en KO antes de publicar; si se tiene, cambiar «Sin posición en KO» por «Tengo posición en KO».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EFA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98500"/>
            <a:ext cx="10414000" cy="762000"/>
          </a:xfrm>
          <a:prstGeom prst="rect">
            <a:avLst/>
          </a:prstGeom>
          <a:noFill/>
          <a:ln/>
        </p:spPr>
        <p:txBody>
          <a:bodyPr wrap="square" lIns="0" tIns="0" rIns="0" bIns="0" rtlCol="0" anchor="t"/>
          <a:lstStyle>
            <a:lvl1pPr marL="0" indent="0" algn="l">
              <a:lnSpc>
                <a:spcPct val="115000"/>
              </a:lnSpc>
              <a:buNone/>
              <a:defRPr lang="en-US" sz="2400" dirty="0">
                <a:solidFill>
                  <a:srgbClr val="010736"/>
                </a:solidFill>
                <a:latin typeface="Jost" pitchFamily="34" charset="0"/>
                <a:ea typeface="Jost" pitchFamily="34" charset="-122"/>
                <a:cs typeface="Jost" pitchFamily="34" charset="-120"/>
              </a:defRPr>
            </a:lvl1pPr>
          </a:lstStyle>
          <a:p>
            <a:pPr marL="0" indent="0" algn="l">
              <a:lnSpc>
                <a:spcPct val="115000"/>
              </a:lnSpc>
              <a:buNone/>
            </a:pPr>
            <a:endParaRPr lang="en-US" sz="2400" dirty="0"/>
          </a:p>
        </p:txBody>
      </p:sp>
      <p:sp>
        <p:nvSpPr>
          <p:cNvPr id="3" name="Text Placeholder 2"/>
          <p:cNvSpPr>
            <a:spLocks noGrp="1"/>
          </p:cNvSpPr>
          <p:nvPr>
            <p:ph type="body" idx="101"/>
          </p:nvPr>
        </p:nvSpPr>
        <p:spPr>
          <a:xfrm>
            <a:off x="609600" y="1765300"/>
            <a:ext cx="10769600" cy="4279900"/>
          </a:xfrm>
          <a:prstGeom prst="rect">
            <a:avLst/>
          </a:prstGeom>
          <a:noFill/>
          <a:ln/>
        </p:spPr>
        <p:txBody>
          <a:bodyPr wrap="square" lIns="0" tIns="0" rIns="0" bIns="0" rtlCol="0" anchor="t"/>
          <a:lstStyle>
            <a:lvl1pPr marL="0" indent="0" algn="l">
              <a:lnSpc>
                <a:spcPct val="140000"/>
              </a:lnSpc>
              <a:buNone/>
              <a:defRPr lang="en-US" sz="1600" dirty="0">
                <a:solidFill>
                  <a:srgbClr val="010736"/>
                </a:solidFill>
                <a:latin typeface="Jost" pitchFamily="34" charset="0"/>
                <a:ea typeface="Jost" pitchFamily="34" charset="-122"/>
                <a:cs typeface="Jost"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A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98500"/>
            <a:ext cx="10414000" cy="762000"/>
          </a:xfrm>
          <a:prstGeom prst="rect">
            <a:avLst/>
          </a:prstGeom>
          <a:noFill/>
          <a:ln/>
        </p:spPr>
        <p:txBody>
          <a:bodyPr wrap="square" lIns="0" tIns="0" rIns="0" bIns="0" rtlCol="0" anchor="t"/>
          <a:lstStyle>
            <a:lvl1pPr marL="0" indent="0" algn="l">
              <a:lnSpc>
                <a:spcPct val="115000"/>
              </a:lnSpc>
              <a:buNone/>
              <a:defRPr lang="en-US" sz="2400" dirty="0">
                <a:solidFill>
                  <a:srgbClr val="010736"/>
                </a:solidFill>
                <a:latin typeface="Jost" pitchFamily="34" charset="0"/>
                <a:ea typeface="Jost" pitchFamily="34" charset="-122"/>
                <a:cs typeface="Jost" pitchFamily="34" charset="-120"/>
              </a:defRPr>
            </a:lvl1pPr>
          </a:lstStyle>
          <a:p>
            <a:pPr marL="0" indent="0" algn="l">
              <a:lnSpc>
                <a:spcPct val="115000"/>
              </a:lnSpc>
              <a:buNone/>
            </a:pPr>
            <a:endParaRPr lang="en-US" sz="2400" dirty="0"/>
          </a:p>
        </p:txBody>
      </p:sp>
      <p:sp>
        <p:nvSpPr>
          <p:cNvPr id="3" name="Text Placeholder 2"/>
          <p:cNvSpPr>
            <a:spLocks noGrp="1"/>
          </p:cNvSpPr>
          <p:nvPr>
            <p:ph type="body" idx="101"/>
          </p:nvPr>
        </p:nvSpPr>
        <p:spPr>
          <a:xfrm>
            <a:off x="609600" y="1765300"/>
            <a:ext cx="10769600" cy="4279900"/>
          </a:xfrm>
          <a:prstGeom prst="rect">
            <a:avLst/>
          </a:prstGeom>
          <a:noFill/>
          <a:ln/>
        </p:spPr>
        <p:txBody>
          <a:bodyPr wrap="square" lIns="0" tIns="0" rIns="0" bIns="0" rtlCol="0" anchor="t"/>
          <a:lstStyle>
            <a:lvl1pPr marL="0" indent="0" algn="l">
              <a:lnSpc>
                <a:spcPct val="140000"/>
              </a:lnSpc>
              <a:buNone/>
              <a:defRPr lang="en-US" sz="1600" dirty="0">
                <a:solidFill>
                  <a:srgbClr val="010736"/>
                </a:solidFill>
                <a:latin typeface="Jost" pitchFamily="34" charset="0"/>
                <a:ea typeface="Jost" pitchFamily="34" charset="-122"/>
                <a:cs typeface="Jost"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541564" y="393700"/>
            <a:ext cx="702520" cy="406400"/>
          </a:xfrm>
          <a:prstGeom prst="rect">
            <a:avLst/>
          </a:prstGeom>
          <a:noFill/>
          <a:ln/>
        </p:spPr>
        <p:txBody>
          <a:bodyPr wrap="square" lIns="0" tIns="0" rIns="0" bIns="0" rtlCol="0" anchor="t">
            <a:normAutofit fontScale="85000" lnSpcReduction="10000"/>
          </a:bodyPr>
          <a:lstStyle/>
          <a:p>
            <a:pPr marL="0" indent="0" algn="l">
              <a:lnSpc>
                <a:spcPts val="3000"/>
              </a:lnSpc>
              <a:buNone/>
            </a:pPr>
            <a:r>
              <a:rPr lang="en-US" sz="3000" b="1" kern="0" spc="-50" dirty="0">
                <a:solidFill>
                  <a:srgbClr val="010736"/>
                </a:solidFill>
                <a:latin typeface="Jost" pitchFamily="34" charset="0"/>
                <a:ea typeface="Jost" pitchFamily="34" charset="-122"/>
                <a:cs typeface="Jost" pitchFamily="34" charset="-120"/>
              </a:rPr>
              <a:t>A&amp;E</a:t>
            </a:r>
            <a:endParaRPr lang="en-US" sz="3000" dirty="0"/>
          </a:p>
        </p:txBody>
      </p:sp>
      <p:sp>
        <p:nvSpPr>
          <p:cNvPr id="3" name="Shape 1"/>
          <p:cNvSpPr/>
          <p:nvPr/>
        </p:nvSpPr>
        <p:spPr>
          <a:xfrm>
            <a:off x="1252637" y="381000"/>
            <a:ext cx="19050" cy="406400"/>
          </a:xfrm>
          <a:prstGeom prst="rect">
            <a:avLst/>
          </a:prstGeom>
          <a:solidFill>
            <a:srgbClr val="010736"/>
          </a:solidFill>
          <a:ln/>
        </p:spPr>
        <p:txBody>
          <a:bodyPr/>
          <a:lstStyle/>
          <a:p>
            <a:endParaRPr lang="en-US"/>
          </a:p>
        </p:txBody>
      </p:sp>
      <p:sp>
        <p:nvSpPr>
          <p:cNvPr id="4" name="Text 2"/>
          <p:cNvSpPr/>
          <p:nvPr/>
        </p:nvSpPr>
        <p:spPr>
          <a:xfrm>
            <a:off x="1385987" y="433614"/>
            <a:ext cx="5067776" cy="342900"/>
          </a:xfrm>
          <a:prstGeom prst="rect">
            <a:avLst/>
          </a:prstGeom>
          <a:noFill/>
          <a:ln/>
        </p:spPr>
        <p:txBody>
          <a:bodyPr wrap="square" lIns="0" tIns="0" rIns="0" bIns="0" rtlCol="0" anchor="t">
            <a:normAutofit/>
          </a:bodyPr>
          <a:lstStyle/>
          <a:p>
            <a:pPr marL="0" indent="0" algn="l">
              <a:lnSpc>
                <a:spcPts val="2500"/>
              </a:lnSpc>
              <a:buNone/>
            </a:pPr>
            <a:r>
              <a:rPr lang="en-US" sz="2500" kern="0" spc="700" dirty="0">
                <a:solidFill>
                  <a:srgbClr val="5A5C77"/>
                </a:solidFill>
                <a:latin typeface="Jost" pitchFamily="34" charset="0"/>
              </a:rPr>
              <a:t>ANÁLISIS FINANCIERO</a:t>
            </a:r>
            <a:endParaRPr lang="en-US" sz="2500" dirty="0"/>
          </a:p>
        </p:txBody>
      </p:sp>
      <p:sp>
        <p:nvSpPr>
          <p:cNvPr id="5" name="Text 3"/>
          <p:cNvSpPr/>
          <p:nvPr/>
        </p:nvSpPr>
        <p:spPr>
          <a:xfrm>
            <a:off x="609600" y="1003300"/>
            <a:ext cx="11301984"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2396F"/>
                </a:solidFill>
                <a:latin typeface="Jost" pitchFamily="34" charset="0"/>
                <a:ea typeface="Jost" pitchFamily="34" charset="-122"/>
                <a:cs typeface="Jost" pitchFamily="34" charset="-120"/>
              </a:rPr>
              <a:t>Stock pitch</a:t>
            </a:r>
            <a:r>
              <a:rPr lang="en-US" sz="1200" kern="0" spc="50" dirty="0">
                <a:solidFill>
                  <a:srgbClr val="8590A9"/>
                </a:solidFill>
                <a:latin typeface="Jost" pitchFamily="34" charset="0"/>
                <a:ea typeface="Jost" pitchFamily="34" charset="-122"/>
                <a:cs typeface="Jost" pitchFamily="34" charset="-120"/>
              </a:rPr>
              <a:t> |</a:t>
            </a:r>
            <a:r>
              <a:rPr lang="en-US" sz="1200" kern="0" spc="50" dirty="0">
                <a:solidFill>
                  <a:srgbClr val="22396F"/>
                </a:solidFill>
                <a:latin typeface="Jost" pitchFamily="34" charset="0"/>
                <a:ea typeface="Jost" pitchFamily="34" charset="-122"/>
                <a:cs typeface="Jost" pitchFamily="34" charset="-120"/>
              </a:rPr>
              <a:t> The Coca-Cola Company (NYSE: KO)</a:t>
            </a:r>
            <a:r>
              <a:rPr lang="en-US" sz="1200" kern="0" spc="50" dirty="0">
                <a:solidFill>
                  <a:srgbClr val="8590A9"/>
                </a:solidFill>
                <a:latin typeface="Jost" pitchFamily="34" charset="0"/>
                <a:ea typeface="Jost" pitchFamily="34" charset="-122"/>
                <a:cs typeface="Jost" pitchFamily="34" charset="-120"/>
              </a:rPr>
              <a:t> |</a:t>
            </a:r>
            <a:r>
              <a:rPr lang="en-US" sz="1200" kern="0" spc="50" dirty="0">
                <a:solidFill>
                  <a:srgbClr val="22396F"/>
                </a:solidFill>
                <a:latin typeface="Jost" pitchFamily="34" charset="0"/>
                <a:ea typeface="Jost" pitchFamily="34" charset="-122"/>
                <a:cs typeface="Jost" pitchFamily="34" charset="-120"/>
              </a:rPr>
              <a:t> Consumo básico · Bebidas</a:t>
            </a:r>
            <a:r>
              <a:rPr lang="en-US" sz="1200" kern="0" spc="50" dirty="0">
                <a:solidFill>
                  <a:srgbClr val="8590A9"/>
                </a:solidFill>
                <a:latin typeface="Jost" pitchFamily="34" charset="0"/>
                <a:ea typeface="Jost" pitchFamily="34" charset="-122"/>
                <a:cs typeface="Jost" pitchFamily="34" charset="-120"/>
              </a:rPr>
              <a:t> |</a:t>
            </a:r>
            <a:r>
              <a:rPr lang="en-US" sz="1200" kern="0" spc="50" dirty="0">
                <a:solidFill>
                  <a:srgbClr val="22396F"/>
                </a:solidFill>
                <a:latin typeface="Jost" pitchFamily="34" charset="0"/>
                <a:ea typeface="Jost" pitchFamily="34" charset="-122"/>
                <a:cs typeface="Jost" pitchFamily="34" charset="-120"/>
              </a:rPr>
              <a:t> </a:t>
            </a:r>
            <a:r>
              <a:rPr lang="en-US" sz="1200" b="1" kern="0" spc="50" dirty="0">
                <a:solidFill>
                  <a:srgbClr val="22396F"/>
                </a:solidFill>
                <a:latin typeface="Jost" pitchFamily="34" charset="0"/>
                <a:ea typeface="Jost" pitchFamily="34" charset="-122"/>
                <a:cs typeface="Jost" pitchFamily="34" charset="-120"/>
              </a:rPr>
              <a:t>Octubre de 2026</a:t>
            </a:r>
            <a:endParaRPr lang="en-US" sz="1200" dirty="0"/>
          </a:p>
        </p:txBody>
      </p:sp>
      <p:sp>
        <p:nvSpPr>
          <p:cNvPr id="6" name="Shape 4"/>
          <p:cNvSpPr/>
          <p:nvPr/>
        </p:nvSpPr>
        <p:spPr>
          <a:xfrm>
            <a:off x="619125" y="1419225"/>
            <a:ext cx="10953750" cy="4514850"/>
          </a:xfrm>
          <a:prstGeom prst="rect">
            <a:avLst/>
          </a:prstGeom>
          <a:noFill/>
          <a:ln w="19050">
            <a:solidFill>
              <a:srgbClr val="010736"/>
            </a:solidFill>
            <a:prstDash val="solid"/>
          </a:ln>
        </p:spPr>
        <p:txBody>
          <a:bodyPr/>
          <a:lstStyle/>
          <a:p>
            <a:endParaRPr lang="en-US"/>
          </a:p>
        </p:txBody>
      </p:sp>
      <p:sp>
        <p:nvSpPr>
          <p:cNvPr id="7" name="Text 5"/>
          <p:cNvSpPr/>
          <p:nvPr/>
        </p:nvSpPr>
        <p:spPr>
          <a:xfrm>
            <a:off x="1066800" y="1879600"/>
            <a:ext cx="771779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MANTENER · PRECIO OBJETIVO 87,7 $ · −5,5 %</a:t>
            </a:r>
            <a:endParaRPr lang="en-US" sz="1200" dirty="0"/>
          </a:p>
        </p:txBody>
      </p:sp>
      <p:sp>
        <p:nvSpPr>
          <p:cNvPr id="8" name="Text 6"/>
          <p:cNvSpPr>
            <a:spLocks noGrp="1"/>
          </p:cNvSpPr>
          <p:nvPr>
            <p:ph type="title"/>
          </p:nvPr>
        </p:nvSpPr>
        <p:spPr>
          <a:xfrm>
            <a:off x="1066799" y="2232620"/>
            <a:ext cx="8665029" cy="628848"/>
          </a:xfrm>
          <a:prstGeom prst="rect">
            <a:avLst/>
          </a:prstGeom>
          <a:noFill/>
          <a:ln/>
        </p:spPr>
        <p:txBody>
          <a:bodyPr wrap="square" lIns="0" tIns="0" rIns="0" bIns="0" rtlCol="0" anchor="t">
            <a:normAutofit/>
          </a:bodyPr>
          <a:lstStyle/>
          <a:p>
            <a:pPr marL="0" indent="0" algn="l">
              <a:lnSpc>
                <a:spcPts val="4752"/>
              </a:lnSpc>
              <a:buNone/>
            </a:pPr>
            <a:r>
              <a:rPr lang="en-US" sz="4400" kern="0" spc="-75" dirty="0" err="1"/>
              <a:t>Acción</a:t>
            </a:r>
            <a:r>
              <a:rPr lang="en-US" sz="4400" kern="0" spc="-75" dirty="0"/>
              <a:t> </a:t>
            </a:r>
            <a:r>
              <a:rPr lang="en-US" sz="4400" kern="0" spc="-75" dirty="0" err="1"/>
              <a:t>defensiva</a:t>
            </a:r>
            <a:r>
              <a:rPr lang="en-US" sz="4400" kern="0" spc="-75" dirty="0"/>
              <a:t> a </a:t>
            </a:r>
            <a:r>
              <a:rPr lang="en-US" sz="4400" kern="0" spc="-75" dirty="0" err="1"/>
              <a:t>precio</a:t>
            </a:r>
            <a:r>
              <a:rPr lang="en-US" sz="4400" kern="0" spc="-75" dirty="0"/>
              <a:t> </a:t>
            </a:r>
            <a:r>
              <a:rPr lang="en-US" sz="4400" kern="0" spc="-75" dirty="0" err="1"/>
              <a:t>ajustado</a:t>
            </a:r>
            <a:endParaRPr lang="en-US" sz="4400" dirty="0"/>
          </a:p>
        </p:txBody>
      </p:sp>
      <p:sp>
        <p:nvSpPr>
          <p:cNvPr id="9" name="Text 7"/>
          <p:cNvSpPr/>
          <p:nvPr/>
        </p:nvSpPr>
        <p:spPr>
          <a:xfrm>
            <a:off x="1066800" y="2975769"/>
            <a:ext cx="7717790" cy="779661"/>
          </a:xfrm>
          <a:prstGeom prst="rect">
            <a:avLst/>
          </a:prstGeom>
          <a:noFill/>
          <a:ln/>
        </p:spPr>
        <p:txBody>
          <a:bodyPr wrap="square" lIns="0" tIns="0" rIns="0" bIns="0" rtlCol="0" anchor="t">
            <a:normAutofit/>
          </a:bodyPr>
          <a:lstStyle/>
          <a:p>
            <a:pPr marL="0" indent="0" algn="l">
              <a:lnSpc>
                <a:spcPts val="2970"/>
              </a:lnSpc>
              <a:buNone/>
            </a:pPr>
            <a:r>
              <a:rPr lang="en-US" sz="2200" i="1" dirty="0">
                <a:solidFill>
                  <a:srgbClr val="010736"/>
                </a:solidFill>
                <a:latin typeface="EB Garamond" pitchFamily="18" charset="0"/>
                <a:ea typeface="EB Garamond" pitchFamily="18" charset="-122"/>
              </a:rPr>
              <a:t>¿</a:t>
            </a:r>
            <a:r>
              <a:rPr lang="en-US" sz="2200" i="1" dirty="0" err="1">
                <a:solidFill>
                  <a:srgbClr val="010736"/>
                </a:solidFill>
                <a:latin typeface="EB Garamond" pitchFamily="18" charset="0"/>
                <a:ea typeface="EB Garamond" pitchFamily="18" charset="-122"/>
              </a:rPr>
              <a:t>Merece</a:t>
            </a:r>
            <a:r>
              <a:rPr lang="en-US" sz="2200" i="1" dirty="0">
                <a:solidFill>
                  <a:srgbClr val="010736"/>
                </a:solidFill>
                <a:latin typeface="EB Garamond" pitchFamily="18" charset="0"/>
                <a:ea typeface="EB Garamond" pitchFamily="18" charset="-122"/>
              </a:rPr>
              <a:t> la </a:t>
            </a:r>
            <a:r>
              <a:rPr lang="en-US" sz="2200" i="1" dirty="0" err="1">
                <a:solidFill>
                  <a:srgbClr val="010736"/>
                </a:solidFill>
                <a:latin typeface="EB Garamond" pitchFamily="18" charset="0"/>
                <a:ea typeface="EB Garamond" pitchFamily="18" charset="-122"/>
              </a:rPr>
              <a:t>pena</a:t>
            </a:r>
            <a:r>
              <a:rPr lang="en-US" sz="2200" i="1" dirty="0">
                <a:solidFill>
                  <a:srgbClr val="010736"/>
                </a:solidFill>
                <a:latin typeface="EB Garamond" pitchFamily="18" charset="0"/>
                <a:ea typeface="EB Garamond" pitchFamily="18" charset="-122"/>
              </a:rPr>
              <a:t> </a:t>
            </a:r>
            <a:r>
              <a:rPr lang="en-US" sz="2200" i="1" dirty="0" err="1">
                <a:solidFill>
                  <a:srgbClr val="010736"/>
                </a:solidFill>
                <a:latin typeface="EB Garamond" pitchFamily="18" charset="0"/>
                <a:ea typeface="EB Garamond" pitchFamily="18" charset="-122"/>
              </a:rPr>
              <a:t>invertir</a:t>
            </a:r>
            <a:r>
              <a:rPr lang="en-US" sz="2200" i="1" dirty="0">
                <a:solidFill>
                  <a:srgbClr val="010736"/>
                </a:solidFill>
                <a:latin typeface="EB Garamond" pitchFamily="18" charset="0"/>
                <a:ea typeface="EB Garamond" pitchFamily="18" charset="-122"/>
              </a:rPr>
              <a:t> </a:t>
            </a:r>
            <a:r>
              <a:rPr lang="en-US" sz="2200" i="1" dirty="0" err="1">
                <a:solidFill>
                  <a:srgbClr val="010736"/>
                </a:solidFill>
                <a:latin typeface="EB Garamond" pitchFamily="18" charset="0"/>
                <a:ea typeface="EB Garamond" pitchFamily="18" charset="-122"/>
              </a:rPr>
              <a:t>en</a:t>
            </a:r>
            <a:r>
              <a:rPr lang="en-US" sz="2200" i="1" dirty="0">
                <a:solidFill>
                  <a:srgbClr val="010736"/>
                </a:solidFill>
                <a:latin typeface="EB Garamond" pitchFamily="18" charset="0"/>
                <a:ea typeface="EB Garamond" pitchFamily="18" charset="-122"/>
              </a:rPr>
              <a:t> Coca-Cola para </a:t>
            </a:r>
            <a:r>
              <a:rPr lang="en-US" sz="2200" i="1" dirty="0" err="1">
                <a:solidFill>
                  <a:srgbClr val="010736"/>
                </a:solidFill>
                <a:latin typeface="EB Garamond" pitchFamily="18" charset="0"/>
                <a:ea typeface="EB Garamond" pitchFamily="18" charset="-122"/>
              </a:rPr>
              <a:t>una</a:t>
            </a:r>
            <a:r>
              <a:rPr lang="en-US" sz="2200" i="1" dirty="0">
                <a:solidFill>
                  <a:srgbClr val="010736"/>
                </a:solidFill>
                <a:latin typeface="EB Garamond" pitchFamily="18" charset="0"/>
                <a:ea typeface="EB Garamond" pitchFamily="18" charset="-122"/>
              </a:rPr>
              <a:t> </a:t>
            </a:r>
            <a:r>
              <a:rPr lang="en-US" sz="2200" i="1" dirty="0" err="1">
                <a:solidFill>
                  <a:srgbClr val="010736"/>
                </a:solidFill>
                <a:latin typeface="EB Garamond" pitchFamily="18" charset="0"/>
                <a:ea typeface="EB Garamond" pitchFamily="18" charset="-122"/>
              </a:rPr>
              <a:t>rentabilidad</a:t>
            </a:r>
            <a:r>
              <a:rPr lang="en-US" sz="2200" i="1" dirty="0">
                <a:solidFill>
                  <a:srgbClr val="010736"/>
                </a:solidFill>
                <a:latin typeface="EB Garamond" pitchFamily="18" charset="0"/>
                <a:ea typeface="EB Garamond" pitchFamily="18" charset="-122"/>
              </a:rPr>
              <a:t> del 6% con el bono </a:t>
            </a:r>
            <a:r>
              <a:rPr lang="en-US" sz="2200" i="1" dirty="0" err="1">
                <a:solidFill>
                  <a:srgbClr val="010736"/>
                </a:solidFill>
                <a:latin typeface="EB Garamond" pitchFamily="18" charset="0"/>
                <a:ea typeface="EB Garamond" pitchFamily="18" charset="-122"/>
              </a:rPr>
              <a:t>Estadounidense</a:t>
            </a:r>
            <a:r>
              <a:rPr lang="en-US" sz="2200" i="1" dirty="0">
                <a:solidFill>
                  <a:srgbClr val="010736"/>
                </a:solidFill>
                <a:latin typeface="EB Garamond" pitchFamily="18" charset="0"/>
                <a:ea typeface="EB Garamond" pitchFamily="18" charset="-122"/>
              </a:rPr>
              <a:t> a 10 </a:t>
            </a:r>
            <a:r>
              <a:rPr lang="en-US" sz="2200" i="1" dirty="0" err="1">
                <a:solidFill>
                  <a:srgbClr val="010736"/>
                </a:solidFill>
                <a:latin typeface="EB Garamond" pitchFamily="18" charset="0"/>
                <a:ea typeface="EB Garamond" pitchFamily="18" charset="-122"/>
              </a:rPr>
              <a:t>años</a:t>
            </a:r>
            <a:r>
              <a:rPr lang="en-US" sz="2200" i="1" dirty="0">
                <a:solidFill>
                  <a:srgbClr val="010736"/>
                </a:solidFill>
                <a:latin typeface="EB Garamond" pitchFamily="18" charset="0"/>
                <a:ea typeface="EB Garamond" pitchFamily="18" charset="-122"/>
              </a:rPr>
              <a:t> al 5% y el Francés a 4.9%?</a:t>
            </a:r>
            <a:endParaRPr lang="en-US" sz="2200" dirty="0"/>
          </a:p>
        </p:txBody>
      </p:sp>
      <p:sp>
        <p:nvSpPr>
          <p:cNvPr id="10" name="Shape 8"/>
          <p:cNvSpPr/>
          <p:nvPr/>
        </p:nvSpPr>
        <p:spPr>
          <a:xfrm>
            <a:off x="9639300" y="2362200"/>
            <a:ext cx="685800" cy="4495800"/>
          </a:xfrm>
          <a:prstGeom prst="rect">
            <a:avLst/>
          </a:prstGeom>
          <a:solidFill>
            <a:srgbClr val="0D1C42"/>
          </a:solidFill>
          <a:ln/>
        </p:spPr>
        <p:txBody>
          <a:bodyPr/>
          <a:lstStyle/>
          <a:p>
            <a:endParaRPr lang="en-US"/>
          </a:p>
        </p:txBody>
      </p:sp>
      <p:sp>
        <p:nvSpPr>
          <p:cNvPr id="11" name="Text 9"/>
          <p:cNvSpPr/>
          <p:nvPr/>
        </p:nvSpPr>
        <p:spPr>
          <a:xfrm rot="16200000">
            <a:off x="9207500" y="5422900"/>
            <a:ext cx="1574800" cy="711200"/>
          </a:xfrm>
          <a:prstGeom prst="rect">
            <a:avLst/>
          </a:prstGeom>
          <a:noFill/>
          <a:ln/>
        </p:spPr>
        <p:txBody>
          <a:bodyPr wrap="square" lIns="0" tIns="0" rIns="0" bIns="0" rtlCol="0" anchor="t">
            <a:normAutofit/>
          </a:bodyPr>
          <a:lstStyle/>
          <a:p>
            <a:pPr marL="0" indent="0" algn="ctr">
              <a:lnSpc>
                <a:spcPts val="5408"/>
              </a:lnSpc>
              <a:buNone/>
            </a:pPr>
            <a:r>
              <a:rPr lang="en-US" sz="3200" b="1" dirty="0">
                <a:solidFill>
                  <a:srgbClr val="000000">
                    <a:alpha val="0"/>
                  </a:srgbClr>
                </a:solidFill>
                <a:latin typeface="Jost" pitchFamily="34" charset="0"/>
                <a:ea typeface="Jost" pitchFamily="34" charset="-122"/>
                <a:cs typeface="Jost" pitchFamily="34" charset="-120"/>
              </a:rPr>
              <a:t>Stock</a:t>
            </a:r>
            <a:endParaRPr lang="en-US" sz="3200" dirty="0"/>
          </a:p>
        </p:txBody>
      </p:sp>
      <p:sp>
        <p:nvSpPr>
          <p:cNvPr id="12" name="Text 10"/>
          <p:cNvSpPr/>
          <p:nvPr/>
        </p:nvSpPr>
        <p:spPr>
          <a:xfrm rot="16200000">
            <a:off x="7786007" y="4294414"/>
            <a:ext cx="4417785" cy="711200"/>
          </a:xfrm>
          <a:prstGeom prst="rect">
            <a:avLst/>
          </a:prstGeom>
          <a:noFill/>
          <a:ln/>
        </p:spPr>
        <p:txBody>
          <a:bodyPr wrap="square" lIns="0" tIns="0" rIns="0" bIns="0" rtlCol="0" anchor="t">
            <a:normAutofit/>
          </a:bodyPr>
          <a:lstStyle/>
          <a:p>
            <a:pPr marL="0" indent="0" algn="ctr">
              <a:lnSpc>
                <a:spcPts val="5408"/>
              </a:lnSpc>
              <a:buNone/>
            </a:pPr>
            <a:r>
              <a:rPr lang="en-US" sz="3200" b="1" dirty="0">
                <a:solidFill>
                  <a:srgbClr val="FCF1D0"/>
                </a:solidFill>
                <a:latin typeface="Jost" pitchFamily="34" charset="0"/>
                <a:ea typeface="Jost" pitchFamily="34" charset="-122"/>
                <a:cs typeface="Jost" pitchFamily="34" charset="-120"/>
              </a:rPr>
              <a:t>Stock Pitch </a:t>
            </a:r>
            <a:r>
              <a:rPr lang="en-US" sz="3200" dirty="0">
                <a:solidFill>
                  <a:srgbClr val="FCF1D0"/>
                </a:solidFill>
                <a:latin typeface="Jost" pitchFamily="34" charset="0"/>
                <a:ea typeface="Jost" pitchFamily="34" charset="-122"/>
                <a:cs typeface="Jost" pitchFamily="34" charset="-120"/>
              </a:rPr>
              <a:t>Coca-Cola</a:t>
            </a:r>
            <a:endParaRPr lang="en-US" sz="3200" dirty="0"/>
          </a:p>
        </p:txBody>
      </p:sp>
      <p:sp>
        <p:nvSpPr>
          <p:cNvPr id="13" name="Text 11"/>
          <p:cNvSpPr/>
          <p:nvPr/>
        </p:nvSpPr>
        <p:spPr>
          <a:xfrm>
            <a:off x="609600" y="6177260"/>
            <a:ext cx="4019947" cy="238720"/>
          </a:xfrm>
          <a:prstGeom prst="rect">
            <a:avLst/>
          </a:prstGeom>
          <a:noFill/>
          <a:ln/>
        </p:spPr>
        <p:txBody>
          <a:bodyPr wrap="square" lIns="0" tIns="0" rIns="0" bIns="0" rtlCol="0" anchor="t">
            <a:normAutofit/>
          </a:bodyPr>
          <a:lstStyle/>
          <a:p>
            <a:pPr>
              <a:lnSpc>
                <a:spcPts val="1680"/>
              </a:lnSpc>
            </a:pPr>
            <a:r>
              <a:rPr lang="en-US" sz="1200" b="1" kern="0" spc="50" dirty="0">
                <a:solidFill>
                  <a:srgbClr val="22396F"/>
                </a:solidFill>
                <a:latin typeface="Jost" pitchFamily="34" charset="0"/>
                <a:ea typeface="Jost" pitchFamily="34" charset="-122"/>
                <a:cs typeface="Jost" pitchFamily="34" charset="-120"/>
              </a:rPr>
              <a:t>KO</a:t>
            </a:r>
            <a:r>
              <a:rPr lang="en-US" sz="1200" kern="0" spc="50" dirty="0">
                <a:solidFill>
                  <a:srgbClr val="8590A9"/>
                </a:solidFill>
                <a:latin typeface="Jost" pitchFamily="34" charset="0"/>
                <a:ea typeface="Jost" pitchFamily="34" charset="-122"/>
                <a:cs typeface="Jost" pitchFamily="34" charset="-120"/>
              </a:rPr>
              <a:t> |</a:t>
            </a:r>
            <a:r>
              <a:rPr lang="en-US" sz="1200" kern="0" spc="50" dirty="0">
                <a:solidFill>
                  <a:srgbClr val="22396F"/>
                </a:solidFill>
                <a:latin typeface="Jost" pitchFamily="34" charset="0"/>
                <a:ea typeface="Jost" pitchFamily="34" charset="-122"/>
                <a:cs typeface="Jost" pitchFamily="34" charset="-120"/>
              </a:rPr>
              <a:t> Precio de referencia 92,71 $ </a:t>
            </a:r>
            <a:r>
              <a:rPr lang="en-US" sz="1200" kern="0" spc="50" dirty="0">
                <a:solidFill>
                  <a:srgbClr val="8590A9"/>
                </a:solidFill>
                <a:latin typeface="Jost" pitchFamily="34" charset="0"/>
                <a:ea typeface="Jost" pitchFamily="34" charset="-122"/>
                <a:cs typeface="Jost" pitchFamily="34" charset="-120"/>
              </a:rPr>
              <a:t>|</a:t>
            </a:r>
            <a:r>
              <a:rPr lang="en-US" sz="1200" kern="0" spc="50" dirty="0">
                <a:solidFill>
                  <a:srgbClr val="22396F"/>
                </a:solidFill>
                <a:latin typeface="Jost" pitchFamily="34" charset="0"/>
                <a:ea typeface="Jost" pitchFamily="34" charset="-122"/>
                <a:cs typeface="Jost" pitchFamily="34" charset="-120"/>
              </a:rPr>
              <a:t> </a:t>
            </a:r>
            <a:endParaRPr lang="en-US" sz="1200" dirty="0"/>
          </a:p>
        </p:txBody>
      </p:sp>
      <p:sp>
        <p:nvSpPr>
          <p:cNvPr id="14" name="Text 12"/>
          <p:cNvSpPr/>
          <p:nvPr/>
        </p:nvSpPr>
        <p:spPr>
          <a:xfrm>
            <a:off x="3233883" y="6146800"/>
            <a:ext cx="2223640" cy="299641"/>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5A5C77"/>
                </a:solidFill>
                <a:latin typeface="Pinyon Script" pitchFamily="18" charset="0"/>
                <a:ea typeface="Pinyon Script" pitchFamily="18" charset="-122"/>
                <a:cs typeface="Pinyon Script" pitchFamily="18" charset="-120"/>
              </a:rPr>
              <a:t>Carlos Arizcuren Elizondo</a:t>
            </a:r>
            <a:endParaRPr lang="en-US" sz="1800" dirty="0"/>
          </a:p>
        </p:txBody>
      </p:sp>
    </p:spTree>
    <p:extLst>
      <p:ext uri="{BB962C8B-B14F-4D97-AF65-F5344CB8AC3E}">
        <p14:creationId xmlns:p14="http://schemas.microsoft.com/office/powerpoint/2010/main" val="1984046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255174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RESUMEN DE LA TESIS</a:t>
            </a:r>
            <a:endParaRPr lang="en-US" sz="1200" dirty="0"/>
          </a:p>
        </p:txBody>
      </p:sp>
      <p:sp>
        <p:nvSpPr>
          <p:cNvPr id="3" name="Text 1"/>
          <p:cNvSpPr/>
          <p:nvPr/>
        </p:nvSpPr>
        <p:spPr>
          <a:xfrm>
            <a:off x="8585200" y="355600"/>
            <a:ext cx="381000"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9017000" y="379710"/>
            <a:ext cx="6350" cy="165100"/>
          </a:xfrm>
          <a:prstGeom prst="rect">
            <a:avLst/>
          </a:prstGeom>
          <a:solidFill>
            <a:srgbClr val="010736"/>
          </a:solidFill>
          <a:ln/>
        </p:spPr>
        <p:txBody>
          <a:bodyPr/>
          <a:lstStyle/>
          <a:p>
            <a:endParaRPr lang="en-US"/>
          </a:p>
        </p:txBody>
      </p:sp>
      <p:sp>
        <p:nvSpPr>
          <p:cNvPr id="5" name="Text 3"/>
          <p:cNvSpPr/>
          <p:nvPr/>
        </p:nvSpPr>
        <p:spPr>
          <a:xfrm>
            <a:off x="9093200" y="355600"/>
            <a:ext cx="2540000" cy="238720"/>
          </a:xfrm>
          <a:prstGeom prst="rect">
            <a:avLst/>
          </a:prstGeom>
          <a:noFill/>
          <a:ln/>
        </p:spPr>
        <p:txBody>
          <a:bodyPr wrap="non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kern="0" spc="-25" dirty="0"/>
              <a:t>E</a:t>
            </a:r>
            <a:r>
              <a:rPr lang="en-US" sz="2400" b="0" i="0" kern="0" spc="-25" dirty="0">
                <a:solidFill>
                  <a:srgbClr val="010736"/>
                </a:solidFill>
                <a:latin typeface="Jost" pitchFamily="34" charset="0"/>
                <a:ea typeface="Jost" pitchFamily="34" charset="-122"/>
                <a:cs typeface="Jost" pitchFamily="34" charset="-120"/>
              </a:rPr>
              <a:t>l valor intrínseco de 87,7 $ por acción deja un potencial del −5,5 % y una relación riesgo/beneficio desfavorable</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680212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TRES ARGUMENTOS</a:t>
            </a:r>
            <a:endParaRPr lang="en-US" sz="1200" dirty="0"/>
          </a:p>
        </p:txBody>
      </p:sp>
      <p:sp>
        <p:nvSpPr>
          <p:cNvPr id="9" name="Shape 7"/>
          <p:cNvSpPr/>
          <p:nvPr/>
        </p:nvSpPr>
        <p:spPr>
          <a:xfrm>
            <a:off x="609600" y="2211983"/>
            <a:ext cx="6604000" cy="0"/>
          </a:xfrm>
          <a:prstGeom prst="line">
            <a:avLst/>
          </a:prstGeom>
          <a:noFill/>
          <a:ln w="9525">
            <a:solidFill>
              <a:srgbClr val="010736"/>
            </a:solidFill>
            <a:prstDash val="solid"/>
          </a:ln>
        </p:spPr>
        <p:txBody>
          <a:bodyPr/>
          <a:lstStyle/>
          <a:p>
            <a:endParaRPr lang="en-US"/>
          </a:p>
        </p:txBody>
      </p:sp>
      <p:sp>
        <p:nvSpPr>
          <p:cNvPr id="10" name="Text 8"/>
          <p:cNvSpPr/>
          <p:nvPr/>
        </p:nvSpPr>
        <p:spPr>
          <a:xfrm>
            <a:off x="609600" y="2365970"/>
            <a:ext cx="431800" cy="540941"/>
          </a:xfrm>
          <a:prstGeom prst="rect">
            <a:avLst/>
          </a:prstGeom>
          <a:noFill/>
          <a:ln/>
        </p:spPr>
        <p:txBody>
          <a:bodyPr wrap="square" lIns="0" tIns="0" rIns="0" bIns="0" rtlCol="0" anchor="t">
            <a:normAutofit/>
          </a:bodyPr>
          <a:lstStyle/>
          <a:p>
            <a:pPr marL="0" indent="0" algn="l">
              <a:lnSpc>
                <a:spcPts val="1980"/>
              </a:lnSpc>
              <a:buNone/>
            </a:pPr>
            <a:r>
              <a:rPr lang="en-US" sz="1800" dirty="0">
                <a:solidFill>
                  <a:srgbClr val="22396F"/>
                </a:solidFill>
                <a:latin typeface="Jost" pitchFamily="34" charset="0"/>
                <a:ea typeface="Jost" pitchFamily="34" charset="-122"/>
                <a:cs typeface="Jost" pitchFamily="34" charset="-120"/>
              </a:rPr>
              <a:t>01</a:t>
            </a:r>
            <a:endParaRPr lang="en-US" sz="1800" dirty="0"/>
          </a:p>
        </p:txBody>
      </p:sp>
      <p:sp>
        <p:nvSpPr>
          <p:cNvPr id="11" name="Text 9"/>
          <p:cNvSpPr/>
          <p:nvPr/>
        </p:nvSpPr>
        <p:spPr>
          <a:xfrm>
            <a:off x="1117600" y="2365970"/>
            <a:ext cx="6148070" cy="540941"/>
          </a:xfrm>
          <a:prstGeom prst="rect">
            <a:avLst/>
          </a:prstGeom>
          <a:noFill/>
          <a:ln/>
        </p:spPr>
        <p:txBody>
          <a:bodyPr wrap="square" lIns="0" tIns="0" rIns="0" bIns="0" rtlCol="0" anchor="t">
            <a:normAutofit/>
          </a:bodyPr>
          <a:lstStyle/>
          <a:p>
            <a:pPr>
              <a:lnSpc>
                <a:spcPts val="2030"/>
              </a:lnSpc>
            </a:pPr>
            <a:r>
              <a:rPr lang="en-US" sz="1450" b="1" dirty="0">
                <a:solidFill>
                  <a:srgbClr val="010736"/>
                </a:solidFill>
                <a:latin typeface="EB Garamond" pitchFamily="18" charset="0"/>
                <a:ea typeface="EB Garamond" pitchFamily="18" charset="-122"/>
              </a:rPr>
              <a:t>La </a:t>
            </a:r>
            <a:r>
              <a:rPr lang="en-US" sz="1450" b="1" dirty="0" err="1">
                <a:solidFill>
                  <a:srgbClr val="010736"/>
                </a:solidFill>
                <a:latin typeface="EB Garamond" pitchFamily="18" charset="0"/>
                <a:ea typeface="EB Garamond" pitchFamily="18" charset="-122"/>
              </a:rPr>
              <a:t>marca</a:t>
            </a:r>
            <a:r>
              <a:rPr lang="en-US" sz="1450" b="1" dirty="0">
                <a:solidFill>
                  <a:srgbClr val="010736"/>
                </a:solidFill>
                <a:latin typeface="EB Garamond" pitchFamily="18" charset="0"/>
                <a:ea typeface="EB Garamond" pitchFamily="18" charset="-122"/>
              </a:rPr>
              <a:t> de </a:t>
            </a:r>
            <a:r>
              <a:rPr lang="en-US" sz="1450" b="1" dirty="0" err="1">
                <a:solidFill>
                  <a:srgbClr val="010736"/>
                </a:solidFill>
                <a:latin typeface="EB Garamond" pitchFamily="18" charset="0"/>
                <a:ea typeface="EB Garamond" pitchFamily="18" charset="-122"/>
              </a:rPr>
              <a:t>consumo</a:t>
            </a:r>
            <a:r>
              <a:rPr lang="en-US" sz="1450" b="1" dirty="0">
                <a:solidFill>
                  <a:srgbClr val="010736"/>
                </a:solidFill>
                <a:latin typeface="EB Garamond" pitchFamily="18" charset="0"/>
                <a:ea typeface="EB Garamond" pitchFamily="18" charset="-122"/>
              </a:rPr>
              <a:t> </a:t>
            </a:r>
            <a:r>
              <a:rPr lang="en-US" sz="1450" b="1" dirty="0" err="1">
                <a:solidFill>
                  <a:srgbClr val="010736"/>
                </a:solidFill>
                <a:latin typeface="EB Garamond" pitchFamily="18" charset="0"/>
                <a:ea typeface="EB Garamond" pitchFamily="18" charset="-122"/>
              </a:rPr>
              <a:t>más</a:t>
            </a:r>
            <a:r>
              <a:rPr lang="en-US" sz="1450" b="1" dirty="0">
                <a:solidFill>
                  <a:srgbClr val="010736"/>
                </a:solidFill>
                <a:latin typeface="EB Garamond" pitchFamily="18" charset="0"/>
                <a:ea typeface="EB Garamond" pitchFamily="18" charset="-122"/>
              </a:rPr>
              <a:t> </a:t>
            </a:r>
            <a:r>
              <a:rPr lang="en-US" sz="1450" b="1" dirty="0" err="1">
                <a:solidFill>
                  <a:srgbClr val="010736"/>
                </a:solidFill>
                <a:latin typeface="EB Garamond" pitchFamily="18" charset="0"/>
                <a:ea typeface="EB Garamond" pitchFamily="18" charset="-122"/>
              </a:rPr>
              <a:t>elegida</a:t>
            </a:r>
            <a:r>
              <a:rPr lang="en-US" sz="1450" b="1" dirty="0">
                <a:solidFill>
                  <a:srgbClr val="010736"/>
                </a:solidFill>
                <a:latin typeface="EB Garamond" pitchFamily="18" charset="0"/>
                <a:ea typeface="EB Garamond" pitchFamily="18" charset="-122"/>
              </a:rPr>
              <a:t> </a:t>
            </a:r>
            <a:r>
              <a:rPr lang="en-US" sz="1450" b="1" dirty="0" err="1">
                <a:solidFill>
                  <a:srgbClr val="010736"/>
                </a:solidFill>
                <a:latin typeface="EB Garamond" pitchFamily="18" charset="0"/>
                <a:ea typeface="EB Garamond" pitchFamily="18" charset="-122"/>
              </a:rPr>
              <a:t>por</a:t>
            </a:r>
            <a:r>
              <a:rPr lang="en-US" sz="1450" b="1" dirty="0">
                <a:solidFill>
                  <a:srgbClr val="010736"/>
                </a:solidFill>
                <a:latin typeface="EB Garamond" pitchFamily="18" charset="0"/>
                <a:ea typeface="EB Garamond" pitchFamily="18" charset="-122"/>
              </a:rPr>
              <a:t> </a:t>
            </a:r>
            <a:r>
              <a:rPr lang="en-US" sz="1450" b="1" dirty="0" err="1">
                <a:solidFill>
                  <a:srgbClr val="010736"/>
                </a:solidFill>
                <a:latin typeface="EB Garamond" pitchFamily="18" charset="0"/>
                <a:ea typeface="EB Garamond" pitchFamily="18" charset="-122"/>
              </a:rPr>
              <a:t>los</a:t>
            </a:r>
            <a:r>
              <a:rPr lang="en-US" sz="1450" b="1" dirty="0">
                <a:solidFill>
                  <a:srgbClr val="010736"/>
                </a:solidFill>
                <a:latin typeface="EB Garamond" pitchFamily="18" charset="0"/>
                <a:ea typeface="EB Garamond" pitchFamily="18" charset="-122"/>
              </a:rPr>
              <a:t> </a:t>
            </a:r>
            <a:r>
              <a:rPr lang="en-US" sz="1450" b="1" dirty="0" err="1">
                <a:solidFill>
                  <a:srgbClr val="010736"/>
                </a:solidFill>
                <a:latin typeface="EB Garamond" pitchFamily="18" charset="0"/>
                <a:ea typeface="EB Garamond" pitchFamily="18" charset="-122"/>
              </a:rPr>
              <a:t>consumidores</a:t>
            </a:r>
            <a:r>
              <a:rPr lang="en-US" sz="1450" b="1" dirty="0">
                <a:solidFill>
                  <a:srgbClr val="010736"/>
                </a:solidFill>
                <a:latin typeface="EB Garamond" pitchFamily="18" charset="0"/>
                <a:ea typeface="EB Garamond" pitchFamily="18" charset="-122"/>
              </a:rPr>
              <a:t>. </a:t>
            </a:r>
            <a:r>
              <a:rPr lang="en-US" sz="1450" dirty="0">
                <a:solidFill>
                  <a:srgbClr val="010736"/>
                </a:solidFill>
                <a:latin typeface="EB Garamond" pitchFamily="18" charset="0"/>
                <a:ea typeface="EB Garamond" pitchFamily="18" charset="-122"/>
                <a:cs typeface="EB Garamond" pitchFamily="18" charset="-120"/>
              </a:rPr>
              <a:t>Coca-Cola es el Refresco </a:t>
            </a:r>
            <a:r>
              <a:rPr lang="en-US" sz="1450" dirty="0" err="1">
                <a:solidFill>
                  <a:srgbClr val="010736"/>
                </a:solidFill>
                <a:latin typeface="EB Garamond" pitchFamily="18" charset="0"/>
                <a:ea typeface="EB Garamond" pitchFamily="18" charset="-122"/>
                <a:cs typeface="EB Garamond" pitchFamily="18" charset="-120"/>
              </a:rPr>
              <a:t>más</a:t>
            </a:r>
            <a:r>
              <a:rPr lang="en-US" sz="1450" dirty="0">
                <a:solidFill>
                  <a:srgbClr val="010736"/>
                </a:solidFill>
                <a:latin typeface="EB Garamond" pitchFamily="18" charset="0"/>
                <a:ea typeface="EB Garamond" pitchFamily="18" charset="-122"/>
                <a:cs typeface="EB Garamond" pitchFamily="18" charset="-120"/>
              </a:rPr>
              <a:t> </a:t>
            </a:r>
            <a:r>
              <a:rPr lang="en-US" sz="1450" dirty="0" err="1">
                <a:solidFill>
                  <a:srgbClr val="010736"/>
                </a:solidFill>
                <a:latin typeface="EB Garamond" pitchFamily="18" charset="0"/>
                <a:ea typeface="EB Garamond" pitchFamily="18" charset="-122"/>
                <a:cs typeface="EB Garamond" pitchFamily="18" charset="-120"/>
              </a:rPr>
              <a:t>consumido</a:t>
            </a:r>
            <a:r>
              <a:rPr lang="en-US" sz="1450" dirty="0">
                <a:solidFill>
                  <a:srgbClr val="010736"/>
                </a:solidFill>
                <a:latin typeface="EB Garamond" pitchFamily="18" charset="0"/>
                <a:ea typeface="EB Garamond" pitchFamily="18" charset="-122"/>
                <a:cs typeface="EB Garamond" pitchFamily="18" charset="-120"/>
              </a:rPr>
              <a:t> </a:t>
            </a:r>
            <a:r>
              <a:rPr lang="en-US" sz="1450" dirty="0" err="1">
                <a:solidFill>
                  <a:srgbClr val="010736"/>
                </a:solidFill>
                <a:latin typeface="EB Garamond" pitchFamily="18" charset="0"/>
                <a:ea typeface="EB Garamond" pitchFamily="18" charset="-122"/>
                <a:cs typeface="EB Garamond" pitchFamily="18" charset="-120"/>
              </a:rPr>
              <a:t>en</a:t>
            </a:r>
            <a:r>
              <a:rPr lang="en-US" sz="1450" dirty="0">
                <a:solidFill>
                  <a:srgbClr val="010736"/>
                </a:solidFill>
                <a:latin typeface="EB Garamond" pitchFamily="18" charset="0"/>
                <a:ea typeface="EB Garamond" pitchFamily="18" charset="-122"/>
                <a:cs typeface="EB Garamond" pitchFamily="18" charset="-120"/>
              </a:rPr>
              <a:t> </a:t>
            </a:r>
            <a:r>
              <a:rPr lang="en-US" sz="1450" dirty="0" err="1">
                <a:solidFill>
                  <a:srgbClr val="010736"/>
                </a:solidFill>
                <a:latin typeface="EB Garamond" pitchFamily="18" charset="0"/>
                <a:ea typeface="EB Garamond" pitchFamily="18" charset="-122"/>
                <a:cs typeface="EB Garamond" pitchFamily="18" charset="-120"/>
              </a:rPr>
              <a:t>todo</a:t>
            </a:r>
            <a:r>
              <a:rPr lang="en-US" sz="1450" dirty="0">
                <a:solidFill>
                  <a:srgbClr val="010736"/>
                </a:solidFill>
                <a:latin typeface="EB Garamond" pitchFamily="18" charset="0"/>
                <a:ea typeface="EB Garamond" pitchFamily="18" charset="-122"/>
                <a:cs typeface="EB Garamond" pitchFamily="18" charset="-120"/>
              </a:rPr>
              <a:t> el </a:t>
            </a:r>
            <a:r>
              <a:rPr lang="en-US" sz="1450" dirty="0" err="1">
                <a:solidFill>
                  <a:srgbClr val="010736"/>
                </a:solidFill>
                <a:latin typeface="EB Garamond" pitchFamily="18" charset="0"/>
                <a:ea typeface="EB Garamond" pitchFamily="18" charset="-122"/>
                <a:cs typeface="EB Garamond" pitchFamily="18" charset="-120"/>
              </a:rPr>
              <a:t>mundo</a:t>
            </a:r>
            <a:r>
              <a:rPr lang="en-US" sz="1450" dirty="0">
                <a:solidFill>
                  <a:srgbClr val="010736"/>
                </a:solidFill>
                <a:latin typeface="EB Garamond" pitchFamily="18" charset="0"/>
                <a:ea typeface="EB Garamond" pitchFamily="18" charset="-122"/>
                <a:cs typeface="EB Garamond" pitchFamily="18" charset="-120"/>
              </a:rPr>
              <a:t>, y </a:t>
            </a:r>
            <a:r>
              <a:rPr lang="en-US" sz="1450" dirty="0" err="1">
                <a:solidFill>
                  <a:srgbClr val="010736"/>
                </a:solidFill>
                <a:latin typeface="EB Garamond" pitchFamily="18" charset="0"/>
                <a:ea typeface="EB Garamond" pitchFamily="18" charset="-122"/>
                <a:cs typeface="EB Garamond" pitchFamily="18" charset="-120"/>
              </a:rPr>
              <a:t>una</a:t>
            </a:r>
            <a:r>
              <a:rPr lang="en-US" sz="1450" dirty="0">
                <a:solidFill>
                  <a:srgbClr val="010736"/>
                </a:solidFill>
                <a:latin typeface="EB Garamond" pitchFamily="18" charset="0"/>
                <a:ea typeface="EB Garamond" pitchFamily="18" charset="-122"/>
                <a:cs typeface="EB Garamond" pitchFamily="18" charset="-120"/>
              </a:rPr>
              <a:t> de las 5 Bebidas </a:t>
            </a:r>
            <a:r>
              <a:rPr lang="en-US" sz="1450" dirty="0" err="1">
                <a:solidFill>
                  <a:srgbClr val="010736"/>
                </a:solidFill>
                <a:latin typeface="EB Garamond" pitchFamily="18" charset="0"/>
                <a:ea typeface="EB Garamond" pitchFamily="18" charset="-122"/>
                <a:cs typeface="EB Garamond" pitchFamily="18" charset="-120"/>
              </a:rPr>
              <a:t>más</a:t>
            </a:r>
            <a:r>
              <a:rPr lang="en-US" sz="1450" dirty="0">
                <a:solidFill>
                  <a:srgbClr val="010736"/>
                </a:solidFill>
                <a:latin typeface="EB Garamond" pitchFamily="18" charset="0"/>
                <a:ea typeface="EB Garamond" pitchFamily="18" charset="-122"/>
                <a:cs typeface="EB Garamond" pitchFamily="18" charset="-120"/>
              </a:rPr>
              <a:t> </a:t>
            </a:r>
            <a:r>
              <a:rPr lang="en-US" sz="1450" dirty="0" err="1">
                <a:solidFill>
                  <a:srgbClr val="010736"/>
                </a:solidFill>
                <a:latin typeface="EB Garamond" pitchFamily="18" charset="0"/>
                <a:ea typeface="EB Garamond" pitchFamily="18" charset="-122"/>
                <a:cs typeface="EB Garamond" pitchFamily="18" charset="-120"/>
              </a:rPr>
              <a:t>populares</a:t>
            </a:r>
            <a:r>
              <a:rPr lang="en-US" sz="1450" dirty="0">
                <a:solidFill>
                  <a:srgbClr val="010736"/>
                </a:solidFill>
                <a:latin typeface="EB Garamond" pitchFamily="18" charset="0"/>
                <a:ea typeface="EB Garamond" pitchFamily="18" charset="-122"/>
                <a:cs typeface="EB Garamond" pitchFamily="18" charset="-120"/>
              </a:rPr>
              <a:t>.</a:t>
            </a:r>
            <a:r>
              <a:rPr lang="en-US" sz="1450" b="1" dirty="0">
                <a:solidFill>
                  <a:srgbClr val="010736"/>
                </a:solidFill>
                <a:latin typeface="EB Garamond" pitchFamily="18" charset="0"/>
                <a:ea typeface="EB Garamond" pitchFamily="18" charset="-122"/>
              </a:rPr>
              <a:t> </a:t>
            </a:r>
            <a:endParaRPr lang="en-US" sz="1450" dirty="0"/>
          </a:p>
        </p:txBody>
      </p:sp>
      <p:sp>
        <p:nvSpPr>
          <p:cNvPr id="12" name="Shape 10"/>
          <p:cNvSpPr/>
          <p:nvPr/>
        </p:nvSpPr>
        <p:spPr>
          <a:xfrm>
            <a:off x="609600" y="3037086"/>
            <a:ext cx="6604000" cy="0"/>
          </a:xfrm>
          <a:prstGeom prst="line">
            <a:avLst/>
          </a:prstGeom>
          <a:noFill/>
          <a:ln w="6350">
            <a:solidFill>
              <a:srgbClr val="D0CECE"/>
            </a:solidFill>
            <a:prstDash val="solid"/>
          </a:ln>
        </p:spPr>
        <p:txBody>
          <a:bodyPr/>
          <a:lstStyle/>
          <a:p>
            <a:endParaRPr lang="en-US"/>
          </a:p>
        </p:txBody>
      </p:sp>
      <p:sp>
        <p:nvSpPr>
          <p:cNvPr id="13" name="Text 11"/>
          <p:cNvSpPr/>
          <p:nvPr/>
        </p:nvSpPr>
        <p:spPr>
          <a:xfrm>
            <a:off x="609600" y="3192661"/>
            <a:ext cx="431800" cy="540941"/>
          </a:xfrm>
          <a:prstGeom prst="rect">
            <a:avLst/>
          </a:prstGeom>
          <a:noFill/>
          <a:ln/>
        </p:spPr>
        <p:txBody>
          <a:bodyPr wrap="square" lIns="0" tIns="0" rIns="0" bIns="0" rtlCol="0" anchor="t">
            <a:normAutofit/>
          </a:bodyPr>
          <a:lstStyle/>
          <a:p>
            <a:pPr marL="0" indent="0" algn="l">
              <a:lnSpc>
                <a:spcPts val="1980"/>
              </a:lnSpc>
              <a:buNone/>
            </a:pPr>
            <a:r>
              <a:rPr lang="en-US" sz="1800" dirty="0">
                <a:solidFill>
                  <a:srgbClr val="22396F"/>
                </a:solidFill>
                <a:latin typeface="Jost" pitchFamily="34" charset="0"/>
                <a:ea typeface="Jost" pitchFamily="34" charset="-122"/>
                <a:cs typeface="Jost" pitchFamily="34" charset="-120"/>
              </a:rPr>
              <a:t>02</a:t>
            </a:r>
            <a:endParaRPr lang="en-US" sz="1800" dirty="0"/>
          </a:p>
        </p:txBody>
      </p:sp>
      <p:sp>
        <p:nvSpPr>
          <p:cNvPr id="14" name="Text 12"/>
          <p:cNvSpPr/>
          <p:nvPr/>
        </p:nvSpPr>
        <p:spPr>
          <a:xfrm>
            <a:off x="1117600" y="3192661"/>
            <a:ext cx="6148070" cy="540941"/>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010736"/>
                </a:solidFill>
                <a:latin typeface="EB Garamond" pitchFamily="18" charset="0"/>
                <a:ea typeface="EB Garamond" pitchFamily="18" charset="-122"/>
                <a:cs typeface="EB Garamond" pitchFamily="18" charset="-120"/>
              </a:rPr>
              <a:t>Crecimiento maduro y por precio.</a:t>
            </a:r>
            <a:r>
              <a:rPr lang="en-US" sz="1450" dirty="0">
                <a:solidFill>
                  <a:srgbClr val="010736"/>
                </a:solidFill>
                <a:latin typeface="EB Garamond" pitchFamily="18" charset="0"/>
                <a:ea typeface="EB Garamond" pitchFamily="18" charset="-122"/>
                <a:cs typeface="EB Garamond" pitchFamily="18" charset="-120"/>
              </a:rPr>
              <a:t> Volumen plano en 2025 y ingresos proyectados al 4,2 % anual hasta 2035.</a:t>
            </a:r>
            <a:endParaRPr lang="en-US" sz="1450" dirty="0"/>
          </a:p>
        </p:txBody>
      </p:sp>
      <p:sp>
        <p:nvSpPr>
          <p:cNvPr id="15" name="Shape 13"/>
          <p:cNvSpPr/>
          <p:nvPr/>
        </p:nvSpPr>
        <p:spPr>
          <a:xfrm>
            <a:off x="609600" y="3863777"/>
            <a:ext cx="6604000" cy="0"/>
          </a:xfrm>
          <a:prstGeom prst="line">
            <a:avLst/>
          </a:prstGeom>
          <a:noFill/>
          <a:ln w="6350">
            <a:solidFill>
              <a:srgbClr val="D0CECE"/>
            </a:solidFill>
            <a:prstDash val="solid"/>
          </a:ln>
        </p:spPr>
        <p:txBody>
          <a:bodyPr/>
          <a:lstStyle/>
          <a:p>
            <a:endParaRPr lang="en-US"/>
          </a:p>
        </p:txBody>
      </p:sp>
      <p:sp>
        <p:nvSpPr>
          <p:cNvPr id="16" name="Text 14"/>
          <p:cNvSpPr/>
          <p:nvPr/>
        </p:nvSpPr>
        <p:spPr>
          <a:xfrm>
            <a:off x="609600" y="4019352"/>
            <a:ext cx="431800" cy="540941"/>
          </a:xfrm>
          <a:prstGeom prst="rect">
            <a:avLst/>
          </a:prstGeom>
          <a:noFill/>
          <a:ln/>
        </p:spPr>
        <p:txBody>
          <a:bodyPr wrap="square" lIns="0" tIns="0" rIns="0" bIns="0" rtlCol="0" anchor="t">
            <a:normAutofit/>
          </a:bodyPr>
          <a:lstStyle/>
          <a:p>
            <a:pPr marL="0" indent="0" algn="l">
              <a:lnSpc>
                <a:spcPts val="1980"/>
              </a:lnSpc>
              <a:buNone/>
            </a:pPr>
            <a:r>
              <a:rPr lang="en-US" sz="1800" dirty="0">
                <a:solidFill>
                  <a:srgbClr val="22396F"/>
                </a:solidFill>
                <a:latin typeface="Jost" pitchFamily="34" charset="0"/>
                <a:ea typeface="Jost" pitchFamily="34" charset="-122"/>
                <a:cs typeface="Jost" pitchFamily="34" charset="-120"/>
              </a:rPr>
              <a:t>03</a:t>
            </a:r>
            <a:endParaRPr lang="en-US" sz="1800" dirty="0"/>
          </a:p>
        </p:txBody>
      </p:sp>
      <p:sp>
        <p:nvSpPr>
          <p:cNvPr id="17" name="Text 15"/>
          <p:cNvSpPr/>
          <p:nvPr/>
        </p:nvSpPr>
        <p:spPr>
          <a:xfrm>
            <a:off x="1117600" y="4019352"/>
            <a:ext cx="6148070" cy="1004289"/>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010736"/>
                </a:solidFill>
                <a:latin typeface="EB Garamond" pitchFamily="18" charset="0"/>
                <a:ea typeface="EB Garamond" pitchFamily="18" charset="-122"/>
                <a:cs typeface="EB Garamond" pitchFamily="18" charset="-120"/>
              </a:rPr>
              <a:t>El precio descuenta la perfección.</a:t>
            </a:r>
            <a:r>
              <a:rPr lang="en-US" sz="1450" dirty="0">
                <a:solidFill>
                  <a:srgbClr val="010736"/>
                </a:solidFill>
                <a:latin typeface="EB Garamond" pitchFamily="18" charset="0"/>
                <a:ea typeface="EB Garamond" pitchFamily="18" charset="-122"/>
                <a:cs typeface="EB Garamond" pitchFamily="18" charset="-120"/>
              </a:rPr>
              <a:t> Solo el DCF con un múltiplo de salida de 20x </a:t>
            </a:r>
            <a:r>
              <a:rPr lang="en-US" sz="1450" dirty="0" err="1">
                <a:solidFill>
                  <a:srgbClr val="010736"/>
                </a:solidFill>
                <a:latin typeface="EB Garamond" pitchFamily="18" charset="0"/>
                <a:ea typeface="EB Garamond" pitchFamily="18" charset="-122"/>
                <a:cs typeface="EB Garamond" pitchFamily="18" charset="-120"/>
              </a:rPr>
              <a:t>encaja</a:t>
            </a:r>
            <a:r>
              <a:rPr lang="en-US" sz="1450" dirty="0">
                <a:solidFill>
                  <a:srgbClr val="010736"/>
                </a:solidFill>
                <a:latin typeface="EB Garamond" pitchFamily="18" charset="0"/>
                <a:ea typeface="EB Garamond" pitchFamily="18" charset="-122"/>
                <a:cs typeface="EB Garamond" pitchFamily="18" charset="-120"/>
              </a:rPr>
              <a:t> </a:t>
            </a:r>
            <a:r>
              <a:rPr lang="en-US" sz="1450" dirty="0" err="1">
                <a:solidFill>
                  <a:srgbClr val="010736"/>
                </a:solidFill>
                <a:latin typeface="EB Garamond" pitchFamily="18" charset="0"/>
                <a:ea typeface="EB Garamond" pitchFamily="18" charset="-122"/>
                <a:cs typeface="EB Garamond" pitchFamily="18" charset="-120"/>
              </a:rPr>
              <a:t>en</a:t>
            </a:r>
            <a:r>
              <a:rPr lang="en-US" sz="1450" dirty="0">
                <a:solidFill>
                  <a:srgbClr val="010736"/>
                </a:solidFill>
                <a:latin typeface="EB Garamond" pitchFamily="18" charset="0"/>
                <a:ea typeface="EB Garamond" pitchFamily="18" charset="-122"/>
                <a:cs typeface="EB Garamond" pitchFamily="18" charset="-120"/>
              </a:rPr>
              <a:t> el valor de la </a:t>
            </a:r>
            <a:r>
              <a:rPr lang="en-US" sz="1450" dirty="0" err="1">
                <a:solidFill>
                  <a:srgbClr val="010736"/>
                </a:solidFill>
                <a:latin typeface="EB Garamond" pitchFamily="18" charset="0"/>
                <a:ea typeface="EB Garamond" pitchFamily="18" charset="-122"/>
                <a:cs typeface="EB Garamond" pitchFamily="18" charset="-120"/>
              </a:rPr>
              <a:t>cotización</a:t>
            </a:r>
            <a:r>
              <a:rPr lang="en-US" sz="1450" dirty="0">
                <a:solidFill>
                  <a:srgbClr val="010736"/>
                </a:solidFill>
                <a:latin typeface="EB Garamond" pitchFamily="18" charset="0"/>
                <a:ea typeface="EB Garamond" pitchFamily="18" charset="-122"/>
                <a:cs typeface="EB Garamond" pitchFamily="18" charset="-120"/>
              </a:rPr>
              <a:t>. </a:t>
            </a:r>
            <a:r>
              <a:rPr lang="en-US" sz="1450" dirty="0" err="1">
                <a:solidFill>
                  <a:srgbClr val="010736"/>
                </a:solidFill>
                <a:latin typeface="EB Garamond" pitchFamily="18" charset="0"/>
                <a:ea typeface="EB Garamond" pitchFamily="18" charset="-122"/>
                <a:cs typeface="EB Garamond" pitchFamily="18" charset="-120"/>
              </a:rPr>
              <a:t>Mientras</a:t>
            </a:r>
            <a:r>
              <a:rPr lang="en-US" sz="1450" dirty="0">
                <a:solidFill>
                  <a:srgbClr val="010736"/>
                </a:solidFill>
                <a:latin typeface="EB Garamond" pitchFamily="18" charset="0"/>
                <a:ea typeface="EB Garamond" pitchFamily="18" charset="-122"/>
                <a:cs typeface="EB Garamond" pitchFamily="18" charset="-120"/>
              </a:rPr>
              <a:t> tanto el escenario </a:t>
            </a:r>
            <a:r>
              <a:rPr lang="en-US" sz="1450" dirty="0" err="1">
                <a:solidFill>
                  <a:srgbClr val="010736"/>
                </a:solidFill>
                <a:latin typeface="EB Garamond" pitchFamily="18" charset="0"/>
                <a:ea typeface="EB Garamond" pitchFamily="18" charset="-122"/>
                <a:cs typeface="EB Garamond" pitchFamily="18" charset="-120"/>
              </a:rPr>
              <a:t>bajista</a:t>
            </a:r>
            <a:r>
              <a:rPr lang="en-US" sz="1450" dirty="0">
                <a:solidFill>
                  <a:srgbClr val="010736"/>
                </a:solidFill>
                <a:latin typeface="EB Garamond" pitchFamily="18" charset="0"/>
                <a:ea typeface="EB Garamond" pitchFamily="18" charset="-122"/>
                <a:cs typeface="EB Garamond" pitchFamily="18" charset="-120"/>
              </a:rPr>
              <a:t> la </a:t>
            </a:r>
            <a:r>
              <a:rPr lang="en-US" sz="1450" dirty="0" err="1">
                <a:solidFill>
                  <a:srgbClr val="010736"/>
                </a:solidFill>
                <a:latin typeface="EB Garamond" pitchFamily="18" charset="0"/>
                <a:ea typeface="EB Garamond" pitchFamily="18" charset="-122"/>
                <a:cs typeface="EB Garamond" pitchFamily="18" charset="-120"/>
              </a:rPr>
              <a:t>valora</a:t>
            </a:r>
            <a:r>
              <a:rPr lang="en-US" sz="1450" dirty="0">
                <a:solidFill>
                  <a:srgbClr val="010736"/>
                </a:solidFill>
                <a:latin typeface="EB Garamond" pitchFamily="18" charset="0"/>
                <a:ea typeface="EB Garamond" pitchFamily="18" charset="-122"/>
                <a:cs typeface="EB Garamond" pitchFamily="18" charset="-120"/>
              </a:rPr>
              <a:t> un 17 % </a:t>
            </a:r>
            <a:r>
              <a:rPr lang="en-US" sz="1450" dirty="0" err="1">
                <a:solidFill>
                  <a:srgbClr val="010736"/>
                </a:solidFill>
                <a:latin typeface="EB Garamond" pitchFamily="18" charset="0"/>
                <a:ea typeface="EB Garamond" pitchFamily="18" charset="-122"/>
                <a:cs typeface="EB Garamond" pitchFamily="18" charset="-120"/>
              </a:rPr>
              <a:t>por</a:t>
            </a:r>
            <a:r>
              <a:rPr lang="en-US" sz="1450" dirty="0">
                <a:solidFill>
                  <a:srgbClr val="010736"/>
                </a:solidFill>
                <a:latin typeface="EB Garamond" pitchFamily="18" charset="0"/>
                <a:ea typeface="EB Garamond" pitchFamily="18" charset="-122"/>
                <a:cs typeface="EB Garamond" pitchFamily="18" charset="-120"/>
              </a:rPr>
              <a:t> </a:t>
            </a:r>
            <a:r>
              <a:rPr lang="en-US" sz="1450" dirty="0" err="1">
                <a:solidFill>
                  <a:srgbClr val="010736"/>
                </a:solidFill>
                <a:latin typeface="EB Garamond" pitchFamily="18" charset="0"/>
                <a:ea typeface="EB Garamond" pitchFamily="18" charset="-122"/>
                <a:cs typeface="EB Garamond" pitchFamily="18" charset="-120"/>
              </a:rPr>
              <a:t>debajo</a:t>
            </a:r>
            <a:r>
              <a:rPr lang="en-US" sz="1450" dirty="0">
                <a:solidFill>
                  <a:srgbClr val="010736"/>
                </a:solidFill>
                <a:latin typeface="EB Garamond" pitchFamily="18" charset="0"/>
                <a:ea typeface="EB Garamond" pitchFamily="18" charset="-122"/>
                <a:cs typeface="EB Garamond" pitchFamily="18" charset="-120"/>
              </a:rPr>
              <a:t> del </a:t>
            </a:r>
            <a:r>
              <a:rPr lang="en-US" sz="1450" dirty="0" err="1">
                <a:solidFill>
                  <a:srgbClr val="010736"/>
                </a:solidFill>
                <a:latin typeface="EB Garamond" pitchFamily="18" charset="0"/>
                <a:ea typeface="EB Garamond" pitchFamily="18" charset="-122"/>
                <a:cs typeface="EB Garamond" pitchFamily="18" charset="-120"/>
              </a:rPr>
              <a:t>precio</a:t>
            </a:r>
            <a:r>
              <a:rPr lang="en-US" sz="1450" dirty="0">
                <a:solidFill>
                  <a:srgbClr val="010736"/>
                </a:solidFill>
                <a:latin typeface="EB Garamond" pitchFamily="18" charset="0"/>
                <a:ea typeface="EB Garamond" pitchFamily="18" charset="-122"/>
                <a:cs typeface="EB Garamond" pitchFamily="18" charset="-120"/>
              </a:rPr>
              <a:t> de mercado.</a:t>
            </a:r>
            <a:endParaRPr lang="en-US" sz="1450" dirty="0"/>
          </a:p>
        </p:txBody>
      </p:sp>
      <p:sp>
        <p:nvSpPr>
          <p:cNvPr id="18" name="Text 16"/>
          <p:cNvSpPr/>
          <p:nvPr/>
        </p:nvSpPr>
        <p:spPr>
          <a:xfrm>
            <a:off x="7620000" y="1905000"/>
            <a:ext cx="408127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CAPITALIZACIÓN</a:t>
            </a:r>
            <a:endParaRPr lang="en-US" sz="1200" dirty="0"/>
          </a:p>
        </p:txBody>
      </p:sp>
      <p:graphicFrame>
        <p:nvGraphicFramePr>
          <p:cNvPr id="19" name="Table 0"/>
          <p:cNvGraphicFramePr>
            <a:graphicFrameLocks noGrp="1"/>
          </p:cNvGraphicFramePr>
          <p:nvPr/>
        </p:nvGraphicFramePr>
        <p:xfrm>
          <a:off x="7632700" y="2194520"/>
          <a:ext cx="3949700" cy="3592710"/>
        </p:xfrm>
        <a:graphic>
          <a:graphicData uri="http://schemas.openxmlformats.org/drawingml/2006/table">
            <a:tbl>
              <a:tblPr/>
              <a:tblGrid>
                <a:gridCol w="2369820">
                  <a:extLst>
                    <a:ext uri="{9D8B030D-6E8A-4147-A177-3AD203B41FA5}">
                      <a16:colId xmlns:a16="http://schemas.microsoft.com/office/drawing/2014/main" val="20000"/>
                    </a:ext>
                  </a:extLst>
                </a:gridCol>
                <a:gridCol w="1579880">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M$ salvo indicado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KO</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Precio por acción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92,71</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Acciones diluidas (M)</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4.313</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Capitalización</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399.858</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 Deuda neta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33.551</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 Minoritarios</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2.106</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Valor de empresa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435.515</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VE / EBITDA FY 2025</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27,6x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9C0A6"/>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PER FY 2025</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30,5x</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8"/>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Rentabilidad por dividendo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2,2 %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0" name="Shape 17"/>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1" name="Text 18"/>
          <p:cNvSpPr/>
          <p:nvPr/>
        </p:nvSpPr>
        <p:spPr>
          <a:xfrm>
            <a:off x="609600" y="6398320"/>
            <a:ext cx="7908488"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propio (DCF, DDM, comparables); Bloomberg. Deuda neta con arrendamientos, a cierre de FY 2025.</a:t>
            </a:r>
            <a:endParaRPr lang="en-US" sz="1200" dirty="0"/>
          </a:p>
        </p:txBody>
      </p:sp>
      <p:sp>
        <p:nvSpPr>
          <p:cNvPr id="23" name="Text 20"/>
          <p:cNvSpPr/>
          <p:nvPr/>
        </p:nvSpPr>
        <p:spPr>
          <a:xfrm>
            <a:off x="10921802" y="6390680"/>
            <a:ext cx="711398" cy="238720"/>
          </a:xfrm>
          <a:prstGeom prst="rect">
            <a:avLst/>
          </a:prstGeom>
          <a:noFill/>
          <a:ln/>
        </p:spPr>
        <p:txBody>
          <a:bodyPr wrap="non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02 / 11</a:t>
            </a:r>
            <a:endParaRPr lang="en-US" sz="1200" dirty="0"/>
          </a:p>
        </p:txBody>
      </p:sp>
    </p:spTree>
    <p:extLst>
      <p:ext uri="{BB962C8B-B14F-4D97-AF65-F5344CB8AC3E}">
        <p14:creationId xmlns:p14="http://schemas.microsoft.com/office/powerpoint/2010/main" val="3052849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5221367"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VISIÓN DEL MERCADO FRENTE A LA NUESTRA</a:t>
            </a:r>
            <a:endParaRPr lang="en-US" sz="1200" dirty="0"/>
          </a:p>
        </p:txBody>
      </p:sp>
      <p:sp>
        <p:nvSpPr>
          <p:cNvPr id="3" name="Text 1"/>
          <p:cNvSpPr/>
          <p:nvPr/>
        </p:nvSpPr>
        <p:spPr>
          <a:xfrm>
            <a:off x="8585200" y="355600"/>
            <a:ext cx="381000"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9017000" y="379710"/>
            <a:ext cx="6350" cy="165100"/>
          </a:xfrm>
          <a:prstGeom prst="rect">
            <a:avLst/>
          </a:prstGeom>
          <a:solidFill>
            <a:srgbClr val="010736"/>
          </a:solidFill>
          <a:ln/>
        </p:spPr>
        <p:txBody>
          <a:bodyPr/>
          <a:lstStyle/>
          <a:p>
            <a:endParaRPr lang="en-US"/>
          </a:p>
        </p:txBody>
      </p:sp>
      <p:sp>
        <p:nvSpPr>
          <p:cNvPr id="5" name="Text 3"/>
          <p:cNvSpPr/>
          <p:nvPr/>
        </p:nvSpPr>
        <p:spPr>
          <a:xfrm>
            <a:off x="9093200" y="355600"/>
            <a:ext cx="2540000" cy="238720"/>
          </a:xfrm>
          <a:prstGeom prst="rect">
            <a:avLst/>
          </a:prstGeom>
          <a:noFill/>
          <a:ln/>
        </p:spPr>
        <p:txBody>
          <a:bodyPr wrap="non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El mercado paga a Coca-Cola como si el buen momento de 2026 fuera </a:t>
            </a:r>
            <a:r>
              <a:rPr lang="en-US" sz="2400" b="0" i="0" kern="0" spc="-25" dirty="0" err="1">
                <a:solidFill>
                  <a:srgbClr val="010736"/>
                </a:solidFill>
                <a:latin typeface="Jost" pitchFamily="34" charset="0"/>
                <a:ea typeface="Jost" pitchFamily="34" charset="-122"/>
                <a:cs typeface="Jost" pitchFamily="34" charset="-120"/>
              </a:rPr>
              <a:t>permanente</a:t>
            </a:r>
            <a:r>
              <a:rPr lang="en-US" sz="2400" b="0" i="0" kern="0" spc="-25" dirty="0">
                <a:solidFill>
                  <a:srgbClr val="010736"/>
                </a:solidFill>
                <a:latin typeface="Jost" pitchFamily="34" charset="0"/>
                <a:ea typeface="Jost" pitchFamily="34" charset="-122"/>
                <a:cs typeface="Jost" pitchFamily="34" charset="-120"/>
              </a:rPr>
              <a:t>, es un </a:t>
            </a:r>
            <a:r>
              <a:rPr lang="en-US" sz="2400" b="0" i="0" kern="0" spc="-25" dirty="0" err="1">
                <a:solidFill>
                  <a:srgbClr val="010736"/>
                </a:solidFill>
                <a:latin typeface="Jost" pitchFamily="34" charset="0"/>
                <a:ea typeface="Jost" pitchFamily="34" charset="-122"/>
                <a:cs typeface="Jost" pitchFamily="34" charset="-120"/>
              </a:rPr>
              <a:t>buen</a:t>
            </a:r>
            <a:r>
              <a:rPr lang="en-US" sz="2400" b="0" i="0" kern="0" spc="-25" dirty="0">
                <a:solidFill>
                  <a:srgbClr val="010736"/>
                </a:solidFill>
                <a:latin typeface="Jost" pitchFamily="34" charset="0"/>
                <a:ea typeface="Jost" pitchFamily="34" charset="-122"/>
                <a:cs typeface="Jost" pitchFamily="34" charset="-120"/>
              </a:rPr>
              <a:t> </a:t>
            </a:r>
            <a:r>
              <a:rPr lang="en-US" sz="2400" b="0" i="0" kern="0" spc="-25" dirty="0" err="1">
                <a:solidFill>
                  <a:srgbClr val="010736"/>
                </a:solidFill>
                <a:latin typeface="Jost" pitchFamily="34" charset="0"/>
                <a:ea typeface="Jost" pitchFamily="34" charset="-122"/>
                <a:cs typeface="Jost" pitchFamily="34" charset="-120"/>
              </a:rPr>
              <a:t>negocio</a:t>
            </a:r>
            <a:r>
              <a:rPr lang="en-US" sz="2400" b="0" i="0" kern="0" spc="-25" dirty="0">
                <a:solidFill>
                  <a:srgbClr val="010736"/>
                </a:solidFill>
                <a:latin typeface="Jost" pitchFamily="34" charset="0"/>
                <a:ea typeface="Jost" pitchFamily="34" charset="-122"/>
                <a:cs typeface="Jost" pitchFamily="34" charset="-120"/>
              </a:rPr>
              <a:t>, </a:t>
            </a:r>
            <a:r>
              <a:rPr lang="en-US" sz="2400" b="0" i="0" kern="0" spc="-25" dirty="0" err="1">
                <a:solidFill>
                  <a:srgbClr val="010736"/>
                </a:solidFill>
                <a:latin typeface="Jost" pitchFamily="34" charset="0"/>
                <a:ea typeface="Jost" pitchFamily="34" charset="-122"/>
                <a:cs typeface="Jost" pitchFamily="34" charset="-120"/>
              </a:rPr>
              <a:t>pero</a:t>
            </a:r>
            <a:r>
              <a:rPr lang="en-US" sz="2400" b="0" i="0" kern="0" spc="-25" dirty="0">
                <a:solidFill>
                  <a:srgbClr val="010736"/>
                </a:solidFill>
                <a:latin typeface="Jost" pitchFamily="34" charset="0"/>
                <a:ea typeface="Jost" pitchFamily="34" charset="-122"/>
                <a:cs typeface="Jost" pitchFamily="34" charset="-120"/>
              </a:rPr>
              <a:t> no a un </a:t>
            </a:r>
            <a:r>
              <a:rPr lang="en-US" sz="2400" b="0" i="0" kern="0" spc="-25" dirty="0" err="1">
                <a:solidFill>
                  <a:srgbClr val="010736"/>
                </a:solidFill>
                <a:latin typeface="Jost" pitchFamily="34" charset="0"/>
                <a:ea typeface="Jost" pitchFamily="34" charset="-122"/>
                <a:cs typeface="Jost" pitchFamily="34" charset="-120"/>
              </a:rPr>
              <a:t>precio</a:t>
            </a:r>
            <a:r>
              <a:rPr lang="en-US" sz="2400" b="0" i="0" kern="0" spc="-25" dirty="0">
                <a:solidFill>
                  <a:srgbClr val="010736"/>
                </a:solidFill>
                <a:latin typeface="Jost" pitchFamily="34" charset="0"/>
                <a:ea typeface="Jost" pitchFamily="34" charset="-122"/>
                <a:cs typeface="Jost" pitchFamily="34" charset="-120"/>
              </a:rPr>
              <a:t> </a:t>
            </a:r>
            <a:r>
              <a:rPr lang="en-US" sz="2400" b="0" i="0" kern="0" spc="-25" dirty="0" err="1">
                <a:solidFill>
                  <a:srgbClr val="010736"/>
                </a:solidFill>
                <a:latin typeface="Jost" pitchFamily="34" charset="0"/>
                <a:ea typeface="Jost" pitchFamily="34" charset="-122"/>
                <a:cs typeface="Jost" pitchFamily="34" charset="-120"/>
              </a:rPr>
              <a:t>excelente</a:t>
            </a:r>
            <a:r>
              <a:rPr lang="en-US" sz="2400" b="0" i="0" kern="0" spc="-25" dirty="0">
                <a:solidFill>
                  <a:srgbClr val="010736"/>
                </a:solidFill>
                <a:latin typeface="Jost" pitchFamily="34" charset="0"/>
                <a:ea typeface="Jost" pitchFamily="34" charset="-122"/>
                <a:cs typeface="Jost" pitchFamily="34" charset="-120"/>
              </a:rPr>
              <a:t>.</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5441696"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LO QUE DESCUENTA EL MERCADO</a:t>
            </a:r>
            <a:endParaRPr lang="en-US" sz="1200" dirty="0"/>
          </a:p>
        </p:txBody>
      </p:sp>
      <p:sp>
        <p:nvSpPr>
          <p:cNvPr id="9" name="Shape 7"/>
          <p:cNvSpPr/>
          <p:nvPr/>
        </p:nvSpPr>
        <p:spPr>
          <a:xfrm>
            <a:off x="609600" y="2211983"/>
            <a:ext cx="5283200" cy="0"/>
          </a:xfrm>
          <a:prstGeom prst="line">
            <a:avLst/>
          </a:prstGeom>
          <a:noFill/>
          <a:ln w="9525">
            <a:solidFill>
              <a:srgbClr val="010736"/>
            </a:solidFill>
            <a:prstDash val="solid"/>
          </a:ln>
        </p:spPr>
        <p:txBody>
          <a:bodyPr/>
          <a:lstStyle/>
          <a:p>
            <a:endParaRPr lang="en-US"/>
          </a:p>
        </p:txBody>
      </p:sp>
      <p:sp>
        <p:nvSpPr>
          <p:cNvPr id="10" name="Text 8"/>
          <p:cNvSpPr/>
          <p:nvPr/>
        </p:nvSpPr>
        <p:spPr>
          <a:xfrm>
            <a:off x="609600" y="2353270"/>
            <a:ext cx="544169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10736"/>
                </a:solidFill>
                <a:latin typeface="EB Garamond" pitchFamily="18" charset="0"/>
                <a:ea typeface="EB Garamond" pitchFamily="18" charset="-122"/>
                <a:cs typeface="EB Garamond" pitchFamily="18" charset="-120"/>
              </a:rPr>
              <a:t>Un valor refugio que merece cualquier múltiplo: PER de 30x frente a 14–21x de sus comparables.</a:t>
            </a:r>
            <a:endParaRPr lang="en-US" sz="1400" dirty="0"/>
          </a:p>
        </p:txBody>
      </p:sp>
      <p:sp>
        <p:nvSpPr>
          <p:cNvPr id="11" name="Shape 9"/>
          <p:cNvSpPr/>
          <p:nvPr/>
        </p:nvSpPr>
        <p:spPr>
          <a:xfrm>
            <a:off x="609600" y="2993827"/>
            <a:ext cx="5283200" cy="0"/>
          </a:xfrm>
          <a:prstGeom prst="line">
            <a:avLst/>
          </a:prstGeom>
          <a:noFill/>
          <a:ln w="6350">
            <a:solidFill>
              <a:srgbClr val="D0CECE"/>
            </a:solidFill>
            <a:prstDash val="solid"/>
          </a:ln>
        </p:spPr>
        <p:txBody>
          <a:bodyPr/>
          <a:lstStyle/>
          <a:p>
            <a:endParaRPr lang="en-US"/>
          </a:p>
        </p:txBody>
      </p:sp>
      <p:sp>
        <p:nvSpPr>
          <p:cNvPr id="12" name="Text 10"/>
          <p:cNvSpPr/>
          <p:nvPr/>
        </p:nvSpPr>
        <p:spPr>
          <a:xfrm>
            <a:off x="609600" y="3136702"/>
            <a:ext cx="544169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10736"/>
                </a:solidFill>
                <a:latin typeface="EB Garamond" pitchFamily="18" charset="0"/>
                <a:ea typeface="EB Garamond" pitchFamily="18" charset="-122"/>
                <a:cs typeface="EB Garamond" pitchFamily="18" charset="-120"/>
              </a:rPr>
              <a:t>El volumen ha vuelto (+5 % en el 3T 2026) y el crecimiento de doble dígito del BPA es sostenible.</a:t>
            </a:r>
            <a:endParaRPr lang="en-US" sz="1400" dirty="0"/>
          </a:p>
        </p:txBody>
      </p:sp>
      <p:sp>
        <p:nvSpPr>
          <p:cNvPr id="13" name="Shape 11"/>
          <p:cNvSpPr/>
          <p:nvPr/>
        </p:nvSpPr>
        <p:spPr>
          <a:xfrm>
            <a:off x="609600" y="3777258"/>
            <a:ext cx="5283200" cy="0"/>
          </a:xfrm>
          <a:prstGeom prst="line">
            <a:avLst/>
          </a:prstGeom>
          <a:noFill/>
          <a:ln w="6350">
            <a:solidFill>
              <a:srgbClr val="D0CECE"/>
            </a:solidFill>
            <a:prstDash val="solid"/>
          </a:ln>
        </p:spPr>
        <p:txBody>
          <a:bodyPr/>
          <a:lstStyle/>
          <a:p>
            <a:endParaRPr lang="en-US"/>
          </a:p>
        </p:txBody>
      </p:sp>
      <p:sp>
        <p:nvSpPr>
          <p:cNvPr id="14" name="Text 12"/>
          <p:cNvSpPr/>
          <p:nvPr/>
        </p:nvSpPr>
        <p:spPr>
          <a:xfrm>
            <a:off x="609600" y="3920133"/>
            <a:ext cx="544169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10736"/>
                </a:solidFill>
                <a:latin typeface="EB Garamond" pitchFamily="18" charset="0"/>
                <a:ea typeface="EB Garamond" pitchFamily="18" charset="-122"/>
                <a:cs typeface="EB Garamond" pitchFamily="18" charset="-120"/>
              </a:rPr>
              <a:t>Implícitamente, un crecimiento perpetuo superior al 2,75 % con un WACC del 6,0 %.</a:t>
            </a:r>
            <a:endParaRPr lang="en-US" sz="1400" dirty="0"/>
          </a:p>
        </p:txBody>
      </p:sp>
      <p:sp>
        <p:nvSpPr>
          <p:cNvPr id="15" name="Shape 13"/>
          <p:cNvSpPr/>
          <p:nvPr/>
        </p:nvSpPr>
        <p:spPr>
          <a:xfrm>
            <a:off x="6299200" y="1905000"/>
            <a:ext cx="5283200" cy="3937000"/>
          </a:xfrm>
          <a:prstGeom prst="rect">
            <a:avLst/>
          </a:prstGeom>
          <a:solidFill>
            <a:srgbClr val="FCF1D0"/>
          </a:solidFill>
          <a:ln/>
        </p:spPr>
        <p:txBody>
          <a:bodyPr/>
          <a:lstStyle/>
          <a:p>
            <a:endParaRPr lang="en-US"/>
          </a:p>
        </p:txBody>
      </p:sp>
      <p:sp>
        <p:nvSpPr>
          <p:cNvPr id="16" name="Shape 14"/>
          <p:cNvSpPr/>
          <p:nvPr/>
        </p:nvSpPr>
        <p:spPr>
          <a:xfrm>
            <a:off x="6299200" y="1914525"/>
            <a:ext cx="5283200" cy="0"/>
          </a:xfrm>
          <a:prstGeom prst="line">
            <a:avLst/>
          </a:prstGeom>
          <a:noFill/>
          <a:ln w="19050">
            <a:solidFill>
              <a:srgbClr val="010736"/>
            </a:solidFill>
            <a:prstDash val="solid"/>
          </a:ln>
        </p:spPr>
        <p:txBody>
          <a:bodyPr/>
          <a:lstStyle/>
          <a:p>
            <a:endParaRPr lang="en-US"/>
          </a:p>
        </p:txBody>
      </p:sp>
      <p:sp>
        <p:nvSpPr>
          <p:cNvPr id="17" name="Text 15"/>
          <p:cNvSpPr/>
          <p:nvPr/>
        </p:nvSpPr>
        <p:spPr>
          <a:xfrm>
            <a:off x="6502400" y="2063750"/>
            <a:ext cx="5023104"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NUESTRA VISIÓN</a:t>
            </a:r>
            <a:endParaRPr lang="en-US" sz="1200" dirty="0"/>
          </a:p>
        </p:txBody>
      </p:sp>
      <p:sp>
        <p:nvSpPr>
          <p:cNvPr id="18" name="Shape 16"/>
          <p:cNvSpPr/>
          <p:nvPr/>
        </p:nvSpPr>
        <p:spPr>
          <a:xfrm>
            <a:off x="6502400" y="2369145"/>
            <a:ext cx="4876800" cy="0"/>
          </a:xfrm>
          <a:prstGeom prst="line">
            <a:avLst/>
          </a:prstGeom>
          <a:noFill/>
          <a:ln w="6350">
            <a:solidFill>
              <a:srgbClr val="010736"/>
            </a:solidFill>
            <a:prstDash val="solid"/>
          </a:ln>
        </p:spPr>
        <p:txBody>
          <a:bodyPr/>
          <a:lstStyle/>
          <a:p>
            <a:endParaRPr lang="en-US"/>
          </a:p>
        </p:txBody>
      </p:sp>
      <p:sp>
        <p:nvSpPr>
          <p:cNvPr id="19" name="Text 17"/>
          <p:cNvSpPr/>
          <p:nvPr/>
        </p:nvSpPr>
        <p:spPr>
          <a:xfrm>
            <a:off x="6502400" y="2499320"/>
            <a:ext cx="5023104"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Calidad sí, refugio caro.</a:t>
            </a:r>
            <a:r>
              <a:rPr lang="en-US" sz="1400" dirty="0">
                <a:solidFill>
                  <a:srgbClr val="010736"/>
                </a:solidFill>
                <a:latin typeface="EB Garamond" pitchFamily="18" charset="0"/>
                <a:ea typeface="EB Garamond" pitchFamily="18" charset="-122"/>
                <a:cs typeface="EB Garamond" pitchFamily="18" charset="-120"/>
              </a:rPr>
              <a:t> La beta de 0,40 ya refleja el perfil defensivo en un WACC del 6,0 %.</a:t>
            </a:r>
            <a:endParaRPr lang="en-US" sz="1400" dirty="0"/>
          </a:p>
        </p:txBody>
      </p:sp>
      <p:sp>
        <p:nvSpPr>
          <p:cNvPr id="20" name="Shape 18"/>
          <p:cNvSpPr/>
          <p:nvPr/>
        </p:nvSpPr>
        <p:spPr>
          <a:xfrm>
            <a:off x="6502400" y="3127177"/>
            <a:ext cx="4876800" cy="0"/>
          </a:xfrm>
          <a:prstGeom prst="line">
            <a:avLst/>
          </a:prstGeom>
          <a:noFill/>
          <a:ln w="6350">
            <a:solidFill>
              <a:srgbClr val="D0CECE"/>
            </a:solidFill>
            <a:prstDash val="solid"/>
          </a:ln>
        </p:spPr>
        <p:txBody>
          <a:bodyPr/>
          <a:lstStyle/>
          <a:p>
            <a:endParaRPr lang="en-US"/>
          </a:p>
        </p:txBody>
      </p:sp>
      <p:sp>
        <p:nvSpPr>
          <p:cNvPr id="21" name="Text 19"/>
          <p:cNvSpPr/>
          <p:nvPr/>
        </p:nvSpPr>
        <p:spPr>
          <a:xfrm>
            <a:off x="6502400" y="3257352"/>
            <a:ext cx="5023104"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Crecimiento normal, no excepcional:</a:t>
            </a:r>
            <a:r>
              <a:rPr lang="en-US" sz="1400" dirty="0">
                <a:solidFill>
                  <a:srgbClr val="010736"/>
                </a:solidFill>
                <a:latin typeface="EB Garamond" pitchFamily="18" charset="0"/>
                <a:ea typeface="EB Garamond" pitchFamily="18" charset="-122"/>
                <a:cs typeface="EB Garamond" pitchFamily="18" charset="-120"/>
              </a:rPr>
              <a:t> 4,2 % anual de ingresos, con el precio como palanca principal.</a:t>
            </a:r>
            <a:endParaRPr lang="en-US" sz="1400" dirty="0"/>
          </a:p>
        </p:txBody>
      </p:sp>
      <p:sp>
        <p:nvSpPr>
          <p:cNvPr id="22" name="Shape 20"/>
          <p:cNvSpPr/>
          <p:nvPr/>
        </p:nvSpPr>
        <p:spPr>
          <a:xfrm>
            <a:off x="6502400" y="3885208"/>
            <a:ext cx="4876800" cy="0"/>
          </a:xfrm>
          <a:prstGeom prst="line">
            <a:avLst/>
          </a:prstGeom>
          <a:noFill/>
          <a:ln w="6350">
            <a:solidFill>
              <a:srgbClr val="D0CECE"/>
            </a:solidFill>
            <a:prstDash val="solid"/>
          </a:ln>
        </p:spPr>
        <p:txBody>
          <a:bodyPr/>
          <a:lstStyle/>
          <a:p>
            <a:endParaRPr lang="en-US"/>
          </a:p>
        </p:txBody>
      </p:sp>
      <p:sp>
        <p:nvSpPr>
          <p:cNvPr id="23" name="Text 21"/>
          <p:cNvSpPr/>
          <p:nvPr/>
        </p:nvSpPr>
        <p:spPr>
          <a:xfrm>
            <a:off x="6502400" y="4015383"/>
            <a:ext cx="5023104" cy="121701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Sin margen de seguridad:</a:t>
            </a:r>
            <a:r>
              <a:rPr lang="en-US" sz="1400" dirty="0">
                <a:solidFill>
                  <a:srgbClr val="010736"/>
                </a:solidFill>
                <a:latin typeface="EB Garamond" pitchFamily="18" charset="0"/>
                <a:ea typeface="EB Garamond" pitchFamily="18" charset="-122"/>
                <a:cs typeface="EB Garamond" pitchFamily="18" charset="-120"/>
              </a:rPr>
              <a:t> cuatro de cinco métodos dan menos de 90 $; la media, 76,2 $. Parece </a:t>
            </a:r>
            <a:r>
              <a:rPr lang="en-US" sz="1400" dirty="0" err="1">
                <a:solidFill>
                  <a:srgbClr val="010736"/>
                </a:solidFill>
                <a:latin typeface="EB Garamond" pitchFamily="18" charset="0"/>
                <a:ea typeface="EB Garamond" pitchFamily="18" charset="-122"/>
                <a:cs typeface="EB Garamond" pitchFamily="18" charset="-120"/>
              </a:rPr>
              <a:t>que</a:t>
            </a:r>
            <a:r>
              <a:rPr lang="en-US" sz="1400" dirty="0">
                <a:solidFill>
                  <a:srgbClr val="010736"/>
                </a:solidFill>
                <a:latin typeface="EB Garamond" pitchFamily="18" charset="0"/>
                <a:ea typeface="EB Garamond" pitchFamily="18" charset="-122"/>
                <a:cs typeface="EB Garamond" pitchFamily="18" charset="-120"/>
              </a:rPr>
              <a:t> solo el </a:t>
            </a:r>
            <a:r>
              <a:rPr lang="en-US" sz="1400" dirty="0" err="1">
                <a:solidFill>
                  <a:srgbClr val="010736"/>
                </a:solidFill>
                <a:latin typeface="EB Garamond" pitchFamily="18" charset="0"/>
                <a:ea typeface="EB Garamond" pitchFamily="18" charset="-122"/>
                <a:cs typeface="EB Garamond" pitchFamily="18" charset="-120"/>
              </a:rPr>
              <a:t>caso</a:t>
            </a:r>
            <a:r>
              <a:rPr lang="en-US" sz="1400" dirty="0">
                <a:solidFill>
                  <a:srgbClr val="010736"/>
                </a:solidFill>
                <a:latin typeface="EB Garamond" pitchFamily="18" charset="0"/>
                <a:ea typeface="EB Garamond" pitchFamily="18" charset="-122"/>
                <a:cs typeface="EB Garamond" pitchFamily="18" charset="-120"/>
              </a:rPr>
              <a:t> </a:t>
            </a:r>
            <a:r>
              <a:rPr lang="en-US" sz="1400" dirty="0" err="1">
                <a:solidFill>
                  <a:srgbClr val="010736"/>
                </a:solidFill>
                <a:latin typeface="EB Garamond" pitchFamily="18" charset="0"/>
                <a:ea typeface="EB Garamond" pitchFamily="18" charset="-122"/>
                <a:cs typeface="EB Garamond" pitchFamily="18" charset="-120"/>
              </a:rPr>
              <a:t>optimista</a:t>
            </a:r>
            <a:r>
              <a:rPr lang="en-US" sz="1400" dirty="0">
                <a:solidFill>
                  <a:srgbClr val="010736"/>
                </a:solidFill>
                <a:latin typeface="EB Garamond" pitchFamily="18" charset="0"/>
                <a:ea typeface="EB Garamond" pitchFamily="18" charset="-122"/>
                <a:cs typeface="EB Garamond" pitchFamily="18" charset="-120"/>
              </a:rPr>
              <a:t> es el </a:t>
            </a:r>
            <a:r>
              <a:rPr lang="en-US" sz="1400" dirty="0" err="1">
                <a:solidFill>
                  <a:srgbClr val="010736"/>
                </a:solidFill>
                <a:latin typeface="EB Garamond" pitchFamily="18" charset="0"/>
                <a:ea typeface="EB Garamond" pitchFamily="18" charset="-122"/>
                <a:cs typeface="EB Garamond" pitchFamily="18" charset="-120"/>
              </a:rPr>
              <a:t>válido</a:t>
            </a:r>
            <a:r>
              <a:rPr lang="en-US" sz="1400" dirty="0">
                <a:solidFill>
                  <a:srgbClr val="010736"/>
                </a:solidFill>
                <a:latin typeface="EB Garamond" pitchFamily="18" charset="0"/>
                <a:ea typeface="EB Garamond" pitchFamily="18" charset="-122"/>
                <a:cs typeface="EB Garamond" pitchFamily="18" charset="-120"/>
              </a:rPr>
              <a:t>, a Coca-Cola le </a:t>
            </a:r>
            <a:r>
              <a:rPr lang="en-US" sz="1400" dirty="0" err="1">
                <a:solidFill>
                  <a:srgbClr val="010736"/>
                </a:solidFill>
                <a:latin typeface="EB Garamond" pitchFamily="18" charset="0"/>
                <a:ea typeface="EB Garamond" pitchFamily="18" charset="-122"/>
                <a:cs typeface="EB Garamond" pitchFamily="18" charset="-120"/>
              </a:rPr>
              <a:t>seguirá</a:t>
            </a:r>
            <a:r>
              <a:rPr lang="en-US" sz="1400" dirty="0">
                <a:solidFill>
                  <a:srgbClr val="010736"/>
                </a:solidFill>
                <a:latin typeface="EB Garamond" pitchFamily="18" charset="0"/>
                <a:ea typeface="EB Garamond" pitchFamily="18" charset="-122"/>
                <a:cs typeface="EB Garamond" pitchFamily="18" charset="-120"/>
              </a:rPr>
              <a:t> </a:t>
            </a:r>
            <a:r>
              <a:rPr lang="en-US" sz="1400" dirty="0" err="1">
                <a:solidFill>
                  <a:srgbClr val="010736"/>
                </a:solidFill>
                <a:latin typeface="EB Garamond" pitchFamily="18" charset="0"/>
                <a:ea typeface="EB Garamond" pitchFamily="18" charset="-122"/>
                <a:cs typeface="EB Garamond" pitchFamily="18" charset="-120"/>
              </a:rPr>
              <a:t>funcionando</a:t>
            </a:r>
            <a:r>
              <a:rPr lang="en-US" sz="1400" dirty="0">
                <a:solidFill>
                  <a:srgbClr val="010736"/>
                </a:solidFill>
                <a:latin typeface="EB Garamond" pitchFamily="18" charset="0"/>
                <a:ea typeface="EB Garamond" pitchFamily="18" charset="-122"/>
                <a:cs typeface="EB Garamond" pitchFamily="18" charset="-120"/>
              </a:rPr>
              <a:t> el </a:t>
            </a:r>
            <a:r>
              <a:rPr lang="en-US" sz="1400" dirty="0" err="1">
                <a:solidFill>
                  <a:srgbClr val="010736"/>
                </a:solidFill>
                <a:latin typeface="EB Garamond" pitchFamily="18" charset="0"/>
                <a:ea typeface="EB Garamond" pitchFamily="18" charset="-122"/>
                <a:cs typeface="EB Garamond" pitchFamily="18" charset="-120"/>
              </a:rPr>
              <a:t>negocio</a:t>
            </a:r>
            <a:r>
              <a:rPr lang="en-US" sz="1400" dirty="0">
                <a:solidFill>
                  <a:srgbClr val="010736"/>
                </a:solidFill>
                <a:latin typeface="EB Garamond" pitchFamily="18" charset="0"/>
                <a:ea typeface="EB Garamond" pitchFamily="18" charset="-122"/>
                <a:cs typeface="EB Garamond" pitchFamily="18" charset="-120"/>
              </a:rPr>
              <a:t> bien.</a:t>
            </a:r>
            <a:endParaRPr lang="en-US" sz="1400" dirty="0"/>
          </a:p>
        </p:txBody>
      </p:sp>
      <p:sp>
        <p:nvSpPr>
          <p:cNvPr id="24" name="Shape 22"/>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5" name="Text 23"/>
          <p:cNvSpPr/>
          <p:nvPr/>
        </p:nvSpPr>
        <p:spPr>
          <a:xfrm>
            <a:off x="609600" y="6398320"/>
            <a:ext cx="5932646"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propio; Coca-Cola, resultados del 3T 2026 (27/10/2026); análisis propio.</a:t>
            </a:r>
            <a:endParaRPr lang="en-US" sz="1200" dirty="0"/>
          </a:p>
        </p:txBody>
      </p:sp>
      <p:sp>
        <p:nvSpPr>
          <p:cNvPr id="27" name="Text 25"/>
          <p:cNvSpPr/>
          <p:nvPr/>
        </p:nvSpPr>
        <p:spPr>
          <a:xfrm>
            <a:off x="10926068" y="6390680"/>
            <a:ext cx="707132" cy="238720"/>
          </a:xfrm>
          <a:prstGeom prst="rect">
            <a:avLst/>
          </a:prstGeom>
          <a:noFill/>
          <a:ln/>
        </p:spPr>
        <p:txBody>
          <a:bodyPr wrap="non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03 / 11</a:t>
            </a:r>
            <a:endParaRPr lang="en-US" sz="1200" dirty="0"/>
          </a:p>
        </p:txBody>
      </p:sp>
    </p:spTree>
    <p:extLst>
      <p:ext uri="{BB962C8B-B14F-4D97-AF65-F5344CB8AC3E}">
        <p14:creationId xmlns:p14="http://schemas.microsoft.com/office/powerpoint/2010/main" val="3687347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4687491"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TESIS 1 · EL MEJOR MODELO DEL SECTOR</a:t>
            </a:r>
            <a:endParaRPr lang="en-US" sz="1200" dirty="0"/>
          </a:p>
        </p:txBody>
      </p:sp>
      <p:sp>
        <p:nvSpPr>
          <p:cNvPr id="3" name="Text 1"/>
          <p:cNvSpPr/>
          <p:nvPr/>
        </p:nvSpPr>
        <p:spPr>
          <a:xfrm>
            <a:off x="8585200" y="355600"/>
            <a:ext cx="381000"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9017000" y="379710"/>
            <a:ext cx="6350" cy="165100"/>
          </a:xfrm>
          <a:prstGeom prst="rect">
            <a:avLst/>
          </a:prstGeom>
          <a:solidFill>
            <a:srgbClr val="010736"/>
          </a:solidFill>
          <a:ln/>
        </p:spPr>
        <p:txBody>
          <a:bodyPr/>
          <a:lstStyle/>
          <a:p>
            <a:endParaRPr lang="en-US"/>
          </a:p>
        </p:txBody>
      </p:sp>
      <p:sp>
        <p:nvSpPr>
          <p:cNvPr id="5" name="Text 3"/>
          <p:cNvSpPr/>
          <p:nvPr/>
        </p:nvSpPr>
        <p:spPr>
          <a:xfrm>
            <a:off x="9093200" y="355600"/>
            <a:ext cx="2540000" cy="238720"/>
          </a:xfrm>
          <a:prstGeom prst="rect">
            <a:avLst/>
          </a:prstGeom>
          <a:noFill/>
          <a:ln/>
        </p:spPr>
        <p:txBody>
          <a:bodyPr wrap="non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Coca-Cola vende marca y </a:t>
            </a:r>
            <a:r>
              <a:rPr lang="en-US" sz="2400" b="0" i="0" kern="0" spc="-25" dirty="0" err="1">
                <a:solidFill>
                  <a:srgbClr val="010736"/>
                </a:solidFill>
                <a:latin typeface="Jost" pitchFamily="34" charset="0"/>
                <a:ea typeface="Jost" pitchFamily="34" charset="-122"/>
                <a:cs typeface="Jost" pitchFamily="34" charset="-120"/>
              </a:rPr>
              <a:t>concentrado</a:t>
            </a:r>
            <a:r>
              <a:rPr lang="en-US" kern="0" spc="-25" dirty="0"/>
              <a:t>. L</a:t>
            </a:r>
            <a:r>
              <a:rPr lang="en-US" sz="2400" b="0" i="0" kern="0" spc="-25" dirty="0">
                <a:solidFill>
                  <a:srgbClr val="010736"/>
                </a:solidFill>
                <a:latin typeface="Jost" pitchFamily="34" charset="0"/>
                <a:ea typeface="Jost" pitchFamily="34" charset="-122"/>
                <a:cs typeface="Jost" pitchFamily="34" charset="-120"/>
              </a:rPr>
              <a:t>os embotelladores ponen el capital. La refranquicia lleva el embotellado propio del 52 % al 5 %</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588645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Embotellado propio sobre ingresos</a:t>
            </a:r>
            <a:endParaRPr lang="en-US" sz="1300" dirty="0"/>
          </a:p>
        </p:txBody>
      </p:sp>
      <p:sp>
        <p:nvSpPr>
          <p:cNvPr id="9" name="Text 7"/>
          <p:cNvSpPr/>
          <p:nvPr/>
        </p:nvSpPr>
        <p:spPr>
          <a:xfrm>
            <a:off x="609600" y="21741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A5C77"/>
                </a:solidFill>
                <a:latin typeface="EB Garamond" pitchFamily="18" charset="0"/>
                <a:ea typeface="EB Garamond" pitchFamily="18" charset="-122"/>
                <a:cs typeface="EB Garamond" pitchFamily="18" charset="-120"/>
              </a:rPr>
              <a:t>% de los ingresos consolidados</a:t>
            </a:r>
            <a:endParaRPr lang="en-US" sz="1200" dirty="0"/>
          </a:p>
        </p:txBody>
      </p:sp>
      <p:sp>
        <p:nvSpPr>
          <p:cNvPr id="10" name="Shape 8"/>
          <p:cNvSpPr/>
          <p:nvPr/>
        </p:nvSpPr>
        <p:spPr>
          <a:xfrm>
            <a:off x="609600" y="5216426"/>
            <a:ext cx="5715000" cy="0"/>
          </a:xfrm>
          <a:prstGeom prst="line">
            <a:avLst/>
          </a:prstGeom>
          <a:noFill/>
          <a:ln w="6350">
            <a:solidFill>
              <a:srgbClr val="010736"/>
            </a:solidFill>
            <a:prstDash val="solid"/>
          </a:ln>
        </p:spPr>
        <p:txBody>
          <a:bodyPr/>
          <a:lstStyle/>
          <a:p>
            <a:endParaRPr lang="en-US"/>
          </a:p>
        </p:txBody>
      </p:sp>
      <p:sp>
        <p:nvSpPr>
          <p:cNvPr id="11" name="Text 9"/>
          <p:cNvSpPr/>
          <p:nvPr/>
        </p:nvSpPr>
        <p:spPr>
          <a:xfrm>
            <a:off x="1413361" y="2543770"/>
            <a:ext cx="635913" cy="34538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010736"/>
                </a:solidFill>
                <a:latin typeface="Jost" pitchFamily="34" charset="0"/>
                <a:ea typeface="Jost" pitchFamily="34" charset="-122"/>
                <a:cs typeface="Jost" pitchFamily="34" charset="-120"/>
              </a:rPr>
              <a:t>52 %</a:t>
            </a:r>
            <a:endParaRPr lang="en-US" sz="1800" dirty="0"/>
          </a:p>
        </p:txBody>
      </p:sp>
      <p:sp>
        <p:nvSpPr>
          <p:cNvPr id="12" name="Shape 10"/>
          <p:cNvSpPr/>
          <p:nvPr/>
        </p:nvSpPr>
        <p:spPr>
          <a:xfrm>
            <a:off x="1223367" y="2927251"/>
            <a:ext cx="1016000" cy="2286000"/>
          </a:xfrm>
          <a:prstGeom prst="rect">
            <a:avLst/>
          </a:prstGeom>
          <a:solidFill>
            <a:srgbClr val="8590A9"/>
          </a:solidFill>
          <a:ln/>
        </p:spPr>
        <p:txBody>
          <a:bodyPr/>
          <a:lstStyle/>
          <a:p>
            <a:endParaRPr lang="en-US"/>
          </a:p>
        </p:txBody>
      </p:sp>
      <p:sp>
        <p:nvSpPr>
          <p:cNvPr id="13" name="Text 11"/>
          <p:cNvSpPr/>
          <p:nvPr/>
        </p:nvSpPr>
        <p:spPr>
          <a:xfrm>
            <a:off x="3169583" y="4258270"/>
            <a:ext cx="594836" cy="34538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010736"/>
                </a:solidFill>
                <a:latin typeface="Jost" pitchFamily="34" charset="0"/>
                <a:ea typeface="Jost" pitchFamily="34" charset="-122"/>
                <a:cs typeface="Jost" pitchFamily="34" charset="-120"/>
              </a:rPr>
              <a:t>13 %</a:t>
            </a:r>
            <a:endParaRPr lang="en-US" sz="1800" dirty="0"/>
          </a:p>
        </p:txBody>
      </p:sp>
      <p:sp>
        <p:nvSpPr>
          <p:cNvPr id="14" name="Shape 12"/>
          <p:cNvSpPr/>
          <p:nvPr/>
        </p:nvSpPr>
        <p:spPr>
          <a:xfrm>
            <a:off x="2959001" y="4641751"/>
            <a:ext cx="1016000" cy="571500"/>
          </a:xfrm>
          <a:prstGeom prst="rect">
            <a:avLst/>
          </a:prstGeom>
          <a:solidFill>
            <a:srgbClr val="8590A9"/>
          </a:solidFill>
          <a:ln/>
        </p:spPr>
        <p:txBody>
          <a:bodyPr/>
          <a:lstStyle/>
          <a:p>
            <a:endParaRPr lang="en-US"/>
          </a:p>
        </p:txBody>
      </p:sp>
      <p:sp>
        <p:nvSpPr>
          <p:cNvPr id="15" name="Text 13"/>
          <p:cNvSpPr/>
          <p:nvPr/>
        </p:nvSpPr>
        <p:spPr>
          <a:xfrm>
            <a:off x="4841151" y="4607520"/>
            <a:ext cx="723067" cy="345380"/>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22396F"/>
                </a:solidFill>
                <a:latin typeface="Jost" pitchFamily="34" charset="0"/>
                <a:ea typeface="Jost" pitchFamily="34" charset="-122"/>
                <a:cs typeface="Jost" pitchFamily="34" charset="-120"/>
              </a:rPr>
              <a:t>≈ 5 %</a:t>
            </a:r>
            <a:endParaRPr lang="en-US" sz="1800" dirty="0"/>
          </a:p>
        </p:txBody>
      </p:sp>
      <p:sp>
        <p:nvSpPr>
          <p:cNvPr id="16" name="Shape 14"/>
          <p:cNvSpPr/>
          <p:nvPr/>
        </p:nvSpPr>
        <p:spPr>
          <a:xfrm>
            <a:off x="4694734" y="4991001"/>
            <a:ext cx="1016000" cy="222250"/>
          </a:xfrm>
          <a:prstGeom prst="rect">
            <a:avLst/>
          </a:prstGeom>
          <a:solidFill>
            <a:srgbClr val="22396F"/>
          </a:solidFill>
          <a:ln/>
        </p:spPr>
        <p:txBody>
          <a:bodyPr/>
          <a:lstStyle/>
          <a:p>
            <a:endParaRPr lang="en-US"/>
          </a:p>
        </p:txBody>
      </p:sp>
      <p:sp>
        <p:nvSpPr>
          <p:cNvPr id="17" name="Text 15"/>
          <p:cNvSpPr/>
          <p:nvPr/>
        </p:nvSpPr>
        <p:spPr>
          <a:xfrm>
            <a:off x="1070967" y="5295801"/>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2015</a:t>
            </a:r>
            <a:endParaRPr lang="en-US" sz="1200" dirty="0"/>
          </a:p>
        </p:txBody>
      </p:sp>
      <p:sp>
        <p:nvSpPr>
          <p:cNvPr id="18" name="Text 16"/>
          <p:cNvSpPr/>
          <p:nvPr/>
        </p:nvSpPr>
        <p:spPr>
          <a:xfrm>
            <a:off x="2806601" y="5295801"/>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2024</a:t>
            </a:r>
            <a:endParaRPr lang="en-US" sz="1200" dirty="0"/>
          </a:p>
        </p:txBody>
      </p:sp>
      <p:sp>
        <p:nvSpPr>
          <p:cNvPr id="19" name="Text 17"/>
          <p:cNvSpPr/>
          <p:nvPr/>
        </p:nvSpPr>
        <p:spPr>
          <a:xfrm>
            <a:off x="4542334" y="5295801"/>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Tras CCBA</a:t>
            </a:r>
            <a:endParaRPr lang="en-US" sz="1200" dirty="0"/>
          </a:p>
        </p:txBody>
      </p:sp>
      <p:sp>
        <p:nvSpPr>
          <p:cNvPr id="20" name="Shape 18"/>
          <p:cNvSpPr/>
          <p:nvPr/>
        </p:nvSpPr>
        <p:spPr>
          <a:xfrm>
            <a:off x="6781800" y="1909762"/>
            <a:ext cx="4800600" cy="0"/>
          </a:xfrm>
          <a:prstGeom prst="line">
            <a:avLst/>
          </a:prstGeom>
          <a:noFill/>
          <a:ln w="9525">
            <a:solidFill>
              <a:srgbClr val="010736"/>
            </a:solidFill>
            <a:prstDash val="solid"/>
          </a:ln>
        </p:spPr>
        <p:txBody>
          <a:bodyPr/>
          <a:lstStyle/>
          <a:p>
            <a:endParaRPr lang="en-US"/>
          </a:p>
        </p:txBody>
      </p:sp>
      <p:sp>
        <p:nvSpPr>
          <p:cNvPr id="21" name="Shape 19"/>
          <p:cNvSpPr/>
          <p:nvPr/>
        </p:nvSpPr>
        <p:spPr>
          <a:xfrm>
            <a:off x="6781800" y="2854226"/>
            <a:ext cx="4800600" cy="0"/>
          </a:xfrm>
          <a:prstGeom prst="line">
            <a:avLst/>
          </a:prstGeom>
          <a:noFill/>
          <a:ln w="6350">
            <a:solidFill>
              <a:srgbClr val="D0CECE"/>
            </a:solidFill>
            <a:prstDash val="solid"/>
          </a:ln>
        </p:spPr>
        <p:txBody>
          <a:bodyPr/>
          <a:lstStyle/>
          <a:p>
            <a:endParaRPr lang="en-US"/>
          </a:p>
        </p:txBody>
      </p:sp>
      <p:sp>
        <p:nvSpPr>
          <p:cNvPr id="22" name="Text 20"/>
          <p:cNvSpPr/>
          <p:nvPr/>
        </p:nvSpPr>
        <p:spPr>
          <a:xfrm>
            <a:off x="6781800" y="2038350"/>
            <a:ext cx="494461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MARGEN BRUTO FY 2025</a:t>
            </a:r>
            <a:endParaRPr lang="en-US" sz="1200" dirty="0"/>
          </a:p>
        </p:txBody>
      </p:sp>
      <p:sp>
        <p:nvSpPr>
          <p:cNvPr id="23" name="Text 21"/>
          <p:cNvSpPr/>
          <p:nvPr/>
        </p:nvSpPr>
        <p:spPr>
          <a:xfrm>
            <a:off x="6781800" y="2277070"/>
            <a:ext cx="4944618" cy="47238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010736"/>
                </a:solidFill>
                <a:latin typeface="Jost" pitchFamily="34" charset="0"/>
                <a:ea typeface="Jost" pitchFamily="34" charset="-122"/>
                <a:cs typeface="Jost" pitchFamily="34" charset="-120"/>
              </a:rPr>
              <a:t>62,0 </a:t>
            </a:r>
            <a:r>
              <a:rPr lang="en-US" sz="3200" dirty="0">
                <a:solidFill>
                  <a:srgbClr val="5A5C77"/>
                </a:solidFill>
                <a:latin typeface="Jost" pitchFamily="34" charset="0"/>
                <a:ea typeface="Jost" pitchFamily="34" charset="-122"/>
                <a:cs typeface="Jost" pitchFamily="34" charset="-120"/>
              </a:rPr>
              <a:t>%</a:t>
            </a:r>
            <a:endParaRPr lang="en-US" sz="3200" dirty="0"/>
          </a:p>
        </p:txBody>
      </p:sp>
      <p:sp>
        <p:nvSpPr>
          <p:cNvPr id="24" name="Shape 22"/>
          <p:cNvSpPr/>
          <p:nvPr/>
        </p:nvSpPr>
        <p:spPr>
          <a:xfrm>
            <a:off x="6781800" y="3800277"/>
            <a:ext cx="4800600" cy="0"/>
          </a:xfrm>
          <a:prstGeom prst="line">
            <a:avLst/>
          </a:prstGeom>
          <a:noFill/>
          <a:ln w="6350">
            <a:solidFill>
              <a:srgbClr val="D0CECE"/>
            </a:solidFill>
            <a:prstDash val="solid"/>
          </a:ln>
        </p:spPr>
        <p:txBody>
          <a:bodyPr/>
          <a:lstStyle/>
          <a:p>
            <a:endParaRPr lang="en-US"/>
          </a:p>
        </p:txBody>
      </p:sp>
      <p:sp>
        <p:nvSpPr>
          <p:cNvPr id="25" name="Text 23"/>
          <p:cNvSpPr/>
          <p:nvPr/>
        </p:nvSpPr>
        <p:spPr>
          <a:xfrm>
            <a:off x="6781800" y="2984401"/>
            <a:ext cx="4944618"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ROIC FY 2025</a:t>
            </a:r>
            <a:endParaRPr lang="en-US" sz="1200" dirty="0"/>
          </a:p>
        </p:txBody>
      </p:sp>
      <p:sp>
        <p:nvSpPr>
          <p:cNvPr id="26" name="Text 24"/>
          <p:cNvSpPr/>
          <p:nvPr/>
        </p:nvSpPr>
        <p:spPr>
          <a:xfrm>
            <a:off x="6781800" y="3223121"/>
            <a:ext cx="4944618" cy="47238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010736"/>
                </a:solidFill>
                <a:latin typeface="Jost" pitchFamily="34" charset="0"/>
                <a:ea typeface="Jost" pitchFamily="34" charset="-122"/>
                <a:cs typeface="Jost" pitchFamily="34" charset="-120"/>
              </a:rPr>
              <a:t>15,8 </a:t>
            </a:r>
            <a:r>
              <a:rPr lang="en-US" sz="3200" dirty="0">
                <a:solidFill>
                  <a:srgbClr val="5A5C77"/>
                </a:solidFill>
                <a:latin typeface="Jost" pitchFamily="34" charset="0"/>
                <a:ea typeface="Jost" pitchFamily="34" charset="-122"/>
                <a:cs typeface="Jost" pitchFamily="34" charset="-120"/>
              </a:rPr>
              <a:t>%</a:t>
            </a:r>
            <a:endParaRPr lang="en-US" sz="3200" dirty="0"/>
          </a:p>
        </p:txBody>
      </p:sp>
      <p:sp>
        <p:nvSpPr>
          <p:cNvPr id="27" name="Text 25"/>
          <p:cNvSpPr/>
          <p:nvPr/>
        </p:nvSpPr>
        <p:spPr>
          <a:xfrm>
            <a:off x="6781800" y="3930452"/>
            <a:ext cx="494461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10736"/>
                </a:solidFill>
                <a:latin typeface="EB Garamond" pitchFamily="18" charset="0"/>
                <a:ea typeface="EB Garamond" pitchFamily="18" charset="-122"/>
                <a:cs typeface="EB Garamond" pitchFamily="18" charset="-120"/>
              </a:rPr>
              <a:t>Al cerrar la venta de CCBA (4T 2026), los ingresos caen unos 8 puntos en 2027, pero mejoran el margen y la rentabilidad del capital.</a:t>
            </a:r>
            <a:endParaRPr lang="en-US" sz="1400" dirty="0"/>
          </a:p>
        </p:txBody>
      </p:sp>
      <p:sp>
        <p:nvSpPr>
          <p:cNvPr id="28" name="Shape 26"/>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9" name="Text 27"/>
          <p:cNvSpPr/>
          <p:nvPr/>
        </p:nvSpPr>
        <p:spPr>
          <a:xfrm>
            <a:off x="609600" y="6398320"/>
            <a:ext cx="7542967"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Coca-Cola (venta de CCBA a Coca-Cola HBC; conferencia del 3T 2026); modelo propio; análisis propio.</a:t>
            </a:r>
            <a:endParaRPr lang="en-US" sz="1200" dirty="0"/>
          </a:p>
        </p:txBody>
      </p:sp>
      <p:sp>
        <p:nvSpPr>
          <p:cNvPr id="31" name="Text 29"/>
          <p:cNvSpPr/>
          <p:nvPr/>
        </p:nvSpPr>
        <p:spPr>
          <a:xfrm>
            <a:off x="10918031" y="6390680"/>
            <a:ext cx="715169" cy="238720"/>
          </a:xfrm>
          <a:prstGeom prst="rect">
            <a:avLst/>
          </a:prstGeom>
          <a:noFill/>
          <a:ln/>
        </p:spPr>
        <p:txBody>
          <a:bodyPr wrap="non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04 / 11</a:t>
            </a:r>
            <a:endParaRPr lang="en-US" sz="1200" dirty="0"/>
          </a:p>
        </p:txBody>
      </p:sp>
    </p:spTree>
    <p:extLst>
      <p:ext uri="{BB962C8B-B14F-4D97-AF65-F5344CB8AC3E}">
        <p14:creationId xmlns:p14="http://schemas.microsoft.com/office/powerpoint/2010/main" val="2096950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5464969"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TESIS 2 · CRECIMIENTO MADURO Y POR PRECIO</a:t>
            </a:r>
            <a:endParaRPr lang="en-US" sz="1200" dirty="0"/>
          </a:p>
        </p:txBody>
      </p:sp>
      <p:sp>
        <p:nvSpPr>
          <p:cNvPr id="3" name="Text 1"/>
          <p:cNvSpPr/>
          <p:nvPr/>
        </p:nvSpPr>
        <p:spPr>
          <a:xfrm>
            <a:off x="8585200" y="355600"/>
            <a:ext cx="381000"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9017000" y="379710"/>
            <a:ext cx="6350" cy="165100"/>
          </a:xfrm>
          <a:prstGeom prst="rect">
            <a:avLst/>
          </a:prstGeom>
          <a:solidFill>
            <a:srgbClr val="010736"/>
          </a:solidFill>
          <a:ln/>
        </p:spPr>
        <p:txBody>
          <a:bodyPr/>
          <a:lstStyle/>
          <a:p>
            <a:endParaRPr lang="en-US"/>
          </a:p>
        </p:txBody>
      </p:sp>
      <p:sp>
        <p:nvSpPr>
          <p:cNvPr id="5" name="Text 3"/>
          <p:cNvSpPr/>
          <p:nvPr/>
        </p:nvSpPr>
        <p:spPr>
          <a:xfrm>
            <a:off x="9093200" y="355600"/>
            <a:ext cx="2540000" cy="238720"/>
          </a:xfrm>
          <a:prstGeom prst="rect">
            <a:avLst/>
          </a:prstGeom>
          <a:noFill/>
          <a:ln/>
        </p:spPr>
        <p:txBody>
          <a:bodyPr wrap="non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En 2025 el precio aportó 4 de los 5 puntos de crecimiento orgánico; proyectamos un 4,2 % anual, con Latinoamérica como motor</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510159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Crecimiento orgánico FY 2025 </a:t>
            </a:r>
            <a:r>
              <a:rPr lang="en-US" sz="1300" dirty="0">
                <a:solidFill>
                  <a:srgbClr val="5A5C77"/>
                </a:solidFill>
                <a:latin typeface="Jost" pitchFamily="34" charset="0"/>
                <a:ea typeface="Jost" pitchFamily="34" charset="-122"/>
                <a:cs typeface="Jost" pitchFamily="34" charset="-120"/>
              </a:rPr>
              <a:t>· a/a</a:t>
            </a:r>
            <a:endParaRPr lang="en-US" sz="1300" dirty="0"/>
          </a:p>
        </p:txBody>
      </p:sp>
      <p:graphicFrame>
        <p:nvGraphicFramePr>
          <p:cNvPr id="9" name="Table 0"/>
          <p:cNvGraphicFramePr>
            <a:graphicFrameLocks noGrp="1"/>
          </p:cNvGraphicFramePr>
          <p:nvPr/>
        </p:nvGraphicFramePr>
        <p:xfrm>
          <a:off x="622300" y="2224980"/>
          <a:ext cx="4940300" cy="2155626"/>
        </p:xfrm>
        <a:graphic>
          <a:graphicData uri="http://schemas.openxmlformats.org/drawingml/2006/table">
            <a:tbl>
              <a:tblPr/>
              <a:tblGrid>
                <a:gridCol w="2272538">
                  <a:extLst>
                    <a:ext uri="{9D8B030D-6E8A-4147-A177-3AD203B41FA5}">
                      <a16:colId xmlns:a16="http://schemas.microsoft.com/office/drawing/2014/main" val="20000"/>
                    </a:ext>
                  </a:extLst>
                </a:gridCol>
                <a:gridCol w="1333881">
                  <a:extLst>
                    <a:ext uri="{9D8B030D-6E8A-4147-A177-3AD203B41FA5}">
                      <a16:colId xmlns:a16="http://schemas.microsoft.com/office/drawing/2014/main" val="20001"/>
                    </a:ext>
                  </a:extLst>
                </a:gridCol>
                <a:gridCol w="1333881">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10736"/>
                          </a:solidFill>
                          <a:latin typeface="EB Garamond" pitchFamily="18" charset="0"/>
                          <a:ea typeface="EB Garamond" pitchFamily="18" charset="-122"/>
                          <a:cs typeface="EB Garamond" pitchFamily="18" charset="-120"/>
                        </a:rPr>
                        <a:t>Segmento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Volumen</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820"/>
                        </a:lnSpc>
                        <a:buNone/>
                      </a:pPr>
                      <a:r>
                        <a:rPr lang="en-US" sz="1300" b="1" dirty="0">
                          <a:solidFill>
                            <a:srgbClr val="010736"/>
                          </a:solidFill>
                          <a:latin typeface="EB Garamond" pitchFamily="18" charset="0"/>
                          <a:ea typeface="EB Garamond" pitchFamily="18" charset="-122"/>
                          <a:cs typeface="EB Garamond" pitchFamily="18" charset="-120"/>
                        </a:rPr>
                        <a:t>Orgánico</a:t>
                      </a:r>
                      <a:endParaRPr lang="en-US" sz="1300" dirty="0">
                        <a:latin typeface="EB Garamond" charset="0"/>
                        <a:ea typeface="EB Garamond" charset="0"/>
                        <a:cs typeface="EB Garamond" charset="0"/>
                      </a:endParaRPr>
                    </a:p>
                  </a:txBody>
                  <a:tcPr marL="57785" marR="57785" marT="57785" marB="57785">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Latinoamérica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22396F"/>
                          </a:solidFill>
                          <a:latin typeface="EB Garamond" pitchFamily="18" charset="0"/>
                          <a:ea typeface="EB Garamond" pitchFamily="18" charset="-122"/>
                          <a:cs typeface="EB Garamond" pitchFamily="18" charset="-120"/>
                        </a:rPr>
                        <a:t>+10 %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EMEA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+3 %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+6 %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Asia-Pacífico</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Norteamérica</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−1 %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+4 %</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10736"/>
                          </a:solidFill>
                          <a:latin typeface="EB Garamond" pitchFamily="18" charset="0"/>
                          <a:ea typeface="EB Garamond" pitchFamily="18" charset="-122"/>
                          <a:cs typeface="EB Garamond" pitchFamily="18" charset="-120"/>
                        </a:rPr>
                        <a:t>Total</a:t>
                      </a:r>
                      <a:endParaRPr lang="en-US" sz="1300" dirty="0">
                        <a:latin typeface="EB Garamond" charset="0"/>
                        <a:ea typeface="EB Garamond" charset="0"/>
                        <a:cs typeface="EB Garamond" charset="0"/>
                      </a:endParaRPr>
                    </a:p>
                  </a:txBody>
                  <a:tcPr marL="57785" marR="57785" marT="57785" marB="57785">
                    <a:lnL w="12700" cap="flat" cmpd="sng" algn="ctr">
                      <a:solidFill>
                        <a:srgbClr val="CBC7BF"/>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0 %</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tc>
                  <a:txBody>
                    <a:bodyPr/>
                    <a:lstStyle/>
                    <a:p>
                      <a:pPr marL="0" indent="0" algn="r">
                        <a:lnSpc>
                          <a:spcPts val="1820"/>
                        </a:lnSpc>
                        <a:buNone/>
                      </a:pPr>
                      <a:r>
                        <a:rPr lang="en-US" sz="1300" dirty="0">
                          <a:solidFill>
                            <a:srgbClr val="010736"/>
                          </a:solidFill>
                          <a:latin typeface="EB Garamond" pitchFamily="18" charset="0"/>
                          <a:ea typeface="EB Garamond" pitchFamily="18" charset="-122"/>
                          <a:cs typeface="EB Garamond" pitchFamily="18" charset="-120"/>
                        </a:rPr>
                        <a:t>+5 %</a:t>
                      </a:r>
                      <a:endParaRPr lang="en-US" sz="1300" dirty="0">
                        <a:latin typeface="EB Garamond" charset="0"/>
                        <a:ea typeface="EB Garamond" charset="0"/>
                        <a:cs typeface="EB Garamond" charset="0"/>
                      </a:endParaRPr>
                    </a:p>
                  </a:txBody>
                  <a:tcPr marL="57785" marR="57785" marT="57785" marB="57785">
                    <a:lnL w="12700" cap="flat" cmpd="sng" algn="ctr">
                      <a:solidFill>
                        <a:srgbClr val="C9C0A6"/>
                      </a:solidFill>
                      <a:prstDash val="solid"/>
                      <a:round/>
                      <a:headEnd type="none" w="med" len="med"/>
                      <a:tailEnd type="none" w="med" len="med"/>
                    </a:lnL>
                    <a:lnR w="12700" cap="flat" cmpd="sng" algn="ctr">
                      <a:solidFill>
                        <a:srgbClr val="C9C0A6"/>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9C0A6"/>
                      </a:solidFill>
                      <a:prstDash val="solid"/>
                      <a:round/>
                      <a:headEnd type="none" w="med" len="med"/>
                      <a:tailEnd type="none" w="med" len="med"/>
                    </a:lnB>
                    <a:solidFill>
                      <a:srgbClr val="FCF1D0"/>
                    </a:solidFill>
                  </a:tcPr>
                </a:tc>
                <a:extLst>
                  <a:ext uri="{0D108BD9-81ED-4DB2-BD59-A6C34878D82A}">
                    <a16:rowId xmlns:a16="http://schemas.microsoft.com/office/drawing/2014/main" val="10005"/>
                  </a:ext>
                </a:extLst>
              </a:tr>
            </a:tbl>
          </a:graphicData>
        </a:graphic>
      </p:graphicFrame>
      <p:sp>
        <p:nvSpPr>
          <p:cNvPr id="10" name="Text 7"/>
          <p:cNvSpPr/>
          <p:nvPr/>
        </p:nvSpPr>
        <p:spPr>
          <a:xfrm>
            <a:off x="609600" y="4520307"/>
            <a:ext cx="510159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EB Garamond" pitchFamily="18" charset="0"/>
                <a:ea typeface="EB Garamond" pitchFamily="18" charset="-122"/>
                <a:cs typeface="EB Garamond" pitchFamily="18" charset="-120"/>
              </a:rPr>
              <a:t>Precio/mix +4 % y concentrado +1 %. Coca-Cola Zero Sugar, +14 % en volumen.</a:t>
            </a:r>
            <a:endParaRPr lang="en-US" sz="1300" dirty="0"/>
          </a:p>
        </p:txBody>
      </p:sp>
      <p:sp>
        <p:nvSpPr>
          <p:cNvPr id="11" name="Text 8"/>
          <p:cNvSpPr/>
          <p:nvPr/>
        </p:nvSpPr>
        <p:spPr>
          <a:xfrm>
            <a:off x="6019800" y="1905000"/>
            <a:ext cx="572947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Ingresos proyectados </a:t>
            </a:r>
            <a:r>
              <a:rPr lang="en-US" sz="1300" dirty="0">
                <a:solidFill>
                  <a:srgbClr val="5A5C77"/>
                </a:solidFill>
                <a:latin typeface="Jost" pitchFamily="34" charset="0"/>
                <a:ea typeface="Jost" pitchFamily="34" charset="-122"/>
                <a:cs typeface="Jost" pitchFamily="34" charset="-120"/>
              </a:rPr>
              <a:t>· mil M$, caso base</a:t>
            </a:r>
            <a:endParaRPr lang="en-US" sz="1300" dirty="0"/>
          </a:p>
        </p:txBody>
      </p:sp>
      <p:sp>
        <p:nvSpPr>
          <p:cNvPr id="12" name="Shape 9"/>
          <p:cNvSpPr/>
          <p:nvPr/>
        </p:nvSpPr>
        <p:spPr>
          <a:xfrm>
            <a:off x="6019800" y="4622105"/>
            <a:ext cx="5562600" cy="0"/>
          </a:xfrm>
          <a:prstGeom prst="line">
            <a:avLst/>
          </a:prstGeom>
          <a:noFill/>
          <a:ln w="6350">
            <a:solidFill>
              <a:srgbClr val="010736"/>
            </a:solidFill>
            <a:prstDash val="solid"/>
          </a:ln>
        </p:spPr>
        <p:txBody>
          <a:bodyPr/>
          <a:lstStyle/>
          <a:p>
            <a:endParaRPr lang="en-US"/>
          </a:p>
        </p:txBody>
      </p:sp>
      <p:sp>
        <p:nvSpPr>
          <p:cNvPr id="13" name="Text 10"/>
          <p:cNvSpPr/>
          <p:nvPr/>
        </p:nvSpPr>
        <p:spPr>
          <a:xfrm>
            <a:off x="6337945" y="2990850"/>
            <a:ext cx="392311"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010736"/>
                </a:solidFill>
                <a:latin typeface="Jost" pitchFamily="34" charset="0"/>
                <a:ea typeface="Jost" pitchFamily="34" charset="-122"/>
                <a:cs typeface="Jost" pitchFamily="34" charset="-120"/>
              </a:rPr>
              <a:t>48,1</a:t>
            </a:r>
            <a:endParaRPr lang="en-US" sz="1300" dirty="0"/>
          </a:p>
        </p:txBody>
      </p:sp>
      <p:sp>
        <p:nvSpPr>
          <p:cNvPr id="14" name="Shape 11"/>
          <p:cNvSpPr/>
          <p:nvPr/>
        </p:nvSpPr>
        <p:spPr>
          <a:xfrm>
            <a:off x="6184900" y="3272730"/>
            <a:ext cx="698500" cy="1346200"/>
          </a:xfrm>
          <a:prstGeom prst="rect">
            <a:avLst/>
          </a:prstGeom>
          <a:solidFill>
            <a:srgbClr val="8590A9"/>
          </a:solidFill>
          <a:ln/>
        </p:spPr>
        <p:txBody>
          <a:bodyPr/>
          <a:lstStyle/>
          <a:p>
            <a:endParaRPr lang="en-US"/>
          </a:p>
        </p:txBody>
      </p:sp>
      <p:sp>
        <p:nvSpPr>
          <p:cNvPr id="15" name="Text 12"/>
          <p:cNvSpPr/>
          <p:nvPr/>
        </p:nvSpPr>
        <p:spPr>
          <a:xfrm>
            <a:off x="7465338" y="2965450"/>
            <a:ext cx="404574"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22396F"/>
                </a:solidFill>
                <a:latin typeface="Jost" pitchFamily="34" charset="0"/>
                <a:ea typeface="Jost" pitchFamily="34" charset="-122"/>
                <a:cs typeface="Jost" pitchFamily="34" charset="-120"/>
              </a:rPr>
              <a:t>49,1</a:t>
            </a:r>
            <a:endParaRPr lang="en-US" sz="1300" dirty="0"/>
          </a:p>
        </p:txBody>
      </p:sp>
      <p:sp>
        <p:nvSpPr>
          <p:cNvPr id="16" name="Shape 13"/>
          <p:cNvSpPr/>
          <p:nvPr/>
        </p:nvSpPr>
        <p:spPr>
          <a:xfrm>
            <a:off x="7318375" y="3247330"/>
            <a:ext cx="698500" cy="1371600"/>
          </a:xfrm>
          <a:prstGeom prst="rect">
            <a:avLst/>
          </a:prstGeom>
          <a:solidFill>
            <a:srgbClr val="22396F"/>
          </a:solidFill>
          <a:ln/>
        </p:spPr>
        <p:txBody>
          <a:bodyPr/>
          <a:lstStyle/>
          <a:p>
            <a:endParaRPr lang="en-US"/>
          </a:p>
        </p:txBody>
      </p:sp>
      <p:sp>
        <p:nvSpPr>
          <p:cNvPr id="17" name="Text 14"/>
          <p:cNvSpPr/>
          <p:nvPr/>
        </p:nvSpPr>
        <p:spPr>
          <a:xfrm>
            <a:off x="8588812" y="2870200"/>
            <a:ext cx="424577"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010736"/>
                </a:solidFill>
                <a:latin typeface="Jost" pitchFamily="34" charset="0"/>
                <a:ea typeface="Jost" pitchFamily="34" charset="-122"/>
                <a:cs typeface="Jost" pitchFamily="34" charset="-120"/>
              </a:rPr>
              <a:t>52,4</a:t>
            </a:r>
            <a:endParaRPr lang="en-US" sz="1300" dirty="0"/>
          </a:p>
        </p:txBody>
      </p:sp>
      <p:sp>
        <p:nvSpPr>
          <p:cNvPr id="18" name="Shape 15"/>
          <p:cNvSpPr/>
          <p:nvPr/>
        </p:nvSpPr>
        <p:spPr>
          <a:xfrm>
            <a:off x="8451850" y="3152080"/>
            <a:ext cx="698500" cy="1466850"/>
          </a:xfrm>
          <a:prstGeom prst="rect">
            <a:avLst/>
          </a:prstGeom>
          <a:solidFill>
            <a:srgbClr val="8590A9"/>
          </a:solidFill>
          <a:ln/>
        </p:spPr>
        <p:txBody>
          <a:bodyPr/>
          <a:lstStyle/>
          <a:p>
            <a:endParaRPr lang="en-US"/>
          </a:p>
        </p:txBody>
      </p:sp>
      <p:sp>
        <p:nvSpPr>
          <p:cNvPr id="19" name="Text 16"/>
          <p:cNvSpPr/>
          <p:nvPr/>
        </p:nvSpPr>
        <p:spPr>
          <a:xfrm>
            <a:off x="9738479" y="2724150"/>
            <a:ext cx="392192"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010736"/>
                </a:solidFill>
                <a:latin typeface="Jost" pitchFamily="34" charset="0"/>
                <a:ea typeface="Jost" pitchFamily="34" charset="-122"/>
                <a:cs typeface="Jost" pitchFamily="34" charset="-120"/>
              </a:rPr>
              <a:t>57,6</a:t>
            </a:r>
            <a:endParaRPr lang="en-US" sz="1300" dirty="0"/>
          </a:p>
        </p:txBody>
      </p:sp>
      <p:sp>
        <p:nvSpPr>
          <p:cNvPr id="20" name="Shape 17"/>
          <p:cNvSpPr/>
          <p:nvPr/>
        </p:nvSpPr>
        <p:spPr>
          <a:xfrm>
            <a:off x="9585325" y="3006030"/>
            <a:ext cx="698500" cy="1612900"/>
          </a:xfrm>
          <a:prstGeom prst="rect">
            <a:avLst/>
          </a:prstGeom>
          <a:solidFill>
            <a:srgbClr val="8590A9"/>
          </a:solidFill>
          <a:ln/>
        </p:spPr>
        <p:txBody>
          <a:bodyPr/>
          <a:lstStyle/>
          <a:p>
            <a:endParaRPr lang="en-US"/>
          </a:p>
        </p:txBody>
      </p:sp>
      <p:sp>
        <p:nvSpPr>
          <p:cNvPr id="21" name="Text 18"/>
          <p:cNvSpPr/>
          <p:nvPr/>
        </p:nvSpPr>
        <p:spPr>
          <a:xfrm>
            <a:off x="10861248" y="2305050"/>
            <a:ext cx="413504"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010736"/>
                </a:solidFill>
                <a:latin typeface="Jost" pitchFamily="34" charset="0"/>
                <a:ea typeface="Jost" pitchFamily="34" charset="-122"/>
                <a:cs typeface="Jost" pitchFamily="34" charset="-120"/>
              </a:rPr>
              <a:t>72,6</a:t>
            </a:r>
            <a:endParaRPr lang="en-US" sz="1300" dirty="0"/>
          </a:p>
        </p:txBody>
      </p:sp>
      <p:sp>
        <p:nvSpPr>
          <p:cNvPr id="22" name="Shape 19"/>
          <p:cNvSpPr/>
          <p:nvPr/>
        </p:nvSpPr>
        <p:spPr>
          <a:xfrm>
            <a:off x="10718800" y="2586930"/>
            <a:ext cx="698500" cy="2032000"/>
          </a:xfrm>
          <a:prstGeom prst="rect">
            <a:avLst/>
          </a:prstGeom>
          <a:solidFill>
            <a:srgbClr val="8590A9"/>
          </a:solidFill>
          <a:ln/>
        </p:spPr>
        <p:txBody>
          <a:bodyPr/>
          <a:lstStyle/>
          <a:p>
            <a:endParaRPr lang="en-US"/>
          </a:p>
        </p:txBody>
      </p:sp>
      <p:sp>
        <p:nvSpPr>
          <p:cNvPr id="23" name="Text 20"/>
          <p:cNvSpPr/>
          <p:nvPr/>
        </p:nvSpPr>
        <p:spPr>
          <a:xfrm>
            <a:off x="6096000" y="4726880"/>
            <a:ext cx="876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2025A</a:t>
            </a:r>
            <a:endParaRPr lang="en-US" sz="1200" dirty="0"/>
          </a:p>
        </p:txBody>
      </p:sp>
      <p:sp>
        <p:nvSpPr>
          <p:cNvPr id="24" name="Text 21"/>
          <p:cNvSpPr/>
          <p:nvPr/>
        </p:nvSpPr>
        <p:spPr>
          <a:xfrm>
            <a:off x="7229475" y="4726880"/>
            <a:ext cx="876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2026E</a:t>
            </a:r>
            <a:endParaRPr lang="en-US" sz="1200" dirty="0"/>
          </a:p>
        </p:txBody>
      </p:sp>
      <p:sp>
        <p:nvSpPr>
          <p:cNvPr id="25" name="Text 22"/>
          <p:cNvSpPr/>
          <p:nvPr/>
        </p:nvSpPr>
        <p:spPr>
          <a:xfrm>
            <a:off x="8362950" y="4726880"/>
            <a:ext cx="876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2028E</a:t>
            </a:r>
            <a:endParaRPr lang="en-US" sz="1200" dirty="0"/>
          </a:p>
        </p:txBody>
      </p:sp>
      <p:sp>
        <p:nvSpPr>
          <p:cNvPr id="26" name="Text 23"/>
          <p:cNvSpPr/>
          <p:nvPr/>
        </p:nvSpPr>
        <p:spPr>
          <a:xfrm>
            <a:off x="9496425" y="4726880"/>
            <a:ext cx="876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2030E</a:t>
            </a:r>
            <a:endParaRPr lang="en-US" sz="1200" dirty="0"/>
          </a:p>
        </p:txBody>
      </p:sp>
      <p:sp>
        <p:nvSpPr>
          <p:cNvPr id="27" name="Text 24"/>
          <p:cNvSpPr/>
          <p:nvPr/>
        </p:nvSpPr>
        <p:spPr>
          <a:xfrm>
            <a:off x="10629900" y="4726880"/>
            <a:ext cx="8763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2035E</a:t>
            </a:r>
            <a:endParaRPr lang="en-US" sz="1200" dirty="0"/>
          </a:p>
        </p:txBody>
      </p:sp>
      <p:sp>
        <p:nvSpPr>
          <p:cNvPr id="28" name="Text 25"/>
          <p:cNvSpPr/>
          <p:nvPr/>
        </p:nvSpPr>
        <p:spPr>
          <a:xfrm>
            <a:off x="6019800" y="5054501"/>
            <a:ext cx="572947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EB Garamond" pitchFamily="18" charset="0"/>
                <a:ea typeface="EB Garamond" pitchFamily="18" charset="-122"/>
                <a:cs typeface="EB Garamond" pitchFamily="18" charset="-120"/>
              </a:rPr>
              <a:t>TACC 2025–2035 del 4,2 %; Latinoamérica, +6,3 % anual de media.</a:t>
            </a:r>
            <a:endParaRPr lang="en-US" sz="1300" dirty="0"/>
          </a:p>
        </p:txBody>
      </p:sp>
      <p:sp>
        <p:nvSpPr>
          <p:cNvPr id="29" name="Shape 26"/>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30" name="Text 27"/>
          <p:cNvSpPr/>
          <p:nvPr/>
        </p:nvSpPr>
        <p:spPr>
          <a:xfrm>
            <a:off x="609600" y="6398320"/>
            <a:ext cx="6352580"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Coca-Cola, resultados FY 2025 (10/02/2026); modelo propio, caso base; análisis propio.</a:t>
            </a:r>
            <a:endParaRPr lang="en-US" sz="1200" dirty="0"/>
          </a:p>
        </p:txBody>
      </p:sp>
      <p:sp>
        <p:nvSpPr>
          <p:cNvPr id="32" name="Text 29"/>
          <p:cNvSpPr/>
          <p:nvPr/>
        </p:nvSpPr>
        <p:spPr>
          <a:xfrm>
            <a:off x="10923091" y="6390680"/>
            <a:ext cx="710109" cy="238720"/>
          </a:xfrm>
          <a:prstGeom prst="rect">
            <a:avLst/>
          </a:prstGeom>
          <a:noFill/>
          <a:ln/>
        </p:spPr>
        <p:txBody>
          <a:bodyPr wrap="non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05 / 11</a:t>
            </a:r>
            <a:endParaRPr lang="en-US" sz="1200" dirty="0"/>
          </a:p>
        </p:txBody>
      </p:sp>
    </p:spTree>
    <p:extLst>
      <p:ext uri="{BB962C8B-B14F-4D97-AF65-F5344CB8AC3E}">
        <p14:creationId xmlns:p14="http://schemas.microsoft.com/office/powerpoint/2010/main" val="1973635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562225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TESIS 3 · EL PRECIO DESCUENTA LA PERFECCIÓN</a:t>
            </a:r>
            <a:endParaRPr lang="en-US" sz="1200" dirty="0"/>
          </a:p>
        </p:txBody>
      </p:sp>
      <p:sp>
        <p:nvSpPr>
          <p:cNvPr id="3" name="Text 1"/>
          <p:cNvSpPr/>
          <p:nvPr/>
        </p:nvSpPr>
        <p:spPr>
          <a:xfrm>
            <a:off x="8585200" y="355600"/>
            <a:ext cx="381000"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9017000" y="379710"/>
            <a:ext cx="6350" cy="165100"/>
          </a:xfrm>
          <a:prstGeom prst="rect">
            <a:avLst/>
          </a:prstGeom>
          <a:solidFill>
            <a:srgbClr val="010736"/>
          </a:solidFill>
          <a:ln/>
        </p:spPr>
        <p:txBody>
          <a:bodyPr/>
          <a:lstStyle/>
          <a:p>
            <a:endParaRPr lang="en-US"/>
          </a:p>
        </p:txBody>
      </p:sp>
      <p:sp>
        <p:nvSpPr>
          <p:cNvPr id="5" name="Text 3"/>
          <p:cNvSpPr/>
          <p:nvPr/>
        </p:nvSpPr>
        <p:spPr>
          <a:xfrm>
            <a:off x="9093200" y="355600"/>
            <a:ext cx="2540000" cy="238720"/>
          </a:xfrm>
          <a:prstGeom prst="rect">
            <a:avLst/>
          </a:prstGeom>
          <a:noFill/>
          <a:ln/>
        </p:spPr>
        <p:txBody>
          <a:bodyPr wrap="non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Para </a:t>
            </a:r>
            <a:r>
              <a:rPr lang="en-US" sz="2400" b="0" i="0" kern="0" spc="-25" dirty="0" err="1">
                <a:solidFill>
                  <a:srgbClr val="010736"/>
                </a:solidFill>
                <a:latin typeface="Jost" pitchFamily="34" charset="0"/>
                <a:ea typeface="Jost" pitchFamily="34" charset="-122"/>
                <a:cs typeface="Jost" pitchFamily="34" charset="-120"/>
              </a:rPr>
              <a:t>justificar</a:t>
            </a:r>
            <a:r>
              <a:rPr lang="en-US" sz="2400" b="0" i="0" kern="0" spc="-25" dirty="0">
                <a:solidFill>
                  <a:srgbClr val="010736"/>
                </a:solidFill>
                <a:latin typeface="Jost" pitchFamily="34" charset="0"/>
                <a:ea typeface="Jost" pitchFamily="34" charset="-122"/>
                <a:cs typeface="Jost" pitchFamily="34" charset="-120"/>
              </a:rPr>
              <a:t> el </a:t>
            </a:r>
            <a:r>
              <a:rPr lang="en-US" sz="2400" b="0" i="0" kern="0" spc="-25" dirty="0" err="1">
                <a:solidFill>
                  <a:srgbClr val="010736"/>
                </a:solidFill>
                <a:latin typeface="Jost" pitchFamily="34" charset="0"/>
                <a:ea typeface="Jost" pitchFamily="34" charset="-122"/>
                <a:cs typeface="Jost" pitchFamily="34" charset="-120"/>
              </a:rPr>
              <a:t>precio</a:t>
            </a:r>
            <a:r>
              <a:rPr lang="en-US" sz="2400" b="0" i="0" kern="0" spc="-25" dirty="0">
                <a:solidFill>
                  <a:srgbClr val="010736"/>
                </a:solidFill>
                <a:latin typeface="Jost" pitchFamily="34" charset="0"/>
                <a:ea typeface="Jost" pitchFamily="34" charset="-122"/>
                <a:cs typeface="Jost" pitchFamily="34" charset="-120"/>
              </a:rPr>
              <a:t> de 92,7 $ hace falta un múltiplo de salida de 20x o crecer más del 2,75 % </a:t>
            </a:r>
            <a:r>
              <a:rPr lang="en-US" kern="0" spc="-25" dirty="0" err="1"/>
              <a:t>en</a:t>
            </a:r>
            <a:r>
              <a:rPr lang="en-US" kern="0" spc="-25" dirty="0"/>
              <a:t> </a:t>
            </a:r>
            <a:r>
              <a:rPr lang="en-US" kern="0" spc="-25" dirty="0" err="1"/>
              <a:t>perpetuidad</a:t>
            </a:r>
            <a:r>
              <a:rPr lang="en-US" kern="0" spc="-25" dirty="0"/>
              <a:t>.</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Shape 6"/>
          <p:cNvSpPr/>
          <p:nvPr/>
        </p:nvSpPr>
        <p:spPr>
          <a:xfrm>
            <a:off x="609600" y="1909762"/>
            <a:ext cx="10972800" cy="0"/>
          </a:xfrm>
          <a:prstGeom prst="line">
            <a:avLst/>
          </a:prstGeom>
          <a:noFill/>
          <a:ln w="9525">
            <a:solidFill>
              <a:srgbClr val="010736"/>
            </a:solidFill>
            <a:prstDash val="solid"/>
          </a:ln>
        </p:spPr>
        <p:txBody>
          <a:bodyPr/>
          <a:lstStyle/>
          <a:p>
            <a:endParaRPr lang="en-US"/>
          </a:p>
        </p:txBody>
      </p:sp>
      <p:sp>
        <p:nvSpPr>
          <p:cNvPr id="9" name="Text 7"/>
          <p:cNvSpPr/>
          <p:nvPr/>
        </p:nvSpPr>
        <p:spPr>
          <a:xfrm>
            <a:off x="609600" y="2063750"/>
            <a:ext cx="264236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A5C77"/>
                </a:solidFill>
                <a:latin typeface="Jost" pitchFamily="34" charset="0"/>
                <a:ea typeface="Jost" pitchFamily="34" charset="-122"/>
                <a:cs typeface="Jost" pitchFamily="34" charset="-120"/>
              </a:rPr>
              <a:t>PER FY 2025</a:t>
            </a:r>
            <a:endParaRPr lang="en-US" sz="1200" dirty="0"/>
          </a:p>
        </p:txBody>
      </p:sp>
      <p:sp>
        <p:nvSpPr>
          <p:cNvPr id="10" name="Text 8"/>
          <p:cNvSpPr/>
          <p:nvPr/>
        </p:nvSpPr>
        <p:spPr>
          <a:xfrm>
            <a:off x="609600" y="2315170"/>
            <a:ext cx="2642362"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22396F"/>
                </a:solidFill>
                <a:latin typeface="Jost" pitchFamily="34" charset="0"/>
                <a:ea typeface="Jost" pitchFamily="34" charset="-122"/>
                <a:cs typeface="Jost" pitchFamily="34" charset="-120"/>
              </a:rPr>
              <a:t>30,5 </a:t>
            </a:r>
            <a:r>
              <a:rPr lang="en-US" sz="3600" dirty="0">
                <a:solidFill>
                  <a:srgbClr val="5A5C77"/>
                </a:solidFill>
                <a:latin typeface="Jost" pitchFamily="34" charset="0"/>
                <a:ea typeface="Jost" pitchFamily="34" charset="-122"/>
                <a:cs typeface="Jost" pitchFamily="34" charset="-120"/>
              </a:rPr>
              <a:t>x</a:t>
            </a:r>
            <a:endParaRPr lang="en-US" sz="3600" dirty="0"/>
          </a:p>
        </p:txBody>
      </p:sp>
      <p:sp>
        <p:nvSpPr>
          <p:cNvPr id="11" name="Text 9"/>
          <p:cNvSpPr/>
          <p:nvPr/>
        </p:nvSpPr>
        <p:spPr>
          <a:xfrm>
            <a:off x="609600" y="2856111"/>
            <a:ext cx="2642362"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A5C77"/>
                </a:solidFill>
                <a:latin typeface="EB Garamond" pitchFamily="18" charset="0"/>
                <a:ea typeface="EB Garamond" pitchFamily="18" charset="-122"/>
                <a:cs typeface="EB Garamond" pitchFamily="18" charset="-120"/>
              </a:rPr>
              <a:t>Comparables: 14,3x–20,8x</a:t>
            </a:r>
            <a:endParaRPr lang="en-US" sz="1200" dirty="0"/>
          </a:p>
        </p:txBody>
      </p:sp>
      <p:sp>
        <p:nvSpPr>
          <p:cNvPr id="12" name="Shape 10"/>
          <p:cNvSpPr/>
          <p:nvPr/>
        </p:nvSpPr>
        <p:spPr>
          <a:xfrm>
            <a:off x="3355975" y="1911350"/>
            <a:ext cx="0" cy="1310481"/>
          </a:xfrm>
          <a:prstGeom prst="line">
            <a:avLst/>
          </a:prstGeom>
          <a:noFill/>
          <a:ln w="6350">
            <a:solidFill>
              <a:srgbClr val="D0CECE"/>
            </a:solidFill>
            <a:prstDash val="solid"/>
          </a:ln>
        </p:spPr>
        <p:txBody>
          <a:bodyPr/>
          <a:lstStyle/>
          <a:p>
            <a:endParaRPr lang="en-US"/>
          </a:p>
        </p:txBody>
      </p:sp>
      <p:sp>
        <p:nvSpPr>
          <p:cNvPr id="13" name="Text 11"/>
          <p:cNvSpPr/>
          <p:nvPr/>
        </p:nvSpPr>
        <p:spPr>
          <a:xfrm>
            <a:off x="3536950" y="2063750"/>
            <a:ext cx="245268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A5C77"/>
                </a:solidFill>
                <a:latin typeface="Jost" pitchFamily="34" charset="0"/>
                <a:ea typeface="Jost" pitchFamily="34" charset="-122"/>
                <a:cs typeface="Jost" pitchFamily="34" charset="-120"/>
              </a:rPr>
              <a:t>MÚLTIPLO IMPLÍCITO</a:t>
            </a:r>
            <a:endParaRPr lang="en-US" sz="1200" dirty="0"/>
          </a:p>
        </p:txBody>
      </p:sp>
      <p:sp>
        <p:nvSpPr>
          <p:cNvPr id="14" name="Text 12"/>
          <p:cNvSpPr/>
          <p:nvPr/>
        </p:nvSpPr>
        <p:spPr>
          <a:xfrm>
            <a:off x="3536950" y="2315170"/>
            <a:ext cx="2452688"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20 </a:t>
            </a:r>
            <a:r>
              <a:rPr lang="en-US" sz="3600" dirty="0">
                <a:solidFill>
                  <a:srgbClr val="5A5C77"/>
                </a:solidFill>
                <a:latin typeface="Jost" pitchFamily="34" charset="0"/>
                <a:ea typeface="Jost" pitchFamily="34" charset="-122"/>
                <a:cs typeface="Jost" pitchFamily="34" charset="-120"/>
              </a:rPr>
              <a:t>x</a:t>
            </a:r>
            <a:endParaRPr lang="en-US" sz="3600" dirty="0"/>
          </a:p>
        </p:txBody>
      </p:sp>
      <p:sp>
        <p:nvSpPr>
          <p:cNvPr id="15" name="Text 13"/>
          <p:cNvSpPr/>
          <p:nvPr/>
        </p:nvSpPr>
        <p:spPr>
          <a:xfrm>
            <a:off x="3536950" y="2856111"/>
            <a:ext cx="2452688"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A5C77"/>
                </a:solidFill>
                <a:latin typeface="EB Garamond" pitchFamily="18" charset="0"/>
                <a:ea typeface="EB Garamond" pitchFamily="18" charset="-122"/>
                <a:cs typeface="EB Garamond" pitchFamily="18" charset="-120"/>
              </a:rPr>
              <a:t>VE/EBITDA de salida en 2035</a:t>
            </a:r>
            <a:endParaRPr lang="en-US" sz="1200" dirty="0"/>
          </a:p>
        </p:txBody>
      </p:sp>
      <p:sp>
        <p:nvSpPr>
          <p:cNvPr id="16" name="Shape 14"/>
          <p:cNvSpPr/>
          <p:nvPr/>
        </p:nvSpPr>
        <p:spPr>
          <a:xfrm>
            <a:off x="6099175" y="1911350"/>
            <a:ext cx="0" cy="1310481"/>
          </a:xfrm>
          <a:prstGeom prst="line">
            <a:avLst/>
          </a:prstGeom>
          <a:noFill/>
          <a:ln w="6350">
            <a:solidFill>
              <a:srgbClr val="D0CECE"/>
            </a:solidFill>
            <a:prstDash val="solid"/>
          </a:ln>
        </p:spPr>
        <p:txBody>
          <a:bodyPr/>
          <a:lstStyle/>
          <a:p>
            <a:endParaRPr lang="en-US"/>
          </a:p>
        </p:txBody>
      </p:sp>
      <p:sp>
        <p:nvSpPr>
          <p:cNvPr id="17" name="Text 15"/>
          <p:cNvSpPr/>
          <p:nvPr/>
        </p:nvSpPr>
        <p:spPr>
          <a:xfrm>
            <a:off x="6280150" y="2063750"/>
            <a:ext cx="245268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A5C77"/>
                </a:solidFill>
                <a:latin typeface="Jost" pitchFamily="34" charset="0"/>
                <a:ea typeface="Jost" pitchFamily="34" charset="-122"/>
                <a:cs typeface="Jost" pitchFamily="34" charset="-120"/>
              </a:rPr>
              <a:t>G IMPLÍCITO</a:t>
            </a:r>
            <a:endParaRPr lang="en-US" sz="1200" dirty="0"/>
          </a:p>
        </p:txBody>
      </p:sp>
      <p:sp>
        <p:nvSpPr>
          <p:cNvPr id="18" name="Text 16"/>
          <p:cNvSpPr/>
          <p:nvPr/>
        </p:nvSpPr>
        <p:spPr>
          <a:xfrm>
            <a:off x="6280150" y="2315170"/>
            <a:ext cx="2452688"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&gt; 2,75 </a:t>
            </a:r>
            <a:r>
              <a:rPr lang="en-US" sz="3600" dirty="0">
                <a:solidFill>
                  <a:srgbClr val="5A5C77"/>
                </a:solidFill>
                <a:latin typeface="Jost" pitchFamily="34" charset="0"/>
                <a:ea typeface="Jost" pitchFamily="34" charset="-122"/>
                <a:cs typeface="Jost" pitchFamily="34" charset="-120"/>
              </a:rPr>
              <a:t>%</a:t>
            </a:r>
            <a:endParaRPr lang="en-US" sz="3600" dirty="0"/>
          </a:p>
        </p:txBody>
      </p:sp>
      <p:sp>
        <p:nvSpPr>
          <p:cNvPr id="19" name="Text 17"/>
          <p:cNvSpPr/>
          <p:nvPr/>
        </p:nvSpPr>
        <p:spPr>
          <a:xfrm>
            <a:off x="6280150" y="2856111"/>
            <a:ext cx="2452688"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A5C77"/>
                </a:solidFill>
                <a:latin typeface="EB Garamond" pitchFamily="18" charset="0"/>
                <a:ea typeface="EB Garamond" pitchFamily="18" charset="-122"/>
                <a:cs typeface="EB Garamond" pitchFamily="18" charset="-120"/>
              </a:rPr>
              <a:t>Con WACC del 5,98 %</a:t>
            </a:r>
            <a:endParaRPr lang="en-US" sz="1200" dirty="0"/>
          </a:p>
        </p:txBody>
      </p:sp>
      <p:sp>
        <p:nvSpPr>
          <p:cNvPr id="20" name="Shape 18"/>
          <p:cNvSpPr/>
          <p:nvPr/>
        </p:nvSpPr>
        <p:spPr>
          <a:xfrm>
            <a:off x="8842375" y="1911350"/>
            <a:ext cx="0" cy="1310481"/>
          </a:xfrm>
          <a:prstGeom prst="line">
            <a:avLst/>
          </a:prstGeom>
          <a:noFill/>
          <a:ln w="6350">
            <a:solidFill>
              <a:srgbClr val="D0CECE"/>
            </a:solidFill>
            <a:prstDash val="solid"/>
          </a:ln>
        </p:spPr>
        <p:txBody>
          <a:bodyPr/>
          <a:lstStyle/>
          <a:p>
            <a:endParaRPr lang="en-US"/>
          </a:p>
        </p:txBody>
      </p:sp>
      <p:sp>
        <p:nvSpPr>
          <p:cNvPr id="21" name="Text 19"/>
          <p:cNvSpPr/>
          <p:nvPr/>
        </p:nvSpPr>
        <p:spPr>
          <a:xfrm>
            <a:off x="9023350" y="2063750"/>
            <a:ext cx="2635821"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A5C77"/>
                </a:solidFill>
                <a:latin typeface="Jost" pitchFamily="34" charset="0"/>
                <a:ea typeface="Jost" pitchFamily="34" charset="-122"/>
                <a:cs typeface="Jost" pitchFamily="34" charset="-120"/>
              </a:rPr>
              <a:t>RENTAB. DIVIDENDO</a:t>
            </a:r>
            <a:endParaRPr lang="en-US" sz="1200" dirty="0"/>
          </a:p>
        </p:txBody>
      </p:sp>
      <p:sp>
        <p:nvSpPr>
          <p:cNvPr id="22" name="Text 20"/>
          <p:cNvSpPr/>
          <p:nvPr/>
        </p:nvSpPr>
        <p:spPr>
          <a:xfrm>
            <a:off x="9023350" y="2315170"/>
            <a:ext cx="2635821" cy="528241"/>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010736"/>
                </a:solidFill>
                <a:latin typeface="Jost" pitchFamily="34" charset="0"/>
                <a:ea typeface="Jost" pitchFamily="34" charset="-122"/>
                <a:cs typeface="Jost" pitchFamily="34" charset="-120"/>
              </a:rPr>
              <a:t>2,2 </a:t>
            </a:r>
            <a:r>
              <a:rPr lang="en-US" sz="3600" dirty="0">
                <a:solidFill>
                  <a:srgbClr val="5A5C77"/>
                </a:solidFill>
                <a:latin typeface="Jost" pitchFamily="34" charset="0"/>
                <a:ea typeface="Jost" pitchFamily="34" charset="-122"/>
                <a:cs typeface="Jost" pitchFamily="34" charset="-120"/>
              </a:rPr>
              <a:t>%</a:t>
            </a:r>
            <a:endParaRPr lang="en-US" sz="3600" dirty="0"/>
          </a:p>
        </p:txBody>
      </p:sp>
      <p:sp>
        <p:nvSpPr>
          <p:cNvPr id="23" name="Text 21"/>
          <p:cNvSpPr/>
          <p:nvPr/>
        </p:nvSpPr>
        <p:spPr>
          <a:xfrm>
            <a:off x="9023350" y="2856111"/>
            <a:ext cx="2635821"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5A5C77"/>
                </a:solidFill>
                <a:latin typeface="EB Garamond" pitchFamily="18" charset="0"/>
                <a:ea typeface="EB Garamond" pitchFamily="18" charset="-122"/>
                <a:cs typeface="EB Garamond" pitchFamily="18" charset="-120"/>
              </a:rPr>
              <a:t>Comparables: 2,7–3,7 %</a:t>
            </a:r>
            <a:endParaRPr lang="en-US" sz="1200" dirty="0"/>
          </a:p>
        </p:txBody>
      </p:sp>
      <p:sp>
        <p:nvSpPr>
          <p:cNvPr id="24" name="Shape 22"/>
          <p:cNvSpPr/>
          <p:nvPr/>
        </p:nvSpPr>
        <p:spPr>
          <a:xfrm>
            <a:off x="609600" y="3475831"/>
            <a:ext cx="10972800" cy="869950"/>
          </a:xfrm>
          <a:prstGeom prst="rect">
            <a:avLst/>
          </a:prstGeom>
          <a:solidFill>
            <a:srgbClr val="FCF1D0"/>
          </a:solidFill>
          <a:ln/>
        </p:spPr>
        <p:txBody>
          <a:bodyPr/>
          <a:lstStyle/>
          <a:p>
            <a:endParaRPr lang="en-US"/>
          </a:p>
        </p:txBody>
      </p:sp>
      <p:sp>
        <p:nvSpPr>
          <p:cNvPr id="25" name="Shape 23"/>
          <p:cNvSpPr/>
          <p:nvPr/>
        </p:nvSpPr>
        <p:spPr>
          <a:xfrm>
            <a:off x="609600" y="3480594"/>
            <a:ext cx="10972800" cy="0"/>
          </a:xfrm>
          <a:prstGeom prst="line">
            <a:avLst/>
          </a:prstGeom>
          <a:noFill/>
          <a:ln w="9525">
            <a:solidFill>
              <a:srgbClr val="010736"/>
            </a:solidFill>
            <a:prstDash val="solid"/>
          </a:ln>
        </p:spPr>
        <p:txBody>
          <a:bodyPr/>
          <a:lstStyle/>
          <a:p>
            <a:endParaRPr lang="en-US"/>
          </a:p>
        </p:txBody>
      </p:sp>
      <p:sp>
        <p:nvSpPr>
          <p:cNvPr id="26" name="Text 24"/>
          <p:cNvSpPr/>
          <p:nvPr/>
        </p:nvSpPr>
        <p:spPr>
          <a:xfrm>
            <a:off x="812800" y="3647281"/>
            <a:ext cx="1574800" cy="55880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2396F"/>
                </a:solidFill>
                <a:latin typeface="Jost" pitchFamily="34" charset="0"/>
                <a:ea typeface="Jost" pitchFamily="34" charset="-122"/>
                <a:cs typeface="Jost" pitchFamily="34" charset="-120"/>
              </a:rPr>
              <a:t>CONCLUSIÓN</a:t>
            </a:r>
            <a:endParaRPr lang="en-US" sz="1200" dirty="0"/>
          </a:p>
        </p:txBody>
      </p:sp>
      <p:sp>
        <p:nvSpPr>
          <p:cNvPr id="27" name="Text 25"/>
          <p:cNvSpPr/>
          <p:nvPr/>
        </p:nvSpPr>
        <p:spPr>
          <a:xfrm>
            <a:off x="2489200" y="3647281"/>
            <a:ext cx="902589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10736"/>
                </a:solidFill>
                <a:latin typeface="EB Garamond" pitchFamily="18" charset="0"/>
                <a:ea typeface="EB Garamond" pitchFamily="18" charset="-122"/>
                <a:cs typeface="EB Garamond" pitchFamily="18" charset="-120"/>
              </a:rPr>
              <a:t>La cotización ya incorpora un escenario optimista. Con hipótesis razonables, el valor está por debajo; con hipótesis prudentes, un 17 % por debajo.</a:t>
            </a:r>
            <a:endParaRPr lang="en-US" sz="1500" dirty="0"/>
          </a:p>
        </p:txBody>
      </p:sp>
      <p:sp>
        <p:nvSpPr>
          <p:cNvPr id="28" name="Shape 26"/>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9" name="Text 27"/>
          <p:cNvSpPr/>
          <p:nvPr/>
        </p:nvSpPr>
        <p:spPr>
          <a:xfrm>
            <a:off x="609600" y="6398320"/>
            <a:ext cx="8754308"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modelo propio (tablas de sensibilidad; comparables: KDP, PEP, MNST, CELH, FIZZ, percentiles 25–75); análisis propio.</a:t>
            </a:r>
            <a:endParaRPr lang="en-US" sz="1200" dirty="0"/>
          </a:p>
        </p:txBody>
      </p:sp>
      <p:sp>
        <p:nvSpPr>
          <p:cNvPr id="31" name="Text 29"/>
          <p:cNvSpPr/>
          <p:nvPr/>
        </p:nvSpPr>
        <p:spPr>
          <a:xfrm>
            <a:off x="10920512" y="6390680"/>
            <a:ext cx="712688" cy="238720"/>
          </a:xfrm>
          <a:prstGeom prst="rect">
            <a:avLst/>
          </a:prstGeom>
          <a:noFill/>
          <a:ln/>
        </p:spPr>
        <p:txBody>
          <a:bodyPr wrap="non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06 / 11</a:t>
            </a:r>
            <a:endParaRPr lang="en-US" sz="1200" dirty="0"/>
          </a:p>
        </p:txBody>
      </p:sp>
    </p:spTree>
    <p:extLst>
      <p:ext uri="{BB962C8B-B14F-4D97-AF65-F5344CB8AC3E}">
        <p14:creationId xmlns:p14="http://schemas.microsoft.com/office/powerpoint/2010/main" val="2836723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2588181"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RESUMEN FINANCIERO</a:t>
            </a:r>
            <a:endParaRPr lang="en-US" sz="1200" dirty="0"/>
          </a:p>
        </p:txBody>
      </p:sp>
      <p:sp>
        <p:nvSpPr>
          <p:cNvPr id="3" name="Text 1"/>
          <p:cNvSpPr/>
          <p:nvPr/>
        </p:nvSpPr>
        <p:spPr>
          <a:xfrm>
            <a:off x="8585200" y="355600"/>
            <a:ext cx="381000"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9017000" y="379710"/>
            <a:ext cx="6350" cy="165100"/>
          </a:xfrm>
          <a:prstGeom prst="rect">
            <a:avLst/>
          </a:prstGeom>
          <a:solidFill>
            <a:srgbClr val="010736"/>
          </a:solidFill>
          <a:ln/>
        </p:spPr>
        <p:txBody>
          <a:bodyPr/>
          <a:lstStyle/>
          <a:p>
            <a:endParaRPr lang="en-US"/>
          </a:p>
        </p:txBody>
      </p:sp>
      <p:sp>
        <p:nvSpPr>
          <p:cNvPr id="5" name="Text 3"/>
          <p:cNvSpPr/>
          <p:nvPr/>
        </p:nvSpPr>
        <p:spPr>
          <a:xfrm>
            <a:off x="9093200" y="355600"/>
            <a:ext cx="2540000" cy="238720"/>
          </a:xfrm>
          <a:prstGeom prst="rect">
            <a:avLst/>
          </a:prstGeom>
          <a:noFill/>
          <a:ln/>
        </p:spPr>
        <p:txBody>
          <a:bodyPr wrap="non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EBITDA de 25,5 mil M$ en 2035, con el margen subiendo del 30,7 % al 35,1 % por la disciplina </a:t>
            </a:r>
            <a:r>
              <a:rPr lang="en-US" sz="2400" b="0" i="0" kern="0" spc="-25" dirty="0" err="1">
                <a:solidFill>
                  <a:srgbClr val="010736"/>
                </a:solidFill>
                <a:latin typeface="Jost" pitchFamily="34" charset="0"/>
                <a:ea typeface="Jost" pitchFamily="34" charset="-122"/>
                <a:cs typeface="Jost" pitchFamily="34" charset="-120"/>
              </a:rPr>
              <a:t>en</a:t>
            </a:r>
            <a:r>
              <a:rPr lang="en-US" sz="2400" b="0" i="0" kern="0" spc="-25" dirty="0">
                <a:solidFill>
                  <a:srgbClr val="010736"/>
                </a:solidFill>
                <a:latin typeface="Jost" pitchFamily="34" charset="0"/>
                <a:ea typeface="Jost" pitchFamily="34" charset="-122"/>
                <a:cs typeface="Jost" pitchFamily="34" charset="-120"/>
              </a:rPr>
              <a:t> </a:t>
            </a:r>
            <a:r>
              <a:rPr lang="en-US" sz="2400" b="0" i="0" kern="0" spc="-25" dirty="0" err="1">
                <a:solidFill>
                  <a:srgbClr val="010736"/>
                </a:solidFill>
                <a:latin typeface="Jost" pitchFamily="34" charset="0"/>
                <a:ea typeface="Jost" pitchFamily="34" charset="-122"/>
                <a:cs typeface="Jost" pitchFamily="34" charset="-120"/>
              </a:rPr>
              <a:t>gastos</a:t>
            </a:r>
            <a:r>
              <a:rPr lang="en-US" sz="2400" b="0" i="0" kern="0" spc="-25" dirty="0">
                <a:solidFill>
                  <a:srgbClr val="010736"/>
                </a:solidFill>
                <a:latin typeface="Jost" pitchFamily="34" charset="0"/>
                <a:ea typeface="Jost" pitchFamily="34" charset="-122"/>
                <a:cs typeface="Jost" pitchFamily="34" charset="-120"/>
              </a:rPr>
              <a:t>.</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graphicFrame>
        <p:nvGraphicFramePr>
          <p:cNvPr id="8" name="Table 0"/>
          <p:cNvGraphicFramePr>
            <a:graphicFrameLocks noGrp="1"/>
          </p:cNvGraphicFramePr>
          <p:nvPr/>
        </p:nvGraphicFramePr>
        <p:xfrm>
          <a:off x="622300" y="1892300"/>
          <a:ext cx="10960099" cy="3111500"/>
        </p:xfrm>
        <a:graphic>
          <a:graphicData uri="http://schemas.openxmlformats.org/drawingml/2006/table">
            <a:tbl>
              <a:tblPr/>
              <a:tblGrid>
                <a:gridCol w="2766627">
                  <a:extLst>
                    <a:ext uri="{9D8B030D-6E8A-4147-A177-3AD203B41FA5}">
                      <a16:colId xmlns:a16="http://schemas.microsoft.com/office/drawing/2014/main" val="20000"/>
                    </a:ext>
                  </a:extLst>
                </a:gridCol>
                <a:gridCol w="1170496">
                  <a:extLst>
                    <a:ext uri="{9D8B030D-6E8A-4147-A177-3AD203B41FA5}">
                      <a16:colId xmlns:a16="http://schemas.microsoft.com/office/drawing/2014/main" val="20001"/>
                    </a:ext>
                  </a:extLst>
                </a:gridCol>
                <a:gridCol w="1170496">
                  <a:extLst>
                    <a:ext uri="{9D8B030D-6E8A-4147-A177-3AD203B41FA5}">
                      <a16:colId xmlns:a16="http://schemas.microsoft.com/office/drawing/2014/main" val="20002"/>
                    </a:ext>
                  </a:extLst>
                </a:gridCol>
                <a:gridCol w="1170496">
                  <a:extLst>
                    <a:ext uri="{9D8B030D-6E8A-4147-A177-3AD203B41FA5}">
                      <a16:colId xmlns:a16="http://schemas.microsoft.com/office/drawing/2014/main" val="20003"/>
                    </a:ext>
                  </a:extLst>
                </a:gridCol>
                <a:gridCol w="1170496">
                  <a:extLst>
                    <a:ext uri="{9D8B030D-6E8A-4147-A177-3AD203B41FA5}">
                      <a16:colId xmlns:a16="http://schemas.microsoft.com/office/drawing/2014/main" val="20004"/>
                    </a:ext>
                  </a:extLst>
                </a:gridCol>
                <a:gridCol w="1170496">
                  <a:extLst>
                    <a:ext uri="{9D8B030D-6E8A-4147-A177-3AD203B41FA5}">
                      <a16:colId xmlns:a16="http://schemas.microsoft.com/office/drawing/2014/main" val="20005"/>
                    </a:ext>
                  </a:extLst>
                </a:gridCol>
                <a:gridCol w="1170496">
                  <a:extLst>
                    <a:ext uri="{9D8B030D-6E8A-4147-A177-3AD203B41FA5}">
                      <a16:colId xmlns:a16="http://schemas.microsoft.com/office/drawing/2014/main" val="20006"/>
                    </a:ext>
                  </a:extLst>
                </a:gridCol>
                <a:gridCol w="1170496">
                  <a:extLst>
                    <a:ext uri="{9D8B030D-6E8A-4147-A177-3AD203B41FA5}">
                      <a16:colId xmlns:a16="http://schemas.microsoft.com/office/drawing/2014/main" val="20007"/>
                    </a:ext>
                  </a:extLst>
                </a:gridCol>
              </a:tblGrid>
              <a:tr h="311150">
                <a:tc>
                  <a:txBody>
                    <a:bodyPr/>
                    <a:lstStyle/>
                    <a:p>
                      <a:pPr marL="0" indent="0">
                        <a:lnSpc>
                          <a:spcPts val="1750"/>
                        </a:lnSpc>
                        <a:buNone/>
                      </a:pPr>
                      <a:r>
                        <a:rPr lang="en-US" sz="1250" b="1" dirty="0">
                          <a:solidFill>
                            <a:srgbClr val="010736"/>
                          </a:solidFill>
                          <a:latin typeface="EB Garamond" pitchFamily="18" charset="0"/>
                          <a:ea typeface="EB Garamond" pitchFamily="18" charset="-122"/>
                          <a:cs typeface="EB Garamond" pitchFamily="18" charset="-120"/>
                        </a:rPr>
                        <a:t>M$</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750"/>
                        </a:lnSpc>
                        <a:buNone/>
                      </a:pPr>
                      <a:r>
                        <a:rPr lang="en-US" sz="1250" b="1" dirty="0">
                          <a:solidFill>
                            <a:srgbClr val="010736"/>
                          </a:solidFill>
                          <a:latin typeface="EB Garamond" pitchFamily="18" charset="0"/>
                          <a:ea typeface="EB Garamond" pitchFamily="18" charset="-122"/>
                          <a:cs typeface="EB Garamond" pitchFamily="18" charset="-120"/>
                        </a:rPr>
                        <a:t>FY 2023A</a:t>
                      </a:r>
                      <a:endParaRPr lang="en-US" sz="125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750"/>
                        </a:lnSpc>
                        <a:buNone/>
                      </a:pPr>
                      <a:r>
                        <a:rPr lang="en-US" sz="1250" b="1" dirty="0">
                          <a:solidFill>
                            <a:srgbClr val="010736"/>
                          </a:solidFill>
                          <a:latin typeface="EB Garamond" pitchFamily="18" charset="0"/>
                          <a:ea typeface="EB Garamond" pitchFamily="18" charset="-122"/>
                          <a:cs typeface="EB Garamond" pitchFamily="18" charset="-120"/>
                        </a:rPr>
                        <a:t>FY 2024A</a:t>
                      </a:r>
                      <a:endParaRPr lang="en-US" sz="125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750"/>
                        </a:lnSpc>
                        <a:buNone/>
                      </a:pPr>
                      <a:r>
                        <a:rPr lang="en-US" sz="1250" b="1" dirty="0">
                          <a:solidFill>
                            <a:srgbClr val="010736"/>
                          </a:solidFill>
                          <a:latin typeface="EB Garamond" pitchFamily="18" charset="0"/>
                          <a:ea typeface="EB Garamond" pitchFamily="18" charset="-122"/>
                          <a:cs typeface="EB Garamond" pitchFamily="18" charset="-120"/>
                        </a:rPr>
                        <a:t>FY 2025A</a:t>
                      </a:r>
                      <a:endParaRPr lang="en-US" sz="125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750"/>
                        </a:lnSpc>
                        <a:buNone/>
                      </a:pPr>
                      <a:r>
                        <a:rPr lang="en-US" sz="1250" b="1" dirty="0">
                          <a:solidFill>
                            <a:srgbClr val="010736"/>
                          </a:solidFill>
                          <a:latin typeface="EB Garamond" pitchFamily="18" charset="0"/>
                          <a:ea typeface="EB Garamond" pitchFamily="18" charset="-122"/>
                          <a:cs typeface="EB Garamond" pitchFamily="18" charset="-120"/>
                        </a:rPr>
                        <a:t>FY 2026E</a:t>
                      </a:r>
                      <a:endParaRPr lang="en-US" sz="125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750"/>
                        </a:lnSpc>
                        <a:buNone/>
                      </a:pPr>
                      <a:r>
                        <a:rPr lang="en-US" sz="1250" b="1" dirty="0">
                          <a:solidFill>
                            <a:srgbClr val="010736"/>
                          </a:solidFill>
                          <a:latin typeface="EB Garamond" pitchFamily="18" charset="0"/>
                          <a:ea typeface="EB Garamond" pitchFamily="18" charset="-122"/>
                          <a:cs typeface="EB Garamond" pitchFamily="18" charset="-120"/>
                        </a:rPr>
                        <a:t>FY 2028E</a:t>
                      </a:r>
                      <a:endParaRPr lang="en-US" sz="125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750"/>
                        </a:lnSpc>
                        <a:buNone/>
                      </a:pPr>
                      <a:r>
                        <a:rPr lang="en-US" sz="1250" b="1" dirty="0">
                          <a:solidFill>
                            <a:srgbClr val="010736"/>
                          </a:solidFill>
                          <a:latin typeface="EB Garamond" pitchFamily="18" charset="0"/>
                          <a:ea typeface="EB Garamond" pitchFamily="18" charset="-122"/>
                          <a:cs typeface="EB Garamond" pitchFamily="18" charset="-120"/>
                        </a:rPr>
                        <a:t>FY 2030E</a:t>
                      </a:r>
                      <a:endParaRPr lang="en-US" sz="125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tc>
                  <a:txBody>
                    <a:bodyPr/>
                    <a:lstStyle/>
                    <a:p>
                      <a:pPr marL="0" indent="0" algn="r">
                        <a:lnSpc>
                          <a:spcPts val="1750"/>
                        </a:lnSpc>
                        <a:buNone/>
                      </a:pPr>
                      <a:r>
                        <a:rPr lang="en-US" sz="1250" b="1" dirty="0">
                          <a:solidFill>
                            <a:srgbClr val="010736"/>
                          </a:solidFill>
                          <a:latin typeface="EB Garamond" pitchFamily="18" charset="0"/>
                          <a:ea typeface="EB Garamond" pitchFamily="18" charset="-122"/>
                          <a:cs typeface="EB Garamond" pitchFamily="18" charset="-120"/>
                        </a:rPr>
                        <a:t>FY 2035E</a:t>
                      </a:r>
                      <a:endParaRPr lang="en-US" sz="1250" dirty="0">
                        <a:latin typeface="EB Garamond" charset="0"/>
                        <a:ea typeface="EB Garamond" charset="0"/>
                        <a:cs typeface="EB Garamond" charset="0"/>
                      </a:endParaRPr>
                    </a:p>
                  </a:txBody>
                  <a:tcPr marL="76200" marR="76200" marT="38100" marB="38100">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8DD"/>
                    </a:solidFill>
                  </a:tcPr>
                </a:tc>
                <a:extLst>
                  <a:ext uri="{0D108BD9-81ED-4DB2-BD59-A6C34878D82A}">
                    <a16:rowId xmlns:a16="http://schemas.microsoft.com/office/drawing/2014/main" val="10000"/>
                  </a:ext>
                </a:extLst>
              </a:tr>
              <a:tr h="311150">
                <a:tc>
                  <a:txBody>
                    <a:bodyPr/>
                    <a:lstStyle/>
                    <a:p>
                      <a:pPr marL="0" indent="0">
                        <a:lnSpc>
                          <a:spcPts val="1750"/>
                        </a:lnSpc>
                        <a:buNone/>
                      </a:pPr>
                      <a:r>
                        <a:rPr lang="en-US" sz="1250" dirty="0">
                          <a:solidFill>
                            <a:srgbClr val="010736"/>
                          </a:solidFill>
                          <a:latin typeface="EB Garamond" pitchFamily="18" charset="0"/>
                          <a:ea typeface="EB Garamond" pitchFamily="18" charset="-122"/>
                          <a:cs typeface="EB Garamond" pitchFamily="18" charset="-120"/>
                        </a:rPr>
                        <a:t>Ingresos</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45.784</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46.897</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48.062</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22396F"/>
                          </a:solidFill>
                          <a:latin typeface="EB Garamond" pitchFamily="18" charset="0"/>
                          <a:ea typeface="EB Garamond" pitchFamily="18" charset="-122"/>
                          <a:cs typeface="EB Garamond" pitchFamily="18" charset="-120"/>
                        </a:rPr>
                        <a:t>49.135</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52.375</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57.564</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72.613</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1"/>
                  </a:ext>
                </a:extLst>
              </a:tr>
              <a:tr h="311150">
                <a:tc>
                  <a:txBody>
                    <a:bodyPr/>
                    <a:lstStyle/>
                    <a:p>
                      <a:pPr marL="0" indent="0">
                        <a:lnSpc>
                          <a:spcPts val="1750"/>
                        </a:lnSpc>
                        <a:buNone/>
                      </a:pPr>
                      <a:r>
                        <a:rPr lang="en-US" sz="1250" dirty="0">
                          <a:solidFill>
                            <a:srgbClr val="5A5C77"/>
                          </a:solidFill>
                          <a:latin typeface="EB Garamond" pitchFamily="18" charset="0"/>
                          <a:ea typeface="EB Garamond" pitchFamily="18" charset="-122"/>
                          <a:cs typeface="EB Garamond" pitchFamily="18" charset="-120"/>
                        </a:rPr>
                        <a:t>Crecimiento a/a</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+6,4 %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+2,4 %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+2,5 %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22396F"/>
                          </a:solidFill>
                          <a:latin typeface="EB Garamond" pitchFamily="18" charset="0"/>
                          <a:ea typeface="EB Garamond" pitchFamily="18" charset="-122"/>
                          <a:cs typeface="EB Garamond" pitchFamily="18" charset="-120"/>
                        </a:rPr>
                        <a:t>+2,2 %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+5,1 %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+4,6 %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+4,8 %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2"/>
                  </a:ext>
                </a:extLst>
              </a:tr>
              <a:tr h="311150">
                <a:tc>
                  <a:txBody>
                    <a:bodyPr/>
                    <a:lstStyle/>
                    <a:p>
                      <a:pPr marL="0" indent="0">
                        <a:lnSpc>
                          <a:spcPts val="1750"/>
                        </a:lnSpc>
                        <a:buNone/>
                      </a:pPr>
                      <a:r>
                        <a:rPr lang="en-US" sz="1250" dirty="0">
                          <a:solidFill>
                            <a:srgbClr val="010736"/>
                          </a:solidFill>
                          <a:latin typeface="EB Garamond" pitchFamily="18" charset="0"/>
                          <a:ea typeface="EB Garamond" pitchFamily="18" charset="-122"/>
                          <a:cs typeface="EB Garamond" pitchFamily="18" charset="-120"/>
                        </a:rPr>
                        <a:t>EBITDA</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14.861</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12.084</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15.770</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22396F"/>
                          </a:solidFill>
                          <a:latin typeface="EB Garamond" pitchFamily="18" charset="0"/>
                          <a:ea typeface="EB Garamond" pitchFamily="18" charset="-122"/>
                          <a:cs typeface="EB Garamond" pitchFamily="18" charset="-120"/>
                        </a:rPr>
                        <a:t>15.087</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16.644</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18.763</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25.483</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3"/>
                  </a:ext>
                </a:extLst>
              </a:tr>
              <a:tr h="311150">
                <a:tc>
                  <a:txBody>
                    <a:bodyPr/>
                    <a:lstStyle/>
                    <a:p>
                      <a:pPr marL="0" indent="0">
                        <a:lnSpc>
                          <a:spcPts val="1750"/>
                        </a:lnSpc>
                        <a:buNone/>
                      </a:pPr>
                      <a:r>
                        <a:rPr lang="en-US" sz="1250" dirty="0">
                          <a:solidFill>
                            <a:srgbClr val="5A5C77"/>
                          </a:solidFill>
                          <a:latin typeface="EB Garamond" pitchFamily="18" charset="0"/>
                          <a:ea typeface="EB Garamond" pitchFamily="18" charset="-122"/>
                          <a:cs typeface="EB Garamond" pitchFamily="18" charset="-120"/>
                        </a:rPr>
                        <a:t>Margen EBITDA</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32,5 %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25,8 %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32,8 %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22396F"/>
                          </a:solidFill>
                          <a:latin typeface="EB Garamond" pitchFamily="18" charset="0"/>
                          <a:ea typeface="EB Garamond" pitchFamily="18" charset="-122"/>
                          <a:cs typeface="EB Garamond" pitchFamily="18" charset="-120"/>
                        </a:rPr>
                        <a:t>30,7 %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31,8 %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32,6 %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5A5C77"/>
                          </a:solidFill>
                          <a:latin typeface="EB Garamond" pitchFamily="18" charset="0"/>
                          <a:ea typeface="EB Garamond" pitchFamily="18" charset="-122"/>
                          <a:cs typeface="EB Garamond" pitchFamily="18" charset="-120"/>
                        </a:rPr>
                        <a:t>35,1 %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4"/>
                  </a:ext>
                </a:extLst>
              </a:tr>
              <a:tr h="311150">
                <a:tc>
                  <a:txBody>
                    <a:bodyPr/>
                    <a:lstStyle/>
                    <a:p>
                      <a:pPr marL="0" indent="0">
                        <a:lnSpc>
                          <a:spcPts val="1750"/>
                        </a:lnSpc>
                        <a:buNone/>
                      </a:pPr>
                      <a:r>
                        <a:rPr lang="en-US" sz="1250" dirty="0">
                          <a:solidFill>
                            <a:srgbClr val="010736"/>
                          </a:solidFill>
                          <a:latin typeface="EB Garamond" pitchFamily="18" charset="0"/>
                          <a:ea typeface="EB Garamond" pitchFamily="18" charset="-122"/>
                          <a:cs typeface="EB Garamond" pitchFamily="18" charset="-120"/>
                        </a:rPr>
                        <a:t>Beneficio neto</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10.714</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10.631</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13.107</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22396F"/>
                          </a:solidFill>
                          <a:latin typeface="EB Garamond" pitchFamily="18" charset="0"/>
                          <a:ea typeface="EB Garamond" pitchFamily="18" charset="-122"/>
                          <a:cs typeface="EB Garamond" pitchFamily="18" charset="-120"/>
                        </a:rPr>
                        <a:t>10.520</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11.634</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13.074</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18.175</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5"/>
                  </a:ext>
                </a:extLst>
              </a:tr>
              <a:tr h="311150">
                <a:tc>
                  <a:txBody>
                    <a:bodyPr/>
                    <a:lstStyle/>
                    <a:p>
                      <a:pPr marL="0" indent="0">
                        <a:lnSpc>
                          <a:spcPts val="1750"/>
                        </a:lnSpc>
                        <a:buNone/>
                      </a:pPr>
                      <a:r>
                        <a:rPr lang="en-US" sz="1250" dirty="0">
                          <a:solidFill>
                            <a:srgbClr val="010736"/>
                          </a:solidFill>
                          <a:latin typeface="EB Garamond" pitchFamily="18" charset="0"/>
                          <a:ea typeface="EB Garamond" pitchFamily="18" charset="-122"/>
                          <a:cs typeface="EB Garamond" pitchFamily="18" charset="-120"/>
                        </a:rPr>
                        <a:t>BPA diluido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2,47</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2,46</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3,04</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22396F"/>
                          </a:solidFill>
                          <a:latin typeface="EB Garamond" pitchFamily="18" charset="0"/>
                          <a:ea typeface="EB Garamond" pitchFamily="18" charset="-122"/>
                          <a:cs typeface="EB Garamond" pitchFamily="18" charset="-120"/>
                        </a:rPr>
                        <a:t>2,44</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2,71</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3,09</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4,46</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6"/>
                  </a:ext>
                </a:extLst>
              </a:tr>
              <a:tr h="311150">
                <a:tc>
                  <a:txBody>
                    <a:bodyPr/>
                    <a:lstStyle/>
                    <a:p>
                      <a:pPr marL="0" indent="0">
                        <a:lnSpc>
                          <a:spcPts val="1750"/>
                        </a:lnSpc>
                        <a:buNone/>
                      </a:pPr>
                      <a:r>
                        <a:rPr lang="en-US" sz="1250" dirty="0">
                          <a:solidFill>
                            <a:srgbClr val="010736"/>
                          </a:solidFill>
                          <a:latin typeface="EB Garamond" pitchFamily="18" charset="0"/>
                          <a:ea typeface="EB Garamond" pitchFamily="18" charset="-122"/>
                          <a:cs typeface="EB Garamond" pitchFamily="18" charset="-120"/>
                        </a:rPr>
                        <a:t>Flujo libre para la empresa</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7.026</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(1.080)</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2.429</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22396F"/>
                          </a:solidFill>
                          <a:latin typeface="EB Garamond" pitchFamily="18" charset="0"/>
                          <a:ea typeface="EB Garamond" pitchFamily="18" charset="-122"/>
                          <a:cs typeface="EB Garamond" pitchFamily="18" charset="-120"/>
                        </a:rPr>
                        <a:t>9.154</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11.297</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12.826</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17.690</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7"/>
                  </a:ext>
                </a:extLst>
              </a:tr>
              <a:tr h="311150">
                <a:tc>
                  <a:txBody>
                    <a:bodyPr/>
                    <a:lstStyle/>
                    <a:p>
                      <a:pPr marL="0" indent="0">
                        <a:lnSpc>
                          <a:spcPts val="1750"/>
                        </a:lnSpc>
                        <a:buNone/>
                      </a:pPr>
                      <a:r>
                        <a:rPr lang="en-US" sz="1250" dirty="0">
                          <a:solidFill>
                            <a:srgbClr val="010736"/>
                          </a:solidFill>
                          <a:latin typeface="EB Garamond" pitchFamily="18" charset="0"/>
                          <a:ea typeface="EB Garamond" pitchFamily="18" charset="-122"/>
                          <a:cs typeface="EB Garamond" pitchFamily="18" charset="-120"/>
                        </a:rPr>
                        <a:t>Deuda neta / EBITDA</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2,2x</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2,7x</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2,1x</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22396F"/>
                          </a:solidFill>
                          <a:latin typeface="EB Garamond" pitchFamily="18" charset="0"/>
                          <a:ea typeface="EB Garamond" pitchFamily="18" charset="-122"/>
                          <a:cs typeface="EB Garamond" pitchFamily="18" charset="-120"/>
                        </a:rPr>
                        <a:t>2,1x</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1,9x</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1,7x</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1,3x</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8"/>
                  </a:ext>
                </a:extLst>
              </a:tr>
              <a:tr h="311150">
                <a:tc>
                  <a:txBody>
                    <a:bodyPr/>
                    <a:lstStyle/>
                    <a:p>
                      <a:pPr marL="0" indent="0">
                        <a:lnSpc>
                          <a:spcPts val="1750"/>
                        </a:lnSpc>
                        <a:buNone/>
                      </a:pPr>
                      <a:r>
                        <a:rPr lang="en-US" sz="1250" dirty="0">
                          <a:solidFill>
                            <a:srgbClr val="010736"/>
                          </a:solidFill>
                          <a:latin typeface="EB Garamond" pitchFamily="18" charset="0"/>
                          <a:ea typeface="EB Garamond" pitchFamily="18" charset="-122"/>
                          <a:cs typeface="EB Garamond" pitchFamily="18" charset="-120"/>
                        </a:rPr>
                        <a:t>ROIC</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14,4 %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11,4 %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15,8 %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22396F"/>
                          </a:solidFill>
                          <a:latin typeface="EB Garamond" pitchFamily="18" charset="0"/>
                          <a:ea typeface="EB Garamond" pitchFamily="18" charset="-122"/>
                          <a:cs typeface="EB Garamond" pitchFamily="18" charset="-120"/>
                        </a:rPr>
                        <a:t>14,2 %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15,4 %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17,0 %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marL="0" indent="0" algn="r">
                        <a:lnSpc>
                          <a:spcPts val="1750"/>
                        </a:lnSpc>
                        <a:buNone/>
                      </a:pPr>
                      <a:r>
                        <a:rPr lang="en-US" sz="1250" dirty="0">
                          <a:solidFill>
                            <a:srgbClr val="010736"/>
                          </a:solidFill>
                          <a:latin typeface="EB Garamond" pitchFamily="18" charset="0"/>
                          <a:ea typeface="EB Garamond" pitchFamily="18" charset="-122"/>
                          <a:cs typeface="EB Garamond" pitchFamily="18" charset="-120"/>
                        </a:rPr>
                        <a:t>22,6 %</a:t>
                      </a:r>
                      <a:endParaRPr lang="en-US" sz="1250" dirty="0">
                        <a:latin typeface="EB Garamond" charset="0"/>
                        <a:ea typeface="EB Garamond" charset="0"/>
                        <a:cs typeface="EB Garamond" charset="0"/>
                      </a:endParaRPr>
                    </a:p>
                  </a:txBody>
                  <a:tcPr marL="76200" marR="76200" marT="38100" marB="38100">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9" name="Text 6"/>
          <p:cNvSpPr/>
          <p:nvPr/>
        </p:nvSpPr>
        <p:spPr>
          <a:xfrm>
            <a:off x="609600" y="5143500"/>
            <a:ext cx="1130198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5C77"/>
                </a:solidFill>
                <a:latin typeface="EB Garamond" pitchFamily="18" charset="0"/>
                <a:ea typeface="EB Garamond" pitchFamily="18" charset="-122"/>
                <a:cs typeface="EB Garamond" pitchFamily="18" charset="-120"/>
              </a:rPr>
              <a:t>2024 incluye el cargo por el pago contingente de fairlife; 2025, su liquidación (6,1 mil M$), que hunde el flujo libre.</a:t>
            </a:r>
            <a:endParaRPr lang="en-US" sz="1300" dirty="0"/>
          </a:p>
        </p:txBody>
      </p:sp>
      <p:sp>
        <p:nvSpPr>
          <p:cNvPr id="10" name="Shape 7"/>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11" name="Text 8"/>
          <p:cNvSpPr/>
          <p:nvPr/>
        </p:nvSpPr>
        <p:spPr>
          <a:xfrm>
            <a:off x="609600" y="6398320"/>
            <a:ext cx="8629055"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cuentas anuales (US GAAP) vía Bloomberg; modelo propio, caso base. Flujo libre = NOPAT + D&amp;A − capex − ΔNWC.</a:t>
            </a:r>
            <a:endParaRPr lang="en-US" sz="1200" dirty="0"/>
          </a:p>
        </p:txBody>
      </p:sp>
      <p:sp>
        <p:nvSpPr>
          <p:cNvPr id="13" name="Text 10"/>
          <p:cNvSpPr/>
          <p:nvPr/>
        </p:nvSpPr>
        <p:spPr>
          <a:xfrm>
            <a:off x="10929144" y="6390680"/>
            <a:ext cx="704056" cy="238720"/>
          </a:xfrm>
          <a:prstGeom prst="rect">
            <a:avLst/>
          </a:prstGeom>
          <a:noFill/>
          <a:ln/>
        </p:spPr>
        <p:txBody>
          <a:bodyPr wrap="non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07 / 11</a:t>
            </a:r>
            <a:endParaRPr lang="en-US" sz="1200" dirty="0"/>
          </a:p>
        </p:txBody>
      </p:sp>
    </p:spTree>
    <p:extLst>
      <p:ext uri="{BB962C8B-B14F-4D97-AF65-F5344CB8AC3E}">
        <p14:creationId xmlns:p14="http://schemas.microsoft.com/office/powerpoint/2010/main" val="280867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1493401"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VALORACIÓN</a:t>
            </a:r>
            <a:endParaRPr lang="en-US" sz="1200" dirty="0"/>
          </a:p>
        </p:txBody>
      </p:sp>
      <p:sp>
        <p:nvSpPr>
          <p:cNvPr id="3" name="Text 1"/>
          <p:cNvSpPr/>
          <p:nvPr/>
        </p:nvSpPr>
        <p:spPr>
          <a:xfrm>
            <a:off x="8585200" y="355600"/>
            <a:ext cx="381000"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9017000" y="379710"/>
            <a:ext cx="6350" cy="165100"/>
          </a:xfrm>
          <a:prstGeom prst="rect">
            <a:avLst/>
          </a:prstGeom>
          <a:solidFill>
            <a:srgbClr val="010736"/>
          </a:solidFill>
          <a:ln/>
        </p:spPr>
        <p:txBody>
          <a:bodyPr/>
          <a:lstStyle/>
          <a:p>
            <a:endParaRPr lang="en-US"/>
          </a:p>
        </p:txBody>
      </p:sp>
      <p:sp>
        <p:nvSpPr>
          <p:cNvPr id="5" name="Text 3"/>
          <p:cNvSpPr/>
          <p:nvPr/>
        </p:nvSpPr>
        <p:spPr>
          <a:xfrm>
            <a:off x="9093200" y="355600"/>
            <a:ext cx="2540000" cy="238720"/>
          </a:xfrm>
          <a:prstGeom prst="rect">
            <a:avLst/>
          </a:prstGeom>
          <a:noFill/>
          <a:ln/>
        </p:spPr>
        <p:txBody>
          <a:bodyPr wrap="non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Los tres métodos intrínsecos dan 87,7 $ de media; solo el DCF por múltiplo de salida alcanza la </a:t>
            </a:r>
            <a:r>
              <a:rPr lang="en-US" sz="2400" b="0" i="0" kern="0" spc="-25" dirty="0" err="1">
                <a:solidFill>
                  <a:srgbClr val="010736"/>
                </a:solidFill>
                <a:latin typeface="Jost" pitchFamily="34" charset="0"/>
                <a:ea typeface="Jost" pitchFamily="34" charset="-122"/>
                <a:cs typeface="Jost" pitchFamily="34" charset="-120"/>
              </a:rPr>
              <a:t>cotización</a:t>
            </a:r>
            <a:r>
              <a:rPr lang="en-US" sz="2400" b="0" i="0" kern="0" spc="-25" dirty="0">
                <a:solidFill>
                  <a:srgbClr val="010736"/>
                </a:solidFill>
                <a:latin typeface="Jost" pitchFamily="34" charset="0"/>
                <a:ea typeface="Jost" pitchFamily="34" charset="-122"/>
                <a:cs typeface="Jost" pitchFamily="34" charset="-120"/>
              </a:rPr>
              <a:t>.</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879600"/>
            <a:ext cx="1130198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10736"/>
                </a:solidFill>
                <a:latin typeface="Jost" pitchFamily="34" charset="0"/>
                <a:ea typeface="Jost" pitchFamily="34" charset="-122"/>
                <a:cs typeface="Jost" pitchFamily="34" charset="-120"/>
              </a:rPr>
              <a:t>Valor por acción según método </a:t>
            </a:r>
            <a:r>
              <a:rPr lang="en-US" sz="1300" dirty="0">
                <a:solidFill>
                  <a:srgbClr val="5A5C77"/>
                </a:solidFill>
                <a:latin typeface="Jost" pitchFamily="34" charset="0"/>
                <a:ea typeface="Jost" pitchFamily="34" charset="-122"/>
                <a:cs typeface="Jost" pitchFamily="34" charset="-120"/>
              </a:rPr>
              <a:t>· $, horquilla de sensibilidad y valor central</a:t>
            </a:r>
            <a:endParaRPr lang="en-US" sz="1300" dirty="0"/>
          </a:p>
        </p:txBody>
      </p:sp>
      <p:sp>
        <p:nvSpPr>
          <p:cNvPr id="9" name="Text 7"/>
          <p:cNvSpPr/>
          <p:nvPr/>
        </p:nvSpPr>
        <p:spPr>
          <a:xfrm>
            <a:off x="609600" y="25628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DCF · múltiplo 20x</a:t>
            </a:r>
            <a:endParaRPr lang="en-US" sz="1200" dirty="0"/>
          </a:p>
        </p:txBody>
      </p:sp>
      <p:sp>
        <p:nvSpPr>
          <p:cNvPr id="10" name="Shape 8"/>
          <p:cNvSpPr/>
          <p:nvPr/>
        </p:nvSpPr>
        <p:spPr>
          <a:xfrm>
            <a:off x="7467600" y="2529780"/>
            <a:ext cx="1270000" cy="279400"/>
          </a:xfrm>
          <a:prstGeom prst="rect">
            <a:avLst/>
          </a:prstGeom>
          <a:solidFill>
            <a:srgbClr val="22396F"/>
          </a:solidFill>
          <a:ln/>
        </p:spPr>
        <p:txBody>
          <a:bodyPr/>
          <a:lstStyle/>
          <a:p>
            <a:endParaRPr lang="en-US"/>
          </a:p>
        </p:txBody>
      </p:sp>
      <p:sp>
        <p:nvSpPr>
          <p:cNvPr id="11" name="Shape 9"/>
          <p:cNvSpPr/>
          <p:nvPr/>
        </p:nvSpPr>
        <p:spPr>
          <a:xfrm>
            <a:off x="8070850" y="2478980"/>
            <a:ext cx="25400" cy="381000"/>
          </a:xfrm>
          <a:prstGeom prst="rect">
            <a:avLst/>
          </a:prstGeom>
          <a:solidFill>
            <a:srgbClr val="010736"/>
          </a:solidFill>
          <a:ln/>
        </p:spPr>
        <p:txBody>
          <a:bodyPr/>
          <a:lstStyle/>
          <a:p>
            <a:endParaRPr lang="en-US"/>
          </a:p>
        </p:txBody>
      </p:sp>
      <p:sp>
        <p:nvSpPr>
          <p:cNvPr id="12" name="Text 10"/>
          <p:cNvSpPr/>
          <p:nvPr/>
        </p:nvSpPr>
        <p:spPr>
          <a:xfrm>
            <a:off x="9906000" y="25628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96F"/>
                </a:solidFill>
                <a:latin typeface="Jost" pitchFamily="34" charset="0"/>
                <a:ea typeface="Jost" pitchFamily="34" charset="-122"/>
                <a:cs typeface="Jost" pitchFamily="34" charset="-120"/>
              </a:rPr>
              <a:t>92,1 </a:t>
            </a:r>
            <a:r>
              <a:rPr lang="en-US" sz="1200" b="1" dirty="0">
                <a:solidFill>
                  <a:srgbClr val="5A5C77"/>
                </a:solidFill>
                <a:latin typeface="Jost" pitchFamily="34" charset="0"/>
                <a:ea typeface="Jost" pitchFamily="34" charset="-122"/>
                <a:cs typeface="Jost" pitchFamily="34" charset="-120"/>
              </a:rPr>
              <a:t>· 85,4–99,4</a:t>
            </a:r>
            <a:endParaRPr lang="en-US" sz="1200" dirty="0"/>
          </a:p>
        </p:txBody>
      </p:sp>
      <p:sp>
        <p:nvSpPr>
          <p:cNvPr id="13" name="Text 11"/>
          <p:cNvSpPr/>
          <p:nvPr/>
        </p:nvSpPr>
        <p:spPr>
          <a:xfrm>
            <a:off x="609600" y="30454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DCF · crecimiento 2,5 %</a:t>
            </a:r>
            <a:endParaRPr lang="en-US" sz="1200" dirty="0"/>
          </a:p>
        </p:txBody>
      </p:sp>
      <p:sp>
        <p:nvSpPr>
          <p:cNvPr id="14" name="Shape 12"/>
          <p:cNvSpPr/>
          <p:nvPr/>
        </p:nvSpPr>
        <p:spPr>
          <a:xfrm>
            <a:off x="6496050" y="3012380"/>
            <a:ext cx="3092450" cy="279400"/>
          </a:xfrm>
          <a:prstGeom prst="rect">
            <a:avLst/>
          </a:prstGeom>
          <a:solidFill>
            <a:srgbClr val="22396F"/>
          </a:solidFill>
          <a:ln/>
        </p:spPr>
        <p:txBody>
          <a:bodyPr/>
          <a:lstStyle/>
          <a:p>
            <a:endParaRPr lang="en-US"/>
          </a:p>
        </p:txBody>
      </p:sp>
      <p:sp>
        <p:nvSpPr>
          <p:cNvPr id="15" name="Shape 13"/>
          <p:cNvSpPr/>
          <p:nvPr/>
        </p:nvSpPr>
        <p:spPr>
          <a:xfrm>
            <a:off x="7696200" y="2961580"/>
            <a:ext cx="25400" cy="381000"/>
          </a:xfrm>
          <a:prstGeom prst="rect">
            <a:avLst/>
          </a:prstGeom>
          <a:solidFill>
            <a:srgbClr val="010736"/>
          </a:solidFill>
          <a:ln/>
        </p:spPr>
        <p:txBody>
          <a:bodyPr/>
          <a:lstStyle/>
          <a:p>
            <a:endParaRPr lang="en-US"/>
          </a:p>
        </p:txBody>
      </p:sp>
      <p:sp>
        <p:nvSpPr>
          <p:cNvPr id="16" name="Text 14"/>
          <p:cNvSpPr/>
          <p:nvPr/>
        </p:nvSpPr>
        <p:spPr>
          <a:xfrm>
            <a:off x="9906000" y="30454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96F"/>
                </a:solidFill>
                <a:latin typeface="Jost" pitchFamily="34" charset="0"/>
                <a:ea typeface="Jost" pitchFamily="34" charset="-122"/>
                <a:cs typeface="Jost" pitchFamily="34" charset="-120"/>
              </a:rPr>
              <a:t>88,0 </a:t>
            </a:r>
            <a:r>
              <a:rPr lang="en-US" sz="1200" b="1" dirty="0">
                <a:solidFill>
                  <a:srgbClr val="5A5C77"/>
                </a:solidFill>
                <a:latin typeface="Jost" pitchFamily="34" charset="0"/>
                <a:ea typeface="Jost" pitchFamily="34" charset="-122"/>
                <a:cs typeface="Jost" pitchFamily="34" charset="-120"/>
              </a:rPr>
              <a:t>· 74,6–108,7</a:t>
            </a:r>
            <a:endParaRPr lang="en-US" sz="1200" dirty="0"/>
          </a:p>
        </p:txBody>
      </p:sp>
      <p:sp>
        <p:nvSpPr>
          <p:cNvPr id="17" name="Text 15"/>
          <p:cNvSpPr/>
          <p:nvPr/>
        </p:nvSpPr>
        <p:spPr>
          <a:xfrm>
            <a:off x="609600" y="35280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DDM · pago total</a:t>
            </a:r>
            <a:endParaRPr lang="en-US" sz="1200" dirty="0"/>
          </a:p>
        </p:txBody>
      </p:sp>
      <p:sp>
        <p:nvSpPr>
          <p:cNvPr id="18" name="Shape 16"/>
          <p:cNvSpPr/>
          <p:nvPr/>
        </p:nvSpPr>
        <p:spPr>
          <a:xfrm>
            <a:off x="6064250" y="3494980"/>
            <a:ext cx="2895600" cy="279400"/>
          </a:xfrm>
          <a:prstGeom prst="rect">
            <a:avLst/>
          </a:prstGeom>
          <a:solidFill>
            <a:srgbClr val="22396F"/>
          </a:solidFill>
          <a:ln/>
        </p:spPr>
        <p:txBody>
          <a:bodyPr/>
          <a:lstStyle/>
          <a:p>
            <a:endParaRPr lang="en-US"/>
          </a:p>
        </p:txBody>
      </p:sp>
      <p:sp>
        <p:nvSpPr>
          <p:cNvPr id="19" name="Shape 17"/>
          <p:cNvSpPr/>
          <p:nvPr/>
        </p:nvSpPr>
        <p:spPr>
          <a:xfrm>
            <a:off x="7219950" y="3444180"/>
            <a:ext cx="25400" cy="381000"/>
          </a:xfrm>
          <a:prstGeom prst="rect">
            <a:avLst/>
          </a:prstGeom>
          <a:solidFill>
            <a:srgbClr val="010736"/>
          </a:solidFill>
          <a:ln/>
        </p:spPr>
        <p:txBody>
          <a:bodyPr/>
          <a:lstStyle/>
          <a:p>
            <a:endParaRPr lang="en-US"/>
          </a:p>
        </p:txBody>
      </p:sp>
      <p:sp>
        <p:nvSpPr>
          <p:cNvPr id="20" name="Text 18"/>
          <p:cNvSpPr/>
          <p:nvPr/>
        </p:nvSpPr>
        <p:spPr>
          <a:xfrm>
            <a:off x="9906000" y="35280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2396F"/>
                </a:solidFill>
                <a:latin typeface="Jost" pitchFamily="34" charset="0"/>
                <a:ea typeface="Jost" pitchFamily="34" charset="-122"/>
                <a:cs typeface="Jost" pitchFamily="34" charset="-120"/>
              </a:rPr>
              <a:t>82,8 </a:t>
            </a:r>
            <a:r>
              <a:rPr lang="en-US" sz="1200" b="1" dirty="0">
                <a:solidFill>
                  <a:srgbClr val="5A5C77"/>
                </a:solidFill>
                <a:latin typeface="Jost" pitchFamily="34" charset="0"/>
                <a:ea typeface="Jost" pitchFamily="34" charset="-122"/>
                <a:cs typeface="Jost" pitchFamily="34" charset="-120"/>
              </a:rPr>
              <a:t>· 69,9–101,8</a:t>
            </a:r>
            <a:endParaRPr lang="en-US" sz="1200" dirty="0"/>
          </a:p>
        </p:txBody>
      </p:sp>
      <p:sp>
        <p:nvSpPr>
          <p:cNvPr id="21" name="Text 19"/>
          <p:cNvSpPr/>
          <p:nvPr/>
        </p:nvSpPr>
        <p:spPr>
          <a:xfrm>
            <a:off x="609600" y="40106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Comparables · PER</a:t>
            </a:r>
            <a:endParaRPr lang="en-US" sz="1200" dirty="0"/>
          </a:p>
        </p:txBody>
      </p:sp>
      <p:sp>
        <p:nvSpPr>
          <p:cNvPr id="22" name="Shape 20"/>
          <p:cNvSpPr/>
          <p:nvPr/>
        </p:nvSpPr>
        <p:spPr>
          <a:xfrm>
            <a:off x="3657600" y="3977580"/>
            <a:ext cx="1797050" cy="279400"/>
          </a:xfrm>
          <a:prstGeom prst="rect">
            <a:avLst/>
          </a:prstGeom>
          <a:solidFill>
            <a:srgbClr val="8590A9"/>
          </a:solidFill>
          <a:ln/>
        </p:spPr>
        <p:txBody>
          <a:bodyPr/>
          <a:lstStyle/>
          <a:p>
            <a:endParaRPr lang="en-US"/>
          </a:p>
        </p:txBody>
      </p:sp>
      <p:sp>
        <p:nvSpPr>
          <p:cNvPr id="23" name="Shape 21"/>
          <p:cNvSpPr/>
          <p:nvPr/>
        </p:nvSpPr>
        <p:spPr>
          <a:xfrm>
            <a:off x="4286250" y="3926780"/>
            <a:ext cx="25400" cy="381000"/>
          </a:xfrm>
          <a:prstGeom prst="rect">
            <a:avLst/>
          </a:prstGeom>
          <a:solidFill>
            <a:srgbClr val="010736"/>
          </a:solidFill>
          <a:ln/>
        </p:spPr>
        <p:txBody>
          <a:bodyPr/>
          <a:lstStyle/>
          <a:p>
            <a:endParaRPr lang="en-US"/>
          </a:p>
        </p:txBody>
      </p:sp>
      <p:sp>
        <p:nvSpPr>
          <p:cNvPr id="24" name="Text 22"/>
          <p:cNvSpPr/>
          <p:nvPr/>
        </p:nvSpPr>
        <p:spPr>
          <a:xfrm>
            <a:off x="9906000" y="40106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50,4 </a:t>
            </a:r>
            <a:r>
              <a:rPr lang="en-US" sz="1200" dirty="0">
                <a:solidFill>
                  <a:srgbClr val="5A5C77"/>
                </a:solidFill>
                <a:latin typeface="Jost" pitchFamily="34" charset="0"/>
                <a:ea typeface="Jost" pitchFamily="34" charset="-122"/>
                <a:cs typeface="Jost" pitchFamily="34" charset="-120"/>
              </a:rPr>
              <a:t>· 43,4–63,2</a:t>
            </a:r>
            <a:endParaRPr lang="en-US" sz="1200" dirty="0"/>
          </a:p>
        </p:txBody>
      </p:sp>
      <p:sp>
        <p:nvSpPr>
          <p:cNvPr id="25" name="Text 23"/>
          <p:cNvSpPr/>
          <p:nvPr/>
        </p:nvSpPr>
        <p:spPr>
          <a:xfrm>
            <a:off x="609600" y="44932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Comparables · dividendo</a:t>
            </a:r>
            <a:endParaRPr lang="en-US" sz="1200" dirty="0"/>
          </a:p>
        </p:txBody>
      </p:sp>
      <p:sp>
        <p:nvSpPr>
          <p:cNvPr id="26" name="Shape 24"/>
          <p:cNvSpPr/>
          <p:nvPr/>
        </p:nvSpPr>
        <p:spPr>
          <a:xfrm>
            <a:off x="4705350" y="4460180"/>
            <a:ext cx="1879600" cy="279400"/>
          </a:xfrm>
          <a:prstGeom prst="rect">
            <a:avLst/>
          </a:prstGeom>
          <a:solidFill>
            <a:srgbClr val="8590A9"/>
          </a:solidFill>
          <a:ln/>
        </p:spPr>
        <p:txBody>
          <a:bodyPr/>
          <a:lstStyle/>
          <a:p>
            <a:endParaRPr lang="en-US"/>
          </a:p>
        </p:txBody>
      </p:sp>
      <p:sp>
        <p:nvSpPr>
          <p:cNvPr id="27" name="Shape 25"/>
          <p:cNvSpPr/>
          <p:nvPr/>
        </p:nvSpPr>
        <p:spPr>
          <a:xfrm>
            <a:off x="5835650" y="4409380"/>
            <a:ext cx="25400" cy="381000"/>
          </a:xfrm>
          <a:prstGeom prst="rect">
            <a:avLst/>
          </a:prstGeom>
          <a:solidFill>
            <a:srgbClr val="010736"/>
          </a:solidFill>
          <a:ln/>
        </p:spPr>
        <p:txBody>
          <a:bodyPr/>
          <a:lstStyle/>
          <a:p>
            <a:endParaRPr lang="en-US"/>
          </a:p>
        </p:txBody>
      </p:sp>
      <p:sp>
        <p:nvSpPr>
          <p:cNvPr id="28" name="Text 26"/>
          <p:cNvSpPr/>
          <p:nvPr/>
        </p:nvSpPr>
        <p:spPr>
          <a:xfrm>
            <a:off x="9906000" y="44932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10736"/>
                </a:solidFill>
                <a:latin typeface="Jost" pitchFamily="34" charset="0"/>
                <a:ea typeface="Jost" pitchFamily="34" charset="-122"/>
                <a:cs typeface="Jost" pitchFamily="34" charset="-120"/>
              </a:rPr>
              <a:t>67,5 </a:t>
            </a:r>
            <a:r>
              <a:rPr lang="en-US" sz="1200" dirty="0">
                <a:solidFill>
                  <a:srgbClr val="5A5C77"/>
                </a:solidFill>
                <a:latin typeface="Jost" pitchFamily="34" charset="0"/>
                <a:ea typeface="Jost" pitchFamily="34" charset="-122"/>
                <a:cs typeface="Jost" pitchFamily="34" charset="-120"/>
              </a:rPr>
              <a:t>· 54,9–75,7</a:t>
            </a:r>
            <a:endParaRPr lang="en-US" sz="1200" dirty="0"/>
          </a:p>
        </p:txBody>
      </p:sp>
      <p:sp>
        <p:nvSpPr>
          <p:cNvPr id="29" name="Text 27"/>
          <p:cNvSpPr/>
          <p:nvPr/>
        </p:nvSpPr>
        <p:spPr>
          <a:xfrm>
            <a:off x="609600" y="4975820"/>
            <a:ext cx="2616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Precio objetivo¹</a:t>
            </a:r>
            <a:endParaRPr lang="en-US" sz="1200" dirty="0"/>
          </a:p>
        </p:txBody>
      </p:sp>
      <p:sp>
        <p:nvSpPr>
          <p:cNvPr id="30" name="Shape 28"/>
          <p:cNvSpPr/>
          <p:nvPr/>
        </p:nvSpPr>
        <p:spPr>
          <a:xfrm>
            <a:off x="6678613" y="4947543"/>
            <a:ext cx="2409825" cy="269875"/>
          </a:xfrm>
          <a:prstGeom prst="rect">
            <a:avLst/>
          </a:prstGeom>
          <a:solidFill>
            <a:srgbClr val="FCF1D0"/>
          </a:solidFill>
          <a:ln w="9525">
            <a:solidFill>
              <a:srgbClr val="22396F"/>
            </a:solidFill>
            <a:prstDash val="solid"/>
          </a:ln>
        </p:spPr>
        <p:txBody>
          <a:bodyPr/>
          <a:lstStyle/>
          <a:p>
            <a:endParaRPr lang="en-US"/>
          </a:p>
        </p:txBody>
      </p:sp>
      <p:sp>
        <p:nvSpPr>
          <p:cNvPr id="31" name="Shape 29"/>
          <p:cNvSpPr/>
          <p:nvPr/>
        </p:nvSpPr>
        <p:spPr>
          <a:xfrm>
            <a:off x="7670800" y="4891980"/>
            <a:ext cx="25400" cy="381000"/>
          </a:xfrm>
          <a:prstGeom prst="rect">
            <a:avLst/>
          </a:prstGeom>
          <a:solidFill>
            <a:srgbClr val="010736"/>
          </a:solidFill>
          <a:ln/>
        </p:spPr>
        <p:txBody>
          <a:bodyPr/>
          <a:lstStyle/>
          <a:p>
            <a:endParaRPr lang="en-US"/>
          </a:p>
        </p:txBody>
      </p:sp>
      <p:sp>
        <p:nvSpPr>
          <p:cNvPr id="32" name="Text 30"/>
          <p:cNvSpPr/>
          <p:nvPr/>
        </p:nvSpPr>
        <p:spPr>
          <a:xfrm>
            <a:off x="9906000" y="4975820"/>
            <a:ext cx="17272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87,7 </a:t>
            </a:r>
            <a:r>
              <a:rPr lang="en-US" sz="1200" b="1" dirty="0">
                <a:solidFill>
                  <a:srgbClr val="5A5C77"/>
                </a:solidFill>
                <a:latin typeface="Jost" pitchFamily="34" charset="0"/>
                <a:ea typeface="Jost" pitchFamily="34" charset="-122"/>
                <a:cs typeface="Jost" pitchFamily="34" charset="-120"/>
              </a:rPr>
              <a:t>· 76,6–103,3</a:t>
            </a:r>
            <a:endParaRPr lang="en-US" sz="1200" dirty="0"/>
          </a:p>
        </p:txBody>
      </p:sp>
      <p:sp>
        <p:nvSpPr>
          <p:cNvPr id="33" name="Shape 31"/>
          <p:cNvSpPr/>
          <p:nvPr/>
        </p:nvSpPr>
        <p:spPr>
          <a:xfrm>
            <a:off x="3352800" y="5377755"/>
            <a:ext cx="6350000" cy="0"/>
          </a:xfrm>
          <a:prstGeom prst="line">
            <a:avLst/>
          </a:prstGeom>
          <a:noFill/>
          <a:ln w="6350">
            <a:solidFill>
              <a:srgbClr val="010736"/>
            </a:solidFill>
            <a:prstDash val="solid"/>
          </a:ln>
        </p:spPr>
        <p:txBody>
          <a:bodyPr/>
          <a:lstStyle/>
          <a:p>
            <a:endParaRPr lang="en-US"/>
          </a:p>
        </p:txBody>
      </p:sp>
      <p:sp>
        <p:nvSpPr>
          <p:cNvPr id="34" name="Text 32"/>
          <p:cNvSpPr/>
          <p:nvPr/>
        </p:nvSpPr>
        <p:spPr>
          <a:xfrm>
            <a:off x="3352800" y="5399980"/>
            <a:ext cx="558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5C77"/>
                </a:solidFill>
                <a:latin typeface="Jost" pitchFamily="34" charset="0"/>
                <a:ea typeface="Jost" pitchFamily="34" charset="-122"/>
                <a:cs typeface="Jost" pitchFamily="34" charset="-120"/>
              </a:rPr>
              <a:t>40</a:t>
            </a:r>
            <a:endParaRPr lang="en-US" sz="1200" dirty="0"/>
          </a:p>
        </p:txBody>
      </p:sp>
      <p:sp>
        <p:nvSpPr>
          <p:cNvPr id="35" name="Text 33"/>
          <p:cNvSpPr/>
          <p:nvPr/>
        </p:nvSpPr>
        <p:spPr>
          <a:xfrm>
            <a:off x="4889500" y="539998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60</a:t>
            </a:r>
            <a:endParaRPr lang="en-US" sz="1200" dirty="0"/>
          </a:p>
        </p:txBody>
      </p:sp>
      <p:sp>
        <p:nvSpPr>
          <p:cNvPr id="36" name="Text 34"/>
          <p:cNvSpPr/>
          <p:nvPr/>
        </p:nvSpPr>
        <p:spPr>
          <a:xfrm>
            <a:off x="6699250" y="539998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80</a:t>
            </a:r>
            <a:endParaRPr lang="en-US" sz="1200" dirty="0"/>
          </a:p>
        </p:txBody>
      </p:sp>
      <p:sp>
        <p:nvSpPr>
          <p:cNvPr id="37" name="Text 35"/>
          <p:cNvSpPr/>
          <p:nvPr/>
        </p:nvSpPr>
        <p:spPr>
          <a:xfrm>
            <a:off x="8515350" y="5399980"/>
            <a:ext cx="558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5C77"/>
                </a:solidFill>
                <a:latin typeface="Jost" pitchFamily="34" charset="0"/>
                <a:ea typeface="Jost" pitchFamily="34" charset="-122"/>
                <a:cs typeface="Jost" pitchFamily="34" charset="-120"/>
              </a:rPr>
              <a:t>100</a:t>
            </a:r>
            <a:endParaRPr lang="en-US" sz="1200" dirty="0"/>
          </a:p>
        </p:txBody>
      </p:sp>
      <p:sp>
        <p:nvSpPr>
          <p:cNvPr id="38" name="Shape 36"/>
          <p:cNvSpPr/>
          <p:nvPr/>
        </p:nvSpPr>
        <p:spPr>
          <a:xfrm>
            <a:off x="8134350" y="2148780"/>
            <a:ext cx="12700" cy="3124200"/>
          </a:xfrm>
          <a:prstGeom prst="rect">
            <a:avLst/>
          </a:prstGeom>
          <a:solidFill>
            <a:srgbClr val="010736"/>
          </a:solidFill>
          <a:ln/>
        </p:spPr>
        <p:txBody>
          <a:bodyPr/>
          <a:lstStyle/>
          <a:p>
            <a:endParaRPr lang="en-US"/>
          </a:p>
        </p:txBody>
      </p:sp>
      <p:sp>
        <p:nvSpPr>
          <p:cNvPr id="39" name="Text 37"/>
          <p:cNvSpPr/>
          <p:nvPr/>
        </p:nvSpPr>
        <p:spPr>
          <a:xfrm>
            <a:off x="8210550" y="2148780"/>
            <a:ext cx="274701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Cotización · 92,7 $</a:t>
            </a:r>
            <a:endParaRPr lang="en-US" sz="1200" dirty="0"/>
          </a:p>
        </p:txBody>
      </p:sp>
      <p:sp>
        <p:nvSpPr>
          <p:cNvPr id="40" name="Shape 38"/>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41" name="Text 39"/>
          <p:cNvSpPr/>
          <p:nvPr/>
        </p:nvSpPr>
        <p:spPr>
          <a:xfrm>
            <a:off x="609600" y="6398320"/>
            <a:ext cx="8998446"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¹ Media de DCF (2) y DDM. WACC 5,98 %; Ke 6,38 %. Horquillas: WACC o Ke ±0,5 pp × múltiplo ±1x o g ±0,25 pp. Fuente: modelo propio.</a:t>
            </a:r>
            <a:endParaRPr lang="en-US" sz="1200" dirty="0"/>
          </a:p>
        </p:txBody>
      </p:sp>
      <p:sp>
        <p:nvSpPr>
          <p:cNvPr id="43" name="Text 41"/>
          <p:cNvSpPr/>
          <p:nvPr/>
        </p:nvSpPr>
        <p:spPr>
          <a:xfrm>
            <a:off x="10925770" y="6390680"/>
            <a:ext cx="707430" cy="238720"/>
          </a:xfrm>
          <a:prstGeom prst="rect">
            <a:avLst/>
          </a:prstGeom>
          <a:noFill/>
          <a:ln/>
        </p:spPr>
        <p:txBody>
          <a:bodyPr wrap="non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08 / 11</a:t>
            </a:r>
            <a:endParaRPr lang="en-US" sz="1200" dirty="0"/>
          </a:p>
        </p:txBody>
      </p:sp>
    </p:spTree>
    <p:extLst>
      <p:ext uri="{BB962C8B-B14F-4D97-AF65-F5344CB8AC3E}">
        <p14:creationId xmlns:p14="http://schemas.microsoft.com/office/powerpoint/2010/main" val="3617658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1456253"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ESCENARIOS</a:t>
            </a:r>
            <a:endParaRPr lang="en-US" sz="1200" dirty="0"/>
          </a:p>
        </p:txBody>
      </p:sp>
      <p:sp>
        <p:nvSpPr>
          <p:cNvPr id="3" name="Text 1"/>
          <p:cNvSpPr/>
          <p:nvPr/>
        </p:nvSpPr>
        <p:spPr>
          <a:xfrm>
            <a:off x="8585200" y="355600"/>
            <a:ext cx="381000"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9017000" y="379710"/>
            <a:ext cx="6350" cy="165100"/>
          </a:xfrm>
          <a:prstGeom prst="rect">
            <a:avLst/>
          </a:prstGeom>
          <a:solidFill>
            <a:srgbClr val="010736"/>
          </a:solidFill>
          <a:ln/>
        </p:spPr>
        <p:txBody>
          <a:bodyPr/>
          <a:lstStyle/>
          <a:p>
            <a:endParaRPr lang="en-US"/>
          </a:p>
        </p:txBody>
      </p:sp>
      <p:sp>
        <p:nvSpPr>
          <p:cNvPr id="5" name="Text 3"/>
          <p:cNvSpPr/>
          <p:nvPr/>
        </p:nvSpPr>
        <p:spPr>
          <a:xfrm>
            <a:off x="9093200" y="355600"/>
            <a:ext cx="2540000" cy="238720"/>
          </a:xfrm>
          <a:prstGeom prst="rect">
            <a:avLst/>
          </a:prstGeom>
          <a:noFill/>
          <a:ln/>
        </p:spPr>
        <p:txBody>
          <a:bodyPr wrap="non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La asimetría juega </a:t>
            </a:r>
            <a:r>
              <a:rPr lang="en-US" sz="2400" b="0" i="0" kern="0" spc="-25" dirty="0" err="1">
                <a:solidFill>
                  <a:srgbClr val="010736"/>
                </a:solidFill>
                <a:latin typeface="Jost" pitchFamily="34" charset="0"/>
                <a:ea typeface="Jost" pitchFamily="34" charset="-122"/>
                <a:cs typeface="Jost" pitchFamily="34" charset="-120"/>
              </a:rPr>
              <a:t>en</a:t>
            </a:r>
            <a:r>
              <a:rPr lang="en-US" sz="2400" b="0" i="0" kern="0" spc="-25" dirty="0">
                <a:solidFill>
                  <a:srgbClr val="010736"/>
                </a:solidFill>
                <a:latin typeface="Jost" pitchFamily="34" charset="0"/>
                <a:ea typeface="Jost" pitchFamily="34" charset="-122"/>
                <a:cs typeface="Jost" pitchFamily="34" charset="-120"/>
              </a:rPr>
              <a:t> contra, hay </a:t>
            </a:r>
            <a:r>
              <a:rPr lang="en-US" sz="2400" b="0" i="0" kern="0" spc="-25" dirty="0" err="1">
                <a:solidFill>
                  <a:srgbClr val="010736"/>
                </a:solidFill>
                <a:latin typeface="Jost" pitchFamily="34" charset="0"/>
                <a:ea typeface="Jost" pitchFamily="34" charset="-122"/>
                <a:cs typeface="Jost" pitchFamily="34" charset="-120"/>
              </a:rPr>
              <a:t>que</a:t>
            </a:r>
            <a:r>
              <a:rPr lang="en-US" sz="2400" b="0" i="0" kern="0" spc="-25" dirty="0">
                <a:solidFill>
                  <a:srgbClr val="010736"/>
                </a:solidFill>
                <a:latin typeface="Jost" pitchFamily="34" charset="0"/>
                <a:ea typeface="Jost" pitchFamily="34" charset="-122"/>
                <a:cs typeface="Jost" pitchFamily="34" charset="-120"/>
              </a:rPr>
              <a:t> </a:t>
            </a:r>
            <a:r>
              <a:rPr lang="en-US" sz="2400" b="0" i="0" kern="0" spc="-25" dirty="0" err="1">
                <a:solidFill>
                  <a:srgbClr val="010736"/>
                </a:solidFill>
                <a:latin typeface="Jost" pitchFamily="34" charset="0"/>
                <a:ea typeface="Jost" pitchFamily="34" charset="-122"/>
                <a:cs typeface="Jost" pitchFamily="34" charset="-120"/>
              </a:rPr>
              <a:t>arriesgar</a:t>
            </a:r>
            <a:r>
              <a:rPr lang="en-US" sz="2400" b="0" i="0" kern="0" spc="-25" dirty="0">
                <a:solidFill>
                  <a:srgbClr val="010736"/>
                </a:solidFill>
                <a:latin typeface="Jost" pitchFamily="34" charset="0"/>
                <a:ea typeface="Jost" pitchFamily="34" charset="-122"/>
                <a:cs typeface="Jost" pitchFamily="34" charset="-120"/>
              </a:rPr>
              <a:t> 16,1 $ por acción para ganar 10,6 $ en el </a:t>
            </a:r>
            <a:r>
              <a:rPr lang="en-US" sz="2400" b="0" i="0" kern="0" spc="-25" dirty="0" err="1">
                <a:solidFill>
                  <a:srgbClr val="010736"/>
                </a:solidFill>
                <a:latin typeface="Jost" pitchFamily="34" charset="0"/>
                <a:ea typeface="Jost" pitchFamily="34" charset="-122"/>
                <a:cs typeface="Jost" pitchFamily="34" charset="-120"/>
              </a:rPr>
              <a:t>mejor</a:t>
            </a:r>
            <a:r>
              <a:rPr lang="en-US" sz="2400" b="0" i="0" kern="0" spc="-25" dirty="0">
                <a:solidFill>
                  <a:srgbClr val="010736"/>
                </a:solidFill>
                <a:latin typeface="Jost" pitchFamily="34" charset="0"/>
                <a:ea typeface="Jost" pitchFamily="34" charset="-122"/>
                <a:cs typeface="Jost" pitchFamily="34" charset="-120"/>
              </a:rPr>
              <a:t> </a:t>
            </a:r>
            <a:r>
              <a:rPr lang="en-US" sz="2400" b="0" i="0" kern="0" spc="-25" dirty="0" err="1">
                <a:solidFill>
                  <a:srgbClr val="010736"/>
                </a:solidFill>
                <a:latin typeface="Jost" pitchFamily="34" charset="0"/>
                <a:ea typeface="Jost" pitchFamily="34" charset="-122"/>
                <a:cs typeface="Jost" pitchFamily="34" charset="-120"/>
              </a:rPr>
              <a:t>caso</a:t>
            </a:r>
            <a:r>
              <a:rPr lang="en-US" sz="2400" b="0" i="0" kern="0" spc="-25" dirty="0">
                <a:solidFill>
                  <a:srgbClr val="010736"/>
                </a:solidFill>
                <a:latin typeface="Jost" pitchFamily="34" charset="0"/>
                <a:ea typeface="Jost" pitchFamily="34" charset="-122"/>
                <a:cs typeface="Jost" pitchFamily="34" charset="-120"/>
              </a:rPr>
              <a:t>.</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Shape 6"/>
          <p:cNvSpPr/>
          <p:nvPr/>
        </p:nvSpPr>
        <p:spPr>
          <a:xfrm>
            <a:off x="609600" y="1914525"/>
            <a:ext cx="3486150" cy="0"/>
          </a:xfrm>
          <a:prstGeom prst="line">
            <a:avLst/>
          </a:prstGeom>
          <a:noFill/>
          <a:ln w="19050">
            <a:solidFill>
              <a:srgbClr val="8590A9"/>
            </a:solidFill>
            <a:prstDash val="solid"/>
          </a:ln>
        </p:spPr>
        <p:txBody>
          <a:bodyPr/>
          <a:lstStyle/>
          <a:p>
            <a:endParaRPr lang="en-US"/>
          </a:p>
        </p:txBody>
      </p:sp>
      <p:sp>
        <p:nvSpPr>
          <p:cNvPr id="9" name="Text 7"/>
          <p:cNvSpPr/>
          <p:nvPr/>
        </p:nvSpPr>
        <p:spPr>
          <a:xfrm>
            <a:off x="609600" y="2063750"/>
            <a:ext cx="359073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BAJISTA</a:t>
            </a:r>
            <a:endParaRPr lang="en-US" sz="1200" dirty="0"/>
          </a:p>
        </p:txBody>
      </p:sp>
      <p:sp>
        <p:nvSpPr>
          <p:cNvPr id="10" name="Text 8"/>
          <p:cNvSpPr/>
          <p:nvPr/>
        </p:nvSpPr>
        <p:spPr>
          <a:xfrm>
            <a:off x="609600" y="2353270"/>
            <a:ext cx="3590735" cy="635000"/>
          </a:xfrm>
          <a:prstGeom prst="rect">
            <a:avLst/>
          </a:prstGeom>
          <a:noFill/>
          <a:ln/>
        </p:spPr>
        <p:txBody>
          <a:bodyPr wrap="square" lIns="0" tIns="0" rIns="0" bIns="0" rtlCol="0" anchor="t">
            <a:normAutofit fontScale="92500"/>
          </a:bodyPr>
          <a:lstStyle/>
          <a:p>
            <a:pPr marL="0" indent="0" algn="l">
              <a:lnSpc>
                <a:spcPts val="4800"/>
              </a:lnSpc>
              <a:buNone/>
            </a:pPr>
            <a:r>
              <a:rPr lang="en-US" sz="4800" dirty="0">
                <a:solidFill>
                  <a:srgbClr val="010736"/>
                </a:solidFill>
                <a:latin typeface="Jost" pitchFamily="34" charset="0"/>
                <a:ea typeface="Jost" pitchFamily="34" charset="-122"/>
                <a:cs typeface="Jost" pitchFamily="34" charset="-120"/>
              </a:rPr>
              <a:t>76,6 </a:t>
            </a:r>
            <a:r>
              <a:rPr lang="en-US" sz="4800" dirty="0">
                <a:solidFill>
                  <a:srgbClr val="5A5C77"/>
                </a:solidFill>
                <a:latin typeface="Jost" pitchFamily="34" charset="0"/>
                <a:ea typeface="Jost" pitchFamily="34" charset="-122"/>
                <a:cs typeface="Jost" pitchFamily="34" charset="-120"/>
              </a:rPr>
              <a:t>$</a:t>
            </a:r>
            <a:endParaRPr lang="en-US" sz="4800" dirty="0"/>
          </a:p>
        </p:txBody>
      </p:sp>
      <p:sp>
        <p:nvSpPr>
          <p:cNvPr id="11" name="Text 9"/>
          <p:cNvSpPr/>
          <p:nvPr/>
        </p:nvSpPr>
        <p:spPr>
          <a:xfrm>
            <a:off x="609600" y="3039070"/>
            <a:ext cx="359073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2396F"/>
                </a:solidFill>
                <a:latin typeface="Jost" pitchFamily="34" charset="0"/>
                <a:ea typeface="Jost" pitchFamily="34" charset="-122"/>
                <a:cs typeface="Jost" pitchFamily="34" charset="-120"/>
              </a:rPr>
              <a:t>−17,4 % frente a 92,7 $</a:t>
            </a:r>
            <a:endParaRPr lang="en-US" sz="1400" dirty="0"/>
          </a:p>
        </p:txBody>
      </p:sp>
      <p:sp>
        <p:nvSpPr>
          <p:cNvPr id="12" name="Shape 10"/>
          <p:cNvSpPr/>
          <p:nvPr/>
        </p:nvSpPr>
        <p:spPr>
          <a:xfrm>
            <a:off x="609600" y="3367286"/>
            <a:ext cx="3486150" cy="0"/>
          </a:xfrm>
          <a:prstGeom prst="line">
            <a:avLst/>
          </a:prstGeom>
          <a:noFill/>
          <a:ln w="6350">
            <a:solidFill>
              <a:srgbClr val="D0CECE"/>
            </a:solidFill>
            <a:prstDash val="solid"/>
          </a:ln>
        </p:spPr>
        <p:txBody>
          <a:bodyPr/>
          <a:lstStyle/>
          <a:p>
            <a:endParaRPr lang="en-US"/>
          </a:p>
        </p:txBody>
      </p:sp>
      <p:sp>
        <p:nvSpPr>
          <p:cNvPr id="13" name="Text 11"/>
          <p:cNvSpPr/>
          <p:nvPr/>
        </p:nvSpPr>
        <p:spPr>
          <a:xfrm>
            <a:off x="609600" y="3459361"/>
            <a:ext cx="3590735"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10736"/>
                </a:solidFill>
                <a:latin typeface="EB Garamond" pitchFamily="18" charset="0"/>
                <a:ea typeface="EB Garamond" pitchFamily="18" charset="-122"/>
                <a:cs typeface="EB Garamond" pitchFamily="18" charset="-120"/>
              </a:rPr>
              <a:t>WACC y Ke +0,5 pp</a:t>
            </a:r>
            <a:endParaRPr lang="en-US" sz="1300" dirty="0"/>
          </a:p>
        </p:txBody>
      </p:sp>
      <p:sp>
        <p:nvSpPr>
          <p:cNvPr id="14" name="Text 12"/>
          <p:cNvSpPr/>
          <p:nvPr/>
        </p:nvSpPr>
        <p:spPr>
          <a:xfrm>
            <a:off x="609600" y="3707011"/>
            <a:ext cx="3590735"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10736"/>
                </a:solidFill>
                <a:latin typeface="EB Garamond" pitchFamily="18" charset="0"/>
                <a:ea typeface="EB Garamond" pitchFamily="18" charset="-122"/>
                <a:cs typeface="EB Garamond" pitchFamily="18" charset="-120"/>
              </a:rPr>
              <a:t>Múltiplo de salida 19x</a:t>
            </a:r>
            <a:endParaRPr lang="en-US" sz="1300" dirty="0"/>
          </a:p>
        </p:txBody>
      </p:sp>
      <p:sp>
        <p:nvSpPr>
          <p:cNvPr id="15" name="Text 13"/>
          <p:cNvSpPr/>
          <p:nvPr/>
        </p:nvSpPr>
        <p:spPr>
          <a:xfrm>
            <a:off x="609600" y="3954661"/>
            <a:ext cx="3590735"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10736"/>
                </a:solidFill>
                <a:latin typeface="EB Garamond" pitchFamily="18" charset="0"/>
                <a:ea typeface="EB Garamond" pitchFamily="18" charset="-122"/>
                <a:cs typeface="EB Garamond" pitchFamily="18" charset="-120"/>
              </a:rPr>
              <a:t>Crecimiento perpetuo 2,25 %</a:t>
            </a:r>
            <a:endParaRPr lang="en-US" sz="1300" dirty="0"/>
          </a:p>
        </p:txBody>
      </p:sp>
      <p:sp>
        <p:nvSpPr>
          <p:cNvPr id="16" name="Text 14"/>
          <p:cNvSpPr/>
          <p:nvPr/>
        </p:nvSpPr>
        <p:spPr>
          <a:xfrm>
            <a:off x="609600" y="4202311"/>
            <a:ext cx="3590735"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5A5C77"/>
                </a:solidFill>
                <a:latin typeface="EB Garamond" pitchFamily="18" charset="0"/>
                <a:ea typeface="EB Garamond" pitchFamily="18" charset="-122"/>
                <a:cs typeface="EB Garamond" pitchFamily="18" charset="-120"/>
              </a:rPr>
              <a:t>DCF 85,4 · 74,6 · DDM 69,9</a:t>
            </a:r>
            <a:endParaRPr lang="en-US" sz="1300" dirty="0"/>
          </a:p>
        </p:txBody>
      </p:sp>
      <p:sp>
        <p:nvSpPr>
          <p:cNvPr id="17" name="Shape 15"/>
          <p:cNvSpPr/>
          <p:nvPr/>
        </p:nvSpPr>
        <p:spPr>
          <a:xfrm>
            <a:off x="4349750" y="1905000"/>
            <a:ext cx="3486150" cy="3937000"/>
          </a:xfrm>
          <a:prstGeom prst="rect">
            <a:avLst/>
          </a:prstGeom>
          <a:solidFill>
            <a:srgbClr val="FCF1D0"/>
          </a:solidFill>
          <a:ln/>
        </p:spPr>
        <p:txBody>
          <a:bodyPr/>
          <a:lstStyle/>
          <a:p>
            <a:endParaRPr lang="en-US"/>
          </a:p>
        </p:txBody>
      </p:sp>
      <p:sp>
        <p:nvSpPr>
          <p:cNvPr id="18" name="Shape 16"/>
          <p:cNvSpPr/>
          <p:nvPr/>
        </p:nvSpPr>
        <p:spPr>
          <a:xfrm>
            <a:off x="4349750" y="1914525"/>
            <a:ext cx="3486150" cy="0"/>
          </a:xfrm>
          <a:prstGeom prst="line">
            <a:avLst/>
          </a:prstGeom>
          <a:noFill/>
          <a:ln w="19050">
            <a:solidFill>
              <a:srgbClr val="010736"/>
            </a:solidFill>
            <a:prstDash val="solid"/>
          </a:ln>
        </p:spPr>
        <p:txBody>
          <a:bodyPr/>
          <a:lstStyle/>
          <a:p>
            <a:endParaRPr lang="en-US"/>
          </a:p>
        </p:txBody>
      </p:sp>
      <p:sp>
        <p:nvSpPr>
          <p:cNvPr id="19" name="Text 17"/>
          <p:cNvSpPr/>
          <p:nvPr/>
        </p:nvSpPr>
        <p:spPr>
          <a:xfrm>
            <a:off x="4527550" y="2063750"/>
            <a:ext cx="3224467"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BASE</a:t>
            </a:r>
            <a:endParaRPr lang="en-US" sz="1200" dirty="0"/>
          </a:p>
        </p:txBody>
      </p:sp>
      <p:sp>
        <p:nvSpPr>
          <p:cNvPr id="20" name="Text 18"/>
          <p:cNvSpPr/>
          <p:nvPr/>
        </p:nvSpPr>
        <p:spPr>
          <a:xfrm>
            <a:off x="4527550" y="2353270"/>
            <a:ext cx="3224467" cy="635000"/>
          </a:xfrm>
          <a:prstGeom prst="rect">
            <a:avLst/>
          </a:prstGeom>
          <a:noFill/>
          <a:ln/>
        </p:spPr>
        <p:txBody>
          <a:bodyPr wrap="square" lIns="0" tIns="0" rIns="0" bIns="0" rtlCol="0" anchor="t">
            <a:normAutofit fontScale="92500"/>
          </a:bodyPr>
          <a:lstStyle/>
          <a:p>
            <a:pPr marL="0" indent="0" algn="l">
              <a:lnSpc>
                <a:spcPts val="4800"/>
              </a:lnSpc>
              <a:buNone/>
            </a:pPr>
            <a:r>
              <a:rPr lang="en-US" sz="4800" dirty="0">
                <a:solidFill>
                  <a:srgbClr val="010736"/>
                </a:solidFill>
                <a:latin typeface="Jost" pitchFamily="34" charset="0"/>
                <a:ea typeface="Jost" pitchFamily="34" charset="-122"/>
                <a:cs typeface="Jost" pitchFamily="34" charset="-120"/>
              </a:rPr>
              <a:t>87,7 </a:t>
            </a:r>
            <a:r>
              <a:rPr lang="en-US" sz="4800" dirty="0">
                <a:solidFill>
                  <a:srgbClr val="5A5C77"/>
                </a:solidFill>
                <a:latin typeface="Jost" pitchFamily="34" charset="0"/>
                <a:ea typeface="Jost" pitchFamily="34" charset="-122"/>
                <a:cs typeface="Jost" pitchFamily="34" charset="-120"/>
              </a:rPr>
              <a:t>$</a:t>
            </a:r>
            <a:endParaRPr lang="en-US" sz="4800" dirty="0"/>
          </a:p>
        </p:txBody>
      </p:sp>
      <p:sp>
        <p:nvSpPr>
          <p:cNvPr id="21" name="Text 19"/>
          <p:cNvSpPr/>
          <p:nvPr/>
        </p:nvSpPr>
        <p:spPr>
          <a:xfrm>
            <a:off x="4527550" y="3039070"/>
            <a:ext cx="322446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2396F"/>
                </a:solidFill>
                <a:latin typeface="Jost" pitchFamily="34" charset="0"/>
                <a:ea typeface="Jost" pitchFamily="34" charset="-122"/>
                <a:cs typeface="Jost" pitchFamily="34" charset="-120"/>
              </a:rPr>
              <a:t>−5,5 % frente a 92,7 $</a:t>
            </a:r>
            <a:endParaRPr lang="en-US" sz="1400" dirty="0"/>
          </a:p>
        </p:txBody>
      </p:sp>
      <p:sp>
        <p:nvSpPr>
          <p:cNvPr id="22" name="Shape 20"/>
          <p:cNvSpPr/>
          <p:nvPr/>
        </p:nvSpPr>
        <p:spPr>
          <a:xfrm>
            <a:off x="4527550" y="3367286"/>
            <a:ext cx="3130550" cy="0"/>
          </a:xfrm>
          <a:prstGeom prst="line">
            <a:avLst/>
          </a:prstGeom>
          <a:noFill/>
          <a:ln w="6350">
            <a:solidFill>
              <a:srgbClr val="010736"/>
            </a:solidFill>
            <a:prstDash val="solid"/>
          </a:ln>
        </p:spPr>
        <p:txBody>
          <a:bodyPr/>
          <a:lstStyle/>
          <a:p>
            <a:endParaRPr lang="en-US"/>
          </a:p>
        </p:txBody>
      </p:sp>
      <p:sp>
        <p:nvSpPr>
          <p:cNvPr id="23" name="Text 21"/>
          <p:cNvSpPr/>
          <p:nvPr/>
        </p:nvSpPr>
        <p:spPr>
          <a:xfrm>
            <a:off x="4527550" y="3459361"/>
            <a:ext cx="3224467"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10736"/>
                </a:solidFill>
                <a:latin typeface="EB Garamond" pitchFamily="18" charset="0"/>
                <a:ea typeface="EB Garamond" pitchFamily="18" charset="-122"/>
                <a:cs typeface="EB Garamond" pitchFamily="18" charset="-120"/>
              </a:rPr>
              <a:t>WACC 5,98 % · Ke 6,38 %</a:t>
            </a:r>
            <a:endParaRPr lang="en-US" sz="1300" dirty="0"/>
          </a:p>
        </p:txBody>
      </p:sp>
      <p:sp>
        <p:nvSpPr>
          <p:cNvPr id="24" name="Text 22"/>
          <p:cNvSpPr/>
          <p:nvPr/>
        </p:nvSpPr>
        <p:spPr>
          <a:xfrm>
            <a:off x="4527550" y="3707011"/>
            <a:ext cx="3224467"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10736"/>
                </a:solidFill>
                <a:latin typeface="EB Garamond" pitchFamily="18" charset="0"/>
                <a:ea typeface="EB Garamond" pitchFamily="18" charset="-122"/>
                <a:cs typeface="EB Garamond" pitchFamily="18" charset="-120"/>
              </a:rPr>
              <a:t>Múltiplo de salida 20x</a:t>
            </a:r>
            <a:endParaRPr lang="en-US" sz="1300" dirty="0"/>
          </a:p>
        </p:txBody>
      </p:sp>
      <p:sp>
        <p:nvSpPr>
          <p:cNvPr id="25" name="Text 23"/>
          <p:cNvSpPr/>
          <p:nvPr/>
        </p:nvSpPr>
        <p:spPr>
          <a:xfrm>
            <a:off x="4527550" y="3954661"/>
            <a:ext cx="3224467"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10736"/>
                </a:solidFill>
                <a:latin typeface="EB Garamond" pitchFamily="18" charset="0"/>
                <a:ea typeface="EB Garamond" pitchFamily="18" charset="-122"/>
                <a:cs typeface="EB Garamond" pitchFamily="18" charset="-120"/>
              </a:rPr>
              <a:t>Crecimiento perpetuo 2,5 %</a:t>
            </a:r>
            <a:endParaRPr lang="en-US" sz="1300" dirty="0"/>
          </a:p>
        </p:txBody>
      </p:sp>
      <p:sp>
        <p:nvSpPr>
          <p:cNvPr id="26" name="Text 24"/>
          <p:cNvSpPr/>
          <p:nvPr/>
        </p:nvSpPr>
        <p:spPr>
          <a:xfrm>
            <a:off x="4527550" y="4202311"/>
            <a:ext cx="3224467"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5A5C77"/>
                </a:solidFill>
                <a:latin typeface="EB Garamond" pitchFamily="18" charset="0"/>
                <a:ea typeface="EB Garamond" pitchFamily="18" charset="-122"/>
                <a:cs typeface="EB Garamond" pitchFamily="18" charset="-120"/>
              </a:rPr>
              <a:t>DCF 92,1 · 88,0 · DDM 82,8</a:t>
            </a:r>
            <a:endParaRPr lang="en-US" sz="1300" dirty="0"/>
          </a:p>
        </p:txBody>
      </p:sp>
      <p:sp>
        <p:nvSpPr>
          <p:cNvPr id="27" name="Shape 25"/>
          <p:cNvSpPr/>
          <p:nvPr/>
        </p:nvSpPr>
        <p:spPr>
          <a:xfrm>
            <a:off x="8089900" y="1914525"/>
            <a:ext cx="3486150" cy="0"/>
          </a:xfrm>
          <a:prstGeom prst="line">
            <a:avLst/>
          </a:prstGeom>
          <a:noFill/>
          <a:ln w="19050">
            <a:solidFill>
              <a:srgbClr val="22396F"/>
            </a:solidFill>
            <a:prstDash val="solid"/>
          </a:ln>
        </p:spPr>
        <p:txBody>
          <a:bodyPr/>
          <a:lstStyle/>
          <a:p>
            <a:endParaRPr lang="en-US"/>
          </a:p>
        </p:txBody>
      </p:sp>
      <p:sp>
        <p:nvSpPr>
          <p:cNvPr id="28" name="Text 26"/>
          <p:cNvSpPr/>
          <p:nvPr/>
        </p:nvSpPr>
        <p:spPr>
          <a:xfrm>
            <a:off x="8089900" y="2063750"/>
            <a:ext cx="3590735"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ALCISTA</a:t>
            </a:r>
            <a:endParaRPr lang="en-US" sz="1200" dirty="0"/>
          </a:p>
        </p:txBody>
      </p:sp>
      <p:sp>
        <p:nvSpPr>
          <p:cNvPr id="29" name="Text 27"/>
          <p:cNvSpPr/>
          <p:nvPr/>
        </p:nvSpPr>
        <p:spPr>
          <a:xfrm>
            <a:off x="8089900" y="2353270"/>
            <a:ext cx="3590735" cy="635000"/>
          </a:xfrm>
          <a:prstGeom prst="rect">
            <a:avLst/>
          </a:prstGeom>
          <a:noFill/>
          <a:ln/>
        </p:spPr>
        <p:txBody>
          <a:bodyPr wrap="square" lIns="0" tIns="0" rIns="0" bIns="0" rtlCol="0" anchor="t">
            <a:normAutofit fontScale="92500"/>
          </a:bodyPr>
          <a:lstStyle/>
          <a:p>
            <a:pPr marL="0" indent="0" algn="l">
              <a:lnSpc>
                <a:spcPts val="4800"/>
              </a:lnSpc>
              <a:buNone/>
            </a:pPr>
            <a:r>
              <a:rPr lang="en-US" sz="4800" dirty="0">
                <a:solidFill>
                  <a:srgbClr val="010736"/>
                </a:solidFill>
                <a:latin typeface="Jost" pitchFamily="34" charset="0"/>
                <a:ea typeface="Jost" pitchFamily="34" charset="-122"/>
                <a:cs typeface="Jost" pitchFamily="34" charset="-120"/>
              </a:rPr>
              <a:t>103,3 </a:t>
            </a:r>
            <a:r>
              <a:rPr lang="en-US" sz="4800" dirty="0">
                <a:solidFill>
                  <a:srgbClr val="5A5C77"/>
                </a:solidFill>
                <a:latin typeface="Jost" pitchFamily="34" charset="0"/>
                <a:ea typeface="Jost" pitchFamily="34" charset="-122"/>
                <a:cs typeface="Jost" pitchFamily="34" charset="-120"/>
              </a:rPr>
              <a:t>$</a:t>
            </a:r>
            <a:endParaRPr lang="en-US" sz="4800" dirty="0"/>
          </a:p>
        </p:txBody>
      </p:sp>
      <p:sp>
        <p:nvSpPr>
          <p:cNvPr id="30" name="Text 28"/>
          <p:cNvSpPr/>
          <p:nvPr/>
        </p:nvSpPr>
        <p:spPr>
          <a:xfrm>
            <a:off x="8089900" y="3039070"/>
            <a:ext cx="359073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2396F"/>
                </a:solidFill>
                <a:latin typeface="Jost" pitchFamily="34" charset="0"/>
                <a:ea typeface="Jost" pitchFamily="34" charset="-122"/>
                <a:cs typeface="Jost" pitchFamily="34" charset="-120"/>
              </a:rPr>
              <a:t>+11,4 % frente a 92,7 $</a:t>
            </a:r>
            <a:endParaRPr lang="en-US" sz="1400" dirty="0"/>
          </a:p>
        </p:txBody>
      </p:sp>
      <p:sp>
        <p:nvSpPr>
          <p:cNvPr id="31" name="Shape 29"/>
          <p:cNvSpPr/>
          <p:nvPr/>
        </p:nvSpPr>
        <p:spPr>
          <a:xfrm>
            <a:off x="8089900" y="3367286"/>
            <a:ext cx="3486150" cy="0"/>
          </a:xfrm>
          <a:prstGeom prst="line">
            <a:avLst/>
          </a:prstGeom>
          <a:noFill/>
          <a:ln w="6350">
            <a:solidFill>
              <a:srgbClr val="D0CECE"/>
            </a:solidFill>
            <a:prstDash val="solid"/>
          </a:ln>
        </p:spPr>
        <p:txBody>
          <a:bodyPr/>
          <a:lstStyle/>
          <a:p>
            <a:endParaRPr lang="en-US"/>
          </a:p>
        </p:txBody>
      </p:sp>
      <p:sp>
        <p:nvSpPr>
          <p:cNvPr id="32" name="Text 30"/>
          <p:cNvSpPr/>
          <p:nvPr/>
        </p:nvSpPr>
        <p:spPr>
          <a:xfrm>
            <a:off x="8089900" y="3459361"/>
            <a:ext cx="3590735"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10736"/>
                </a:solidFill>
                <a:latin typeface="EB Garamond" pitchFamily="18" charset="0"/>
                <a:ea typeface="EB Garamond" pitchFamily="18" charset="-122"/>
                <a:cs typeface="EB Garamond" pitchFamily="18" charset="-120"/>
              </a:rPr>
              <a:t>WACC y Ke −0,5 pp</a:t>
            </a:r>
            <a:endParaRPr lang="en-US" sz="1300" dirty="0"/>
          </a:p>
        </p:txBody>
      </p:sp>
      <p:sp>
        <p:nvSpPr>
          <p:cNvPr id="33" name="Text 31"/>
          <p:cNvSpPr/>
          <p:nvPr/>
        </p:nvSpPr>
        <p:spPr>
          <a:xfrm>
            <a:off x="8089900" y="3707011"/>
            <a:ext cx="3590735"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10736"/>
                </a:solidFill>
                <a:latin typeface="EB Garamond" pitchFamily="18" charset="0"/>
                <a:ea typeface="EB Garamond" pitchFamily="18" charset="-122"/>
                <a:cs typeface="EB Garamond" pitchFamily="18" charset="-120"/>
              </a:rPr>
              <a:t>Múltiplo de salida 21x</a:t>
            </a:r>
            <a:endParaRPr lang="en-US" sz="1300" dirty="0"/>
          </a:p>
        </p:txBody>
      </p:sp>
      <p:sp>
        <p:nvSpPr>
          <p:cNvPr id="34" name="Text 32"/>
          <p:cNvSpPr/>
          <p:nvPr/>
        </p:nvSpPr>
        <p:spPr>
          <a:xfrm>
            <a:off x="8089900" y="3954661"/>
            <a:ext cx="3590735"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10736"/>
                </a:solidFill>
                <a:latin typeface="EB Garamond" pitchFamily="18" charset="0"/>
                <a:ea typeface="EB Garamond" pitchFamily="18" charset="-122"/>
                <a:cs typeface="EB Garamond" pitchFamily="18" charset="-120"/>
              </a:rPr>
              <a:t>Crecimiento perpetuo 2,75 %</a:t>
            </a:r>
            <a:endParaRPr lang="en-US" sz="1300" dirty="0"/>
          </a:p>
        </p:txBody>
      </p:sp>
      <p:sp>
        <p:nvSpPr>
          <p:cNvPr id="35" name="Text 33"/>
          <p:cNvSpPr/>
          <p:nvPr/>
        </p:nvSpPr>
        <p:spPr>
          <a:xfrm>
            <a:off x="8089900" y="4202311"/>
            <a:ext cx="3590735"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5A5C77"/>
                </a:solidFill>
                <a:latin typeface="EB Garamond" pitchFamily="18" charset="0"/>
                <a:ea typeface="EB Garamond" pitchFamily="18" charset="-122"/>
                <a:cs typeface="EB Garamond" pitchFamily="18" charset="-120"/>
              </a:rPr>
              <a:t>DCF 99,4 · 108,7 · DDM 101,8</a:t>
            </a:r>
            <a:endParaRPr lang="en-US" sz="1300" dirty="0"/>
          </a:p>
        </p:txBody>
      </p:sp>
      <p:sp>
        <p:nvSpPr>
          <p:cNvPr id="36" name="Shape 34"/>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37" name="Text 35"/>
          <p:cNvSpPr/>
          <p:nvPr/>
        </p:nvSpPr>
        <p:spPr>
          <a:xfrm>
            <a:off x="609600" y="6398320"/>
            <a:ext cx="8544520"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Cada escenario es la media de los dos DCF y el DDM con las hipótesis indicadas. Fuente: modelo propio, tablas de sensibilidad.</a:t>
            </a:r>
            <a:endParaRPr lang="en-US" sz="1200" dirty="0"/>
          </a:p>
        </p:txBody>
      </p:sp>
      <p:sp>
        <p:nvSpPr>
          <p:cNvPr id="39" name="Text 37"/>
          <p:cNvSpPr/>
          <p:nvPr/>
        </p:nvSpPr>
        <p:spPr>
          <a:xfrm>
            <a:off x="10920512" y="6390680"/>
            <a:ext cx="712688" cy="238720"/>
          </a:xfrm>
          <a:prstGeom prst="rect">
            <a:avLst/>
          </a:prstGeom>
          <a:noFill/>
          <a:ln/>
        </p:spPr>
        <p:txBody>
          <a:bodyPr wrap="non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09 / 11</a:t>
            </a:r>
            <a:endParaRPr lang="en-US" sz="1200" dirty="0"/>
          </a:p>
        </p:txBody>
      </p:sp>
    </p:spTree>
    <p:extLst>
      <p:ext uri="{BB962C8B-B14F-4D97-AF65-F5344CB8AC3E}">
        <p14:creationId xmlns:p14="http://schemas.microsoft.com/office/powerpoint/2010/main" val="727161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EFAEF"/>
        </a:solidFill>
        <a:effectLst/>
      </p:bgPr>
    </p:bg>
    <p:spTree>
      <p:nvGrpSpPr>
        <p:cNvPr id="1" name=""/>
        <p:cNvGrpSpPr/>
        <p:nvPr/>
      </p:nvGrpSpPr>
      <p:grpSpPr>
        <a:xfrm>
          <a:off x="0" y="0"/>
          <a:ext cx="0" cy="0"/>
          <a:chOff x="0" y="0"/>
          <a:chExt cx="0" cy="0"/>
        </a:xfrm>
      </p:grpSpPr>
      <p:sp>
        <p:nvSpPr>
          <p:cNvPr id="2" name="Text 0"/>
          <p:cNvSpPr/>
          <p:nvPr/>
        </p:nvSpPr>
        <p:spPr>
          <a:xfrm>
            <a:off x="609600" y="355600"/>
            <a:ext cx="316099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22396F"/>
                </a:solidFill>
                <a:latin typeface="Jost" pitchFamily="34" charset="0"/>
                <a:ea typeface="Jost" pitchFamily="34" charset="-122"/>
                <a:cs typeface="Jost" pitchFamily="34" charset="-120"/>
              </a:rPr>
              <a:t>CATALIZADORES Y RIESGOS</a:t>
            </a:r>
            <a:endParaRPr lang="en-US" sz="1200" dirty="0"/>
          </a:p>
        </p:txBody>
      </p:sp>
      <p:sp>
        <p:nvSpPr>
          <p:cNvPr id="3" name="Text 1"/>
          <p:cNvSpPr/>
          <p:nvPr/>
        </p:nvSpPr>
        <p:spPr>
          <a:xfrm>
            <a:off x="8585200" y="355600"/>
            <a:ext cx="381000" cy="23872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010736"/>
                </a:solidFill>
                <a:latin typeface="Jost" pitchFamily="34" charset="0"/>
                <a:ea typeface="Jost" pitchFamily="34" charset="-122"/>
                <a:cs typeface="Jost" pitchFamily="34" charset="-120"/>
              </a:rPr>
              <a:t>A&amp;E</a:t>
            </a:r>
            <a:endParaRPr lang="en-US" sz="1200" dirty="0"/>
          </a:p>
        </p:txBody>
      </p:sp>
      <p:sp>
        <p:nvSpPr>
          <p:cNvPr id="4" name="Shape 2"/>
          <p:cNvSpPr/>
          <p:nvPr/>
        </p:nvSpPr>
        <p:spPr>
          <a:xfrm>
            <a:off x="9017000" y="379710"/>
            <a:ext cx="6350" cy="165100"/>
          </a:xfrm>
          <a:prstGeom prst="rect">
            <a:avLst/>
          </a:prstGeom>
          <a:solidFill>
            <a:srgbClr val="010736"/>
          </a:solidFill>
          <a:ln/>
        </p:spPr>
        <p:txBody>
          <a:bodyPr/>
          <a:lstStyle/>
          <a:p>
            <a:endParaRPr lang="en-US"/>
          </a:p>
        </p:txBody>
      </p:sp>
      <p:sp>
        <p:nvSpPr>
          <p:cNvPr id="5" name="Text 3"/>
          <p:cNvSpPr/>
          <p:nvPr/>
        </p:nvSpPr>
        <p:spPr>
          <a:xfrm>
            <a:off x="9093200" y="355600"/>
            <a:ext cx="2540000" cy="238720"/>
          </a:xfrm>
          <a:prstGeom prst="rect">
            <a:avLst/>
          </a:prstGeom>
          <a:noFill/>
          <a:ln/>
        </p:spPr>
        <p:txBody>
          <a:bodyPr wrap="none" lIns="0" tIns="0" rIns="0" bIns="0" rtlCol="0" anchor="t">
            <a:normAutofit/>
          </a:bodyPr>
          <a:lstStyle/>
          <a:p>
            <a:pPr marL="0" indent="0" algn="l">
              <a:lnSpc>
                <a:spcPts val="1680"/>
              </a:lnSpc>
              <a:buNone/>
            </a:pPr>
            <a:r>
              <a:rPr lang="en-US" sz="1200" kern="0" spc="300" dirty="0">
                <a:solidFill>
                  <a:srgbClr val="5A5C77"/>
                </a:solidFill>
                <a:latin typeface="Jost" pitchFamily="34" charset="0"/>
                <a:ea typeface="Jost" pitchFamily="34" charset="-122"/>
                <a:cs typeface="Jost" pitchFamily="34" charset="-120"/>
              </a:rPr>
              <a:t>ANÁLISIS FINANCIERO</a:t>
            </a:r>
            <a:endParaRPr lang="en-US" sz="1200" dirty="0"/>
          </a:p>
        </p:txBody>
      </p:sp>
      <p:sp>
        <p:nvSpPr>
          <p:cNvPr id="6" name="Text 4"/>
          <p:cNvSpPr>
            <a:spLocks noGrp="1"/>
          </p:cNvSpPr>
          <p:nvPr>
            <p:ph type="title"/>
          </p:nvPr>
        </p:nvSpPr>
        <p:spPr>
          <a:xfrm>
            <a:off x="609600" y="698500"/>
            <a:ext cx="10726420" cy="787400"/>
          </a:xfrm>
          <a:prstGeom prst="rect">
            <a:avLst/>
          </a:prstGeom>
          <a:noFill/>
          <a:ln/>
        </p:spPr>
        <p:txBody>
          <a:bodyPr wrap="square" lIns="0" tIns="0" rIns="0" bIns="0" rtlCol="0" anchor="t">
            <a:normAutofit/>
          </a:bodyPr>
          <a:lstStyle/>
          <a:p>
            <a:pPr marL="0" indent="0" algn="l">
              <a:lnSpc>
                <a:spcPts val="3000"/>
              </a:lnSpc>
              <a:buNone/>
            </a:pPr>
            <a:r>
              <a:rPr lang="en-US" sz="2400" b="0" i="0" kern="0" spc="-25" dirty="0">
                <a:solidFill>
                  <a:srgbClr val="010736"/>
                </a:solidFill>
                <a:latin typeface="Jost" pitchFamily="34" charset="0"/>
                <a:ea typeface="Jost" pitchFamily="34" charset="-122"/>
                <a:cs typeface="Jost" pitchFamily="34" charset="-120"/>
              </a:rPr>
              <a:t>Los catalizadores mejoran la calidad del negocio; los riesgos amenazan el volumen, la divisa y la fiscalidad</a:t>
            </a:r>
            <a:endParaRPr lang="en-US" sz="2400" dirty="0"/>
          </a:p>
        </p:txBody>
      </p:sp>
      <p:sp>
        <p:nvSpPr>
          <p:cNvPr id="7" name="Shape 5"/>
          <p:cNvSpPr/>
          <p:nvPr/>
        </p:nvSpPr>
        <p:spPr>
          <a:xfrm>
            <a:off x="609600" y="1625600"/>
            <a:ext cx="10972800" cy="6350"/>
          </a:xfrm>
          <a:prstGeom prst="rect">
            <a:avLst/>
          </a:prstGeom>
          <a:solidFill>
            <a:srgbClr val="010736"/>
          </a:solidFill>
          <a:ln/>
        </p:spPr>
        <p:txBody>
          <a:bodyPr/>
          <a:lstStyle/>
          <a:p>
            <a:endParaRPr lang="en-US"/>
          </a:p>
        </p:txBody>
      </p:sp>
      <p:sp>
        <p:nvSpPr>
          <p:cNvPr id="8" name="Text 6"/>
          <p:cNvSpPr/>
          <p:nvPr/>
        </p:nvSpPr>
        <p:spPr>
          <a:xfrm>
            <a:off x="609600" y="1905000"/>
            <a:ext cx="5415534"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CATALIZADORES</a:t>
            </a:r>
            <a:endParaRPr lang="en-US" sz="1200" dirty="0"/>
          </a:p>
        </p:txBody>
      </p:sp>
      <p:sp>
        <p:nvSpPr>
          <p:cNvPr id="9" name="Shape 7"/>
          <p:cNvSpPr/>
          <p:nvPr/>
        </p:nvSpPr>
        <p:spPr>
          <a:xfrm>
            <a:off x="609600" y="2211983"/>
            <a:ext cx="5257800" cy="0"/>
          </a:xfrm>
          <a:prstGeom prst="line">
            <a:avLst/>
          </a:prstGeom>
          <a:noFill/>
          <a:ln w="9525">
            <a:solidFill>
              <a:srgbClr val="010736"/>
            </a:solidFill>
            <a:prstDash val="solid"/>
          </a:ln>
        </p:spPr>
        <p:txBody>
          <a:bodyPr/>
          <a:lstStyle/>
          <a:p>
            <a:endParaRPr lang="en-US"/>
          </a:p>
        </p:txBody>
      </p:sp>
      <p:sp>
        <p:nvSpPr>
          <p:cNvPr id="10" name="Text 8"/>
          <p:cNvSpPr/>
          <p:nvPr/>
        </p:nvSpPr>
        <p:spPr>
          <a:xfrm>
            <a:off x="609600" y="2353270"/>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01</a:t>
            </a:r>
            <a:endParaRPr lang="en-US" sz="1200" dirty="0"/>
          </a:p>
        </p:txBody>
      </p:sp>
      <p:sp>
        <p:nvSpPr>
          <p:cNvPr id="11" name="Text 9"/>
          <p:cNvSpPr/>
          <p:nvPr/>
        </p:nvSpPr>
        <p:spPr>
          <a:xfrm>
            <a:off x="1066800" y="2353270"/>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Cierre de la venta de CCBA (4T 2026):</a:t>
            </a:r>
            <a:r>
              <a:rPr lang="en-US" sz="1400" dirty="0">
                <a:solidFill>
                  <a:srgbClr val="010736"/>
                </a:solidFill>
                <a:latin typeface="EB Garamond" pitchFamily="18" charset="0"/>
                <a:ea typeface="EB Garamond" pitchFamily="18" charset="-122"/>
                <a:cs typeface="EB Garamond" pitchFamily="18" charset="-120"/>
              </a:rPr>
              <a:t> menos ingresos y más margen; el embotellado propio, en torno al 5 %.</a:t>
            </a:r>
            <a:endParaRPr lang="en-US" sz="1400" dirty="0"/>
          </a:p>
        </p:txBody>
      </p:sp>
      <p:sp>
        <p:nvSpPr>
          <p:cNvPr id="12" name="Shape 10"/>
          <p:cNvSpPr/>
          <p:nvPr/>
        </p:nvSpPr>
        <p:spPr>
          <a:xfrm>
            <a:off x="609600" y="2993827"/>
            <a:ext cx="5257800" cy="0"/>
          </a:xfrm>
          <a:prstGeom prst="line">
            <a:avLst/>
          </a:prstGeom>
          <a:noFill/>
          <a:ln w="6350">
            <a:solidFill>
              <a:srgbClr val="D0CECE"/>
            </a:solidFill>
            <a:prstDash val="solid"/>
          </a:ln>
        </p:spPr>
        <p:txBody>
          <a:bodyPr/>
          <a:lstStyle/>
          <a:p>
            <a:endParaRPr lang="en-US"/>
          </a:p>
        </p:txBody>
      </p:sp>
      <p:sp>
        <p:nvSpPr>
          <p:cNvPr id="13" name="Text 11"/>
          <p:cNvSpPr/>
          <p:nvPr/>
        </p:nvSpPr>
        <p:spPr>
          <a:xfrm>
            <a:off x="609600" y="3136702"/>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02</a:t>
            </a:r>
            <a:endParaRPr lang="en-US" sz="1200" dirty="0"/>
          </a:p>
        </p:txBody>
      </p:sp>
      <p:sp>
        <p:nvSpPr>
          <p:cNvPr id="14" name="Text 12"/>
          <p:cNvSpPr/>
          <p:nvPr/>
        </p:nvSpPr>
        <p:spPr>
          <a:xfrm>
            <a:off x="1066800" y="3136702"/>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Resultados FY 2026 (febrero de 2027):</a:t>
            </a:r>
            <a:r>
              <a:rPr lang="en-US" sz="1400" dirty="0">
                <a:solidFill>
                  <a:srgbClr val="010736"/>
                </a:solidFill>
                <a:latin typeface="EB Garamond" pitchFamily="18" charset="0"/>
                <a:ea typeface="EB Garamond" pitchFamily="18" charset="-122"/>
                <a:cs typeface="EB Garamond" pitchFamily="18" charset="-120"/>
              </a:rPr>
              <a:t> primera guía con el nuevo perímetro y el equipo de Henrique Braun.</a:t>
            </a:r>
            <a:endParaRPr lang="en-US" sz="1400" dirty="0"/>
          </a:p>
        </p:txBody>
      </p:sp>
      <p:sp>
        <p:nvSpPr>
          <p:cNvPr id="15" name="Shape 13"/>
          <p:cNvSpPr/>
          <p:nvPr/>
        </p:nvSpPr>
        <p:spPr>
          <a:xfrm>
            <a:off x="609600" y="3777258"/>
            <a:ext cx="5257800" cy="0"/>
          </a:xfrm>
          <a:prstGeom prst="line">
            <a:avLst/>
          </a:prstGeom>
          <a:noFill/>
          <a:ln w="6350">
            <a:solidFill>
              <a:srgbClr val="D0CECE"/>
            </a:solidFill>
            <a:prstDash val="solid"/>
          </a:ln>
        </p:spPr>
        <p:txBody>
          <a:bodyPr/>
          <a:lstStyle/>
          <a:p>
            <a:endParaRPr lang="en-US"/>
          </a:p>
        </p:txBody>
      </p:sp>
      <p:sp>
        <p:nvSpPr>
          <p:cNvPr id="16" name="Text 14"/>
          <p:cNvSpPr/>
          <p:nvPr/>
        </p:nvSpPr>
        <p:spPr>
          <a:xfrm>
            <a:off x="609600" y="3920133"/>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03</a:t>
            </a:r>
            <a:endParaRPr lang="en-US" sz="1200" dirty="0"/>
          </a:p>
        </p:txBody>
      </p:sp>
      <p:sp>
        <p:nvSpPr>
          <p:cNvPr id="17" name="Text 15"/>
          <p:cNvSpPr/>
          <p:nvPr/>
        </p:nvSpPr>
        <p:spPr>
          <a:xfrm>
            <a:off x="1066800" y="3920133"/>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Retorno al accionista:</a:t>
            </a:r>
            <a:r>
              <a:rPr lang="en-US" sz="1400" dirty="0">
                <a:solidFill>
                  <a:srgbClr val="010736"/>
                </a:solidFill>
                <a:latin typeface="EB Garamond" pitchFamily="18" charset="0"/>
                <a:ea typeface="EB Garamond" pitchFamily="18" charset="-122"/>
                <a:cs typeface="EB Garamond" pitchFamily="18" charset="-120"/>
              </a:rPr>
              <a:t> el modelo prevé recompras de 34,9 mil M$ entre 2027 y 2035.</a:t>
            </a:r>
            <a:endParaRPr lang="en-US" sz="1400" dirty="0"/>
          </a:p>
        </p:txBody>
      </p:sp>
      <p:sp>
        <p:nvSpPr>
          <p:cNvPr id="18" name="Text 16"/>
          <p:cNvSpPr/>
          <p:nvPr/>
        </p:nvSpPr>
        <p:spPr>
          <a:xfrm>
            <a:off x="6324600" y="1905000"/>
            <a:ext cx="5415534"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5A5C77"/>
                </a:solidFill>
                <a:latin typeface="Jost" pitchFamily="34" charset="0"/>
                <a:ea typeface="Jost" pitchFamily="34" charset="-122"/>
                <a:cs typeface="Jost" pitchFamily="34" charset="-120"/>
              </a:rPr>
              <a:t>RIESGOS</a:t>
            </a:r>
            <a:endParaRPr lang="en-US" sz="1200" dirty="0"/>
          </a:p>
        </p:txBody>
      </p:sp>
      <p:sp>
        <p:nvSpPr>
          <p:cNvPr id="19" name="Shape 17"/>
          <p:cNvSpPr/>
          <p:nvPr/>
        </p:nvSpPr>
        <p:spPr>
          <a:xfrm>
            <a:off x="6324600" y="2211983"/>
            <a:ext cx="5257800" cy="0"/>
          </a:xfrm>
          <a:prstGeom prst="line">
            <a:avLst/>
          </a:prstGeom>
          <a:noFill/>
          <a:ln w="9525">
            <a:solidFill>
              <a:srgbClr val="010736"/>
            </a:solidFill>
            <a:prstDash val="solid"/>
          </a:ln>
        </p:spPr>
        <p:txBody>
          <a:bodyPr/>
          <a:lstStyle/>
          <a:p>
            <a:endParaRPr lang="en-US"/>
          </a:p>
        </p:txBody>
      </p:sp>
      <p:sp>
        <p:nvSpPr>
          <p:cNvPr id="20" name="Text 18"/>
          <p:cNvSpPr/>
          <p:nvPr/>
        </p:nvSpPr>
        <p:spPr>
          <a:xfrm>
            <a:off x="6324600" y="2353270"/>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01</a:t>
            </a:r>
            <a:endParaRPr lang="en-US" sz="1200" dirty="0"/>
          </a:p>
        </p:txBody>
      </p:sp>
      <p:sp>
        <p:nvSpPr>
          <p:cNvPr id="21" name="Text 19"/>
          <p:cNvSpPr/>
          <p:nvPr/>
        </p:nvSpPr>
        <p:spPr>
          <a:xfrm>
            <a:off x="6781800" y="2353270"/>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Salud y regulación:</a:t>
            </a:r>
            <a:r>
              <a:rPr lang="en-US" sz="1400" dirty="0">
                <a:solidFill>
                  <a:srgbClr val="010736"/>
                </a:solidFill>
                <a:latin typeface="EB Garamond" pitchFamily="18" charset="0"/>
                <a:ea typeface="EB Garamond" pitchFamily="18" charset="-122"/>
                <a:cs typeface="EB Garamond" pitchFamily="18" charset="-120"/>
              </a:rPr>
              <a:t> fármacos GLP-1 e impuestos al azúcar sobre el volumen de refrescos.</a:t>
            </a:r>
            <a:endParaRPr lang="en-US" sz="1400" dirty="0"/>
          </a:p>
        </p:txBody>
      </p:sp>
      <p:sp>
        <p:nvSpPr>
          <p:cNvPr id="22" name="Shape 20"/>
          <p:cNvSpPr/>
          <p:nvPr/>
        </p:nvSpPr>
        <p:spPr>
          <a:xfrm>
            <a:off x="6324600" y="2993827"/>
            <a:ext cx="5257800" cy="0"/>
          </a:xfrm>
          <a:prstGeom prst="line">
            <a:avLst/>
          </a:prstGeom>
          <a:noFill/>
          <a:ln w="6350">
            <a:solidFill>
              <a:srgbClr val="D0CECE"/>
            </a:solidFill>
            <a:prstDash val="solid"/>
          </a:ln>
        </p:spPr>
        <p:txBody>
          <a:bodyPr/>
          <a:lstStyle/>
          <a:p>
            <a:endParaRPr lang="en-US"/>
          </a:p>
        </p:txBody>
      </p:sp>
      <p:sp>
        <p:nvSpPr>
          <p:cNvPr id="23" name="Text 21"/>
          <p:cNvSpPr/>
          <p:nvPr/>
        </p:nvSpPr>
        <p:spPr>
          <a:xfrm>
            <a:off x="6324600" y="3136702"/>
            <a:ext cx="406400" cy="52308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02</a:t>
            </a:r>
            <a:endParaRPr lang="en-US" sz="1200" dirty="0"/>
          </a:p>
        </p:txBody>
      </p:sp>
      <p:sp>
        <p:nvSpPr>
          <p:cNvPr id="24" name="Text 22"/>
          <p:cNvSpPr/>
          <p:nvPr/>
        </p:nvSpPr>
        <p:spPr>
          <a:xfrm>
            <a:off x="6781800" y="3136702"/>
            <a:ext cx="4944618" cy="52308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Divisa:</a:t>
            </a:r>
            <a:r>
              <a:rPr lang="en-US" sz="1400" dirty="0">
                <a:solidFill>
                  <a:srgbClr val="010736"/>
                </a:solidFill>
                <a:latin typeface="EB Garamond" pitchFamily="18" charset="0"/>
                <a:ea typeface="EB Garamond" pitchFamily="18" charset="-122"/>
                <a:cs typeface="EB Garamond" pitchFamily="18" charset="-120"/>
              </a:rPr>
              <a:t> un dólar fuerte resta ingresos en los emergentes, donde más crece.</a:t>
            </a:r>
            <a:endParaRPr lang="en-US" sz="1400" dirty="0"/>
          </a:p>
        </p:txBody>
      </p:sp>
      <p:sp>
        <p:nvSpPr>
          <p:cNvPr id="25" name="Shape 23"/>
          <p:cNvSpPr/>
          <p:nvPr/>
        </p:nvSpPr>
        <p:spPr>
          <a:xfrm>
            <a:off x="6324600" y="3777258"/>
            <a:ext cx="5257800" cy="0"/>
          </a:xfrm>
          <a:prstGeom prst="line">
            <a:avLst/>
          </a:prstGeom>
          <a:noFill/>
          <a:ln w="6350">
            <a:solidFill>
              <a:srgbClr val="D0CECE"/>
            </a:solidFill>
            <a:prstDash val="solid"/>
          </a:ln>
        </p:spPr>
        <p:txBody>
          <a:bodyPr/>
          <a:lstStyle/>
          <a:p>
            <a:endParaRPr lang="en-US"/>
          </a:p>
        </p:txBody>
      </p:sp>
      <p:sp>
        <p:nvSpPr>
          <p:cNvPr id="26" name="Text 24"/>
          <p:cNvSpPr/>
          <p:nvPr/>
        </p:nvSpPr>
        <p:spPr>
          <a:xfrm>
            <a:off x="6324600" y="3920133"/>
            <a:ext cx="406400" cy="274241"/>
          </a:xfrm>
          <a:prstGeom prst="rect">
            <a:avLst/>
          </a:prstGeom>
          <a:noFill/>
          <a:ln/>
        </p:spPr>
        <p:txBody>
          <a:bodyPr wrap="square" lIns="0" tIns="0" rIns="0" bIns="0" rtlCol="0" anchor="t">
            <a:normAutofit/>
          </a:bodyPr>
          <a:lstStyle/>
          <a:p>
            <a:pPr marL="0" indent="0" algn="l">
              <a:lnSpc>
                <a:spcPts val="1920"/>
              </a:lnSpc>
              <a:buNone/>
            </a:pPr>
            <a:r>
              <a:rPr lang="en-US" sz="1200" b="1" kern="0" spc="100" dirty="0">
                <a:solidFill>
                  <a:srgbClr val="22396F"/>
                </a:solidFill>
                <a:latin typeface="Jost" pitchFamily="34" charset="0"/>
                <a:ea typeface="Jost" pitchFamily="34" charset="-122"/>
                <a:cs typeface="Jost" pitchFamily="34" charset="-120"/>
              </a:rPr>
              <a:t>03</a:t>
            </a:r>
            <a:endParaRPr lang="en-US" sz="1200" dirty="0"/>
          </a:p>
        </p:txBody>
      </p:sp>
      <p:sp>
        <p:nvSpPr>
          <p:cNvPr id="27" name="Text 25"/>
          <p:cNvSpPr/>
          <p:nvPr/>
        </p:nvSpPr>
        <p:spPr>
          <a:xfrm>
            <a:off x="6781800" y="3920133"/>
            <a:ext cx="494461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10736"/>
                </a:solidFill>
                <a:latin typeface="EB Garamond" pitchFamily="18" charset="0"/>
                <a:ea typeface="EB Garamond" pitchFamily="18" charset="-122"/>
                <a:cs typeface="EB Garamond" pitchFamily="18" charset="-120"/>
              </a:rPr>
              <a:t>Litigio con el IRS</a:t>
            </a:r>
            <a:r>
              <a:rPr lang="en-US" sz="1400" dirty="0">
                <a:solidFill>
                  <a:srgbClr val="010736"/>
                </a:solidFill>
                <a:latin typeface="EB Garamond" pitchFamily="18" charset="0"/>
                <a:ea typeface="EB Garamond" pitchFamily="18" charset="-122"/>
                <a:cs typeface="EB Garamond" pitchFamily="18" charset="-120"/>
              </a:rPr>
              <a:t> por precios de transferencia, aún recurrido.</a:t>
            </a:r>
            <a:endParaRPr lang="en-US" sz="1400" dirty="0"/>
          </a:p>
        </p:txBody>
      </p:sp>
      <p:sp>
        <p:nvSpPr>
          <p:cNvPr id="28" name="Shape 26"/>
          <p:cNvSpPr/>
          <p:nvPr/>
        </p:nvSpPr>
        <p:spPr>
          <a:xfrm>
            <a:off x="609600" y="6298605"/>
            <a:ext cx="10972800" cy="0"/>
          </a:xfrm>
          <a:prstGeom prst="line">
            <a:avLst/>
          </a:prstGeom>
          <a:noFill/>
          <a:ln w="6350">
            <a:solidFill>
              <a:srgbClr val="D0CECE"/>
            </a:solidFill>
            <a:prstDash val="solid"/>
          </a:ln>
        </p:spPr>
        <p:txBody>
          <a:bodyPr/>
          <a:lstStyle/>
          <a:p>
            <a:endParaRPr lang="en-US"/>
          </a:p>
        </p:txBody>
      </p:sp>
      <p:sp>
        <p:nvSpPr>
          <p:cNvPr id="29" name="Text 27"/>
          <p:cNvSpPr/>
          <p:nvPr/>
        </p:nvSpPr>
        <p:spPr>
          <a:xfrm>
            <a:off x="609600" y="6398320"/>
            <a:ext cx="7109460" cy="223441"/>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5A5C77"/>
                </a:solidFill>
                <a:latin typeface="EB Garamond" pitchFamily="18" charset="0"/>
                <a:ea typeface="EB Garamond" pitchFamily="18" charset="-122"/>
                <a:cs typeface="EB Garamond" pitchFamily="18" charset="-120"/>
              </a:rPr>
              <a:t>Fuente: Coca-Cola (resultados y conferencia del 3T 2026; venta de CCBA); modelo propio; análisis propio.</a:t>
            </a:r>
            <a:endParaRPr lang="en-US" sz="1200" dirty="0"/>
          </a:p>
        </p:txBody>
      </p:sp>
      <p:sp>
        <p:nvSpPr>
          <p:cNvPr id="31" name="Text 29"/>
          <p:cNvSpPr/>
          <p:nvPr/>
        </p:nvSpPr>
        <p:spPr>
          <a:xfrm>
            <a:off x="10964664" y="6390680"/>
            <a:ext cx="668536" cy="238720"/>
          </a:xfrm>
          <a:prstGeom prst="rect">
            <a:avLst/>
          </a:prstGeom>
          <a:noFill/>
          <a:ln/>
        </p:spPr>
        <p:txBody>
          <a:bodyPr wrap="none" lIns="0" tIns="0" rIns="0" bIns="0" rtlCol="0" anchor="t">
            <a:normAutofit/>
          </a:bodyPr>
          <a:lstStyle/>
          <a:p>
            <a:pPr marL="0" indent="0" algn="l">
              <a:lnSpc>
                <a:spcPts val="1680"/>
              </a:lnSpc>
              <a:buNone/>
            </a:pPr>
            <a:r>
              <a:rPr lang="en-US" sz="1200" kern="0" spc="150" dirty="0">
                <a:solidFill>
                  <a:srgbClr val="010736"/>
                </a:solidFill>
                <a:latin typeface="Jost" pitchFamily="34" charset="0"/>
                <a:ea typeface="Jost" pitchFamily="34" charset="-122"/>
                <a:cs typeface="Jost" pitchFamily="34" charset="-120"/>
              </a:rPr>
              <a:t>10 / 11</a:t>
            </a:r>
            <a:endParaRPr lang="en-US" sz="1200" dirty="0"/>
          </a:p>
        </p:txBody>
      </p:sp>
    </p:spTree>
    <p:extLst>
      <p:ext uri="{BB962C8B-B14F-4D97-AF65-F5344CB8AC3E}">
        <p14:creationId xmlns:p14="http://schemas.microsoft.com/office/powerpoint/2010/main" val="3993908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D1C42"/>
        </a:solidFill>
        <a:effectLst/>
      </p:bgPr>
    </p:bg>
    <p:spTree>
      <p:nvGrpSpPr>
        <p:cNvPr id="1" name=""/>
        <p:cNvGrpSpPr/>
        <p:nvPr/>
      </p:nvGrpSpPr>
      <p:grpSpPr>
        <a:xfrm>
          <a:off x="0" y="0"/>
          <a:ext cx="0" cy="0"/>
          <a:chOff x="0" y="0"/>
          <a:chExt cx="0" cy="0"/>
        </a:xfrm>
      </p:grpSpPr>
      <p:sp>
        <p:nvSpPr>
          <p:cNvPr id="2" name="Shape 0"/>
          <p:cNvSpPr/>
          <p:nvPr/>
        </p:nvSpPr>
        <p:spPr>
          <a:xfrm>
            <a:off x="387350" y="387350"/>
            <a:ext cx="11417300" cy="6083300"/>
          </a:xfrm>
          <a:prstGeom prst="rect">
            <a:avLst/>
          </a:prstGeom>
          <a:noFill/>
          <a:ln w="12700">
            <a:solidFill>
              <a:srgbClr val="FCF1D0"/>
            </a:solidFill>
            <a:prstDash val="solid"/>
          </a:ln>
        </p:spPr>
        <p:txBody>
          <a:bodyPr/>
          <a:lstStyle/>
          <a:p>
            <a:endParaRPr lang="en-US"/>
          </a:p>
        </p:txBody>
      </p:sp>
      <p:sp>
        <p:nvSpPr>
          <p:cNvPr id="3" name="Text 1"/>
          <p:cNvSpPr/>
          <p:nvPr/>
        </p:nvSpPr>
        <p:spPr>
          <a:xfrm>
            <a:off x="952500" y="952500"/>
            <a:ext cx="850265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CF1D0"/>
                </a:solidFill>
                <a:latin typeface="Jost" pitchFamily="34" charset="0"/>
                <a:ea typeface="Jost" pitchFamily="34" charset="-122"/>
                <a:cs typeface="Jost" pitchFamily="34" charset="-120"/>
              </a:rPr>
              <a:t>CONCLUSIÓN</a:t>
            </a:r>
            <a:endParaRPr lang="en-US" sz="1200" dirty="0"/>
          </a:p>
        </p:txBody>
      </p:sp>
      <p:sp>
        <p:nvSpPr>
          <p:cNvPr id="4" name="Text 2"/>
          <p:cNvSpPr>
            <a:spLocks noGrp="1"/>
          </p:cNvSpPr>
          <p:nvPr>
            <p:ph type="title"/>
          </p:nvPr>
        </p:nvSpPr>
        <p:spPr>
          <a:xfrm>
            <a:off x="952499" y="1318220"/>
            <a:ext cx="9510161" cy="1076920"/>
          </a:xfrm>
          <a:prstGeom prst="rect">
            <a:avLst/>
          </a:prstGeom>
          <a:noFill/>
          <a:ln/>
        </p:spPr>
        <p:txBody>
          <a:bodyPr wrap="square" lIns="0" tIns="0" rIns="0" bIns="0" rtlCol="0" anchor="t">
            <a:normAutofit/>
          </a:bodyPr>
          <a:lstStyle/>
          <a:p>
            <a:pPr marL="0" indent="0" algn="l">
              <a:lnSpc>
                <a:spcPts val="4140"/>
              </a:lnSpc>
              <a:buNone/>
            </a:pPr>
            <a:r>
              <a:rPr lang="en-US" sz="3600" kern="0" spc="-50" dirty="0" err="1">
                <a:solidFill>
                  <a:srgbClr val="FCF1D0"/>
                </a:solidFill>
              </a:rPr>
              <a:t>Comprar</a:t>
            </a:r>
            <a:r>
              <a:rPr lang="en-US" sz="3600" kern="0" spc="-50" dirty="0">
                <a:solidFill>
                  <a:srgbClr val="FCF1D0"/>
                </a:solidFill>
              </a:rPr>
              <a:t> </a:t>
            </a:r>
            <a:r>
              <a:rPr lang="en-US" sz="3600" kern="0" spc="-50" dirty="0" err="1">
                <a:solidFill>
                  <a:srgbClr val="FCF1D0"/>
                </a:solidFill>
              </a:rPr>
              <a:t>en</a:t>
            </a:r>
            <a:r>
              <a:rPr lang="en-US" sz="3600" kern="0" spc="-50" dirty="0">
                <a:solidFill>
                  <a:srgbClr val="FCF1D0"/>
                </a:solidFill>
              </a:rPr>
              <a:t> el </a:t>
            </a:r>
            <a:r>
              <a:rPr lang="en-US" sz="3600" kern="0" spc="-50" dirty="0" err="1">
                <a:solidFill>
                  <a:srgbClr val="FCF1D0"/>
                </a:solidFill>
              </a:rPr>
              <a:t>rango</a:t>
            </a:r>
            <a:r>
              <a:rPr lang="en-US" sz="3600" kern="0" spc="-50" dirty="0">
                <a:solidFill>
                  <a:srgbClr val="FCF1D0"/>
                </a:solidFill>
              </a:rPr>
              <a:t> de 75$ - 80$, </a:t>
            </a:r>
            <a:r>
              <a:rPr lang="en-US" sz="3600" kern="0" spc="-50" dirty="0" err="1">
                <a:solidFill>
                  <a:srgbClr val="FCF1D0"/>
                </a:solidFill>
              </a:rPr>
              <a:t>Mantener</a:t>
            </a:r>
            <a:r>
              <a:rPr lang="en-US" sz="3600" kern="0" spc="-50" dirty="0">
                <a:solidFill>
                  <a:srgbClr val="FCF1D0"/>
                </a:solidFill>
              </a:rPr>
              <a:t>.</a:t>
            </a:r>
            <a:endParaRPr lang="en-US" sz="3600" dirty="0"/>
          </a:p>
        </p:txBody>
      </p:sp>
      <p:sp>
        <p:nvSpPr>
          <p:cNvPr id="5" name="Text 3"/>
          <p:cNvSpPr/>
          <p:nvPr/>
        </p:nvSpPr>
        <p:spPr>
          <a:xfrm>
            <a:off x="952500" y="2522140"/>
            <a:ext cx="10379202" cy="1570433"/>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FCF1D0"/>
                </a:solidFill>
                <a:latin typeface="Pinyon Script" pitchFamily="18" charset="0"/>
                <a:ea typeface="Pinyon Script" pitchFamily="18" charset="-122"/>
                <a:cs typeface="Pinyon Script" pitchFamily="18" charset="-120"/>
              </a:rPr>
              <a:t>Calidad, pero a </a:t>
            </a:r>
            <a:r>
              <a:rPr lang="en-US" sz="2300" dirty="0" err="1">
                <a:solidFill>
                  <a:srgbClr val="FCF1D0"/>
                </a:solidFill>
                <a:latin typeface="Pinyon Script" pitchFamily="18" charset="0"/>
                <a:ea typeface="Pinyon Script" pitchFamily="18" charset="-122"/>
                <a:cs typeface="Pinyon Script" pitchFamily="18" charset="-120"/>
              </a:rPr>
              <a:t>buen</a:t>
            </a:r>
            <a:r>
              <a:rPr lang="en-US" sz="2300" dirty="0">
                <a:solidFill>
                  <a:srgbClr val="FCF1D0"/>
                </a:solidFill>
                <a:latin typeface="Pinyon Script" pitchFamily="18" charset="0"/>
                <a:ea typeface="Pinyon Script" pitchFamily="18" charset="-122"/>
                <a:cs typeface="Pinyon Script" pitchFamily="18" charset="-120"/>
              </a:rPr>
              <a:t> </a:t>
            </a:r>
            <a:r>
              <a:rPr lang="en-US" sz="2300" dirty="0" err="1">
                <a:solidFill>
                  <a:srgbClr val="FCF1D0"/>
                </a:solidFill>
                <a:latin typeface="Pinyon Script" pitchFamily="18" charset="0"/>
                <a:ea typeface="Pinyon Script" pitchFamily="18" charset="-122"/>
                <a:cs typeface="Pinyon Script" pitchFamily="18" charset="-120"/>
              </a:rPr>
              <a:t>precio</a:t>
            </a:r>
            <a:r>
              <a:rPr lang="en-US" sz="2300" dirty="0">
                <a:solidFill>
                  <a:srgbClr val="FCF1D0"/>
                </a:solidFill>
                <a:latin typeface="Pinyon Script" pitchFamily="18" charset="0"/>
                <a:ea typeface="Pinyon Script" pitchFamily="18" charset="-122"/>
                <a:cs typeface="Pinyon Script" pitchFamily="18" charset="-120"/>
              </a:rPr>
              <a:t>.</a:t>
            </a:r>
          </a:p>
          <a:p>
            <a:pPr marL="0" indent="0" algn="l">
              <a:lnSpc>
                <a:spcPts val="2990"/>
              </a:lnSpc>
              <a:buNone/>
            </a:pPr>
            <a:endParaRPr lang="en-US" sz="2300" dirty="0">
              <a:solidFill>
                <a:srgbClr val="FCF1D0"/>
              </a:solidFill>
              <a:latin typeface="Pinyon Script" pitchFamily="18" charset="0"/>
            </a:endParaRPr>
          </a:p>
          <a:p>
            <a:pPr marL="0" indent="0" algn="l">
              <a:lnSpc>
                <a:spcPts val="2990"/>
              </a:lnSpc>
              <a:buNone/>
            </a:pPr>
            <a:r>
              <a:rPr lang="en-US" sz="2300" dirty="0">
                <a:solidFill>
                  <a:srgbClr val="FCF1D0"/>
                </a:solidFill>
                <a:latin typeface="Pinyon Script" pitchFamily="18" charset="0"/>
              </a:rPr>
              <a:t>La </a:t>
            </a:r>
            <a:r>
              <a:rPr lang="en-US" sz="2300" dirty="0" err="1">
                <a:solidFill>
                  <a:srgbClr val="FCF1D0"/>
                </a:solidFill>
                <a:latin typeface="Pinyon Script" pitchFamily="18" charset="0"/>
              </a:rPr>
              <a:t>rentabilidad</a:t>
            </a:r>
            <a:r>
              <a:rPr lang="en-US" sz="2300" dirty="0">
                <a:solidFill>
                  <a:srgbClr val="FCF1D0"/>
                </a:solidFill>
                <a:latin typeface="Pinyon Script" pitchFamily="18" charset="0"/>
              </a:rPr>
              <a:t> </a:t>
            </a:r>
            <a:r>
              <a:rPr lang="en-US" sz="2300" dirty="0" err="1">
                <a:solidFill>
                  <a:srgbClr val="FCF1D0"/>
                </a:solidFill>
                <a:latin typeface="Pinyon Script" pitchFamily="18" charset="0"/>
              </a:rPr>
              <a:t>anda</a:t>
            </a:r>
            <a:r>
              <a:rPr lang="en-US" sz="2300" dirty="0">
                <a:solidFill>
                  <a:srgbClr val="FCF1D0"/>
                </a:solidFill>
                <a:latin typeface="Pinyon Script" pitchFamily="18" charset="0"/>
              </a:rPr>
              <a:t> </a:t>
            </a:r>
            <a:r>
              <a:rPr lang="en-US" sz="2300" dirty="0" err="1">
                <a:solidFill>
                  <a:srgbClr val="FCF1D0"/>
                </a:solidFill>
                <a:latin typeface="Pinyon Script" pitchFamily="18" charset="0"/>
              </a:rPr>
              <a:t>muy</a:t>
            </a:r>
            <a:r>
              <a:rPr lang="en-US" sz="2300" dirty="0">
                <a:solidFill>
                  <a:srgbClr val="FCF1D0"/>
                </a:solidFill>
                <a:latin typeface="Pinyon Script" pitchFamily="18" charset="0"/>
              </a:rPr>
              <a:t> </a:t>
            </a:r>
            <a:r>
              <a:rPr lang="en-US" sz="2300" dirty="0" err="1">
                <a:solidFill>
                  <a:srgbClr val="FCF1D0"/>
                </a:solidFill>
                <a:latin typeface="Pinyon Script" pitchFamily="18" charset="0"/>
              </a:rPr>
              <a:t>cerca</a:t>
            </a:r>
            <a:r>
              <a:rPr lang="en-US" sz="2300" dirty="0">
                <a:solidFill>
                  <a:srgbClr val="FCF1D0"/>
                </a:solidFill>
                <a:latin typeface="Pinyon Script" pitchFamily="18" charset="0"/>
              </a:rPr>
              <a:t> de la </a:t>
            </a:r>
            <a:r>
              <a:rPr lang="en-US" sz="2300" dirty="0" err="1">
                <a:solidFill>
                  <a:srgbClr val="FCF1D0"/>
                </a:solidFill>
                <a:latin typeface="Pinyon Script" pitchFamily="18" charset="0"/>
              </a:rPr>
              <a:t>tasa</a:t>
            </a:r>
            <a:r>
              <a:rPr lang="en-US" sz="2300" dirty="0">
                <a:solidFill>
                  <a:srgbClr val="FCF1D0"/>
                </a:solidFill>
                <a:latin typeface="Pinyon Script" pitchFamily="18" charset="0"/>
              </a:rPr>
              <a:t> libre de Riesgo, </a:t>
            </a:r>
            <a:r>
              <a:rPr lang="en-US" sz="2300" dirty="0" err="1">
                <a:solidFill>
                  <a:srgbClr val="FCF1D0"/>
                </a:solidFill>
                <a:latin typeface="Pinyon Script" pitchFamily="18" charset="0"/>
              </a:rPr>
              <a:t>pero</a:t>
            </a:r>
            <a:r>
              <a:rPr lang="en-US" sz="2300" dirty="0">
                <a:solidFill>
                  <a:srgbClr val="FCF1D0"/>
                </a:solidFill>
                <a:latin typeface="Pinyon Script" pitchFamily="18" charset="0"/>
              </a:rPr>
              <a:t> </a:t>
            </a:r>
            <a:r>
              <a:rPr lang="en-US" sz="2300" dirty="0" err="1">
                <a:solidFill>
                  <a:srgbClr val="FCF1D0"/>
                </a:solidFill>
                <a:latin typeface="Pinyon Script" pitchFamily="18" charset="0"/>
              </a:rPr>
              <a:t>en</a:t>
            </a:r>
            <a:r>
              <a:rPr lang="en-US" sz="2300" dirty="0">
                <a:solidFill>
                  <a:srgbClr val="FCF1D0"/>
                </a:solidFill>
                <a:latin typeface="Pinyon Script" pitchFamily="18" charset="0"/>
              </a:rPr>
              <a:t> un </a:t>
            </a:r>
            <a:r>
              <a:rPr lang="en-US" sz="2300" dirty="0" err="1">
                <a:solidFill>
                  <a:srgbClr val="FCF1D0"/>
                </a:solidFill>
                <a:latin typeface="Pinyon Script" pitchFamily="18" charset="0"/>
              </a:rPr>
              <a:t>periodo</a:t>
            </a:r>
            <a:r>
              <a:rPr lang="en-US" sz="2300" dirty="0">
                <a:solidFill>
                  <a:srgbClr val="FCF1D0"/>
                </a:solidFill>
                <a:latin typeface="Pinyon Script" pitchFamily="18" charset="0"/>
              </a:rPr>
              <a:t> </a:t>
            </a:r>
            <a:r>
              <a:rPr lang="en-US" sz="2300" dirty="0" err="1">
                <a:solidFill>
                  <a:srgbClr val="FCF1D0"/>
                </a:solidFill>
                <a:latin typeface="Pinyon Script" pitchFamily="18" charset="0"/>
              </a:rPr>
              <a:t>inflacionista</a:t>
            </a:r>
            <a:r>
              <a:rPr lang="en-US" sz="2300" dirty="0">
                <a:solidFill>
                  <a:srgbClr val="FCF1D0"/>
                </a:solidFill>
                <a:latin typeface="Pinyon Script" pitchFamily="18" charset="0"/>
              </a:rPr>
              <a:t> Coca-Cola </a:t>
            </a:r>
            <a:r>
              <a:rPr lang="en-US" sz="2300" dirty="0" err="1">
                <a:solidFill>
                  <a:srgbClr val="FCF1D0"/>
                </a:solidFill>
                <a:latin typeface="Pinyon Script" pitchFamily="18" charset="0"/>
              </a:rPr>
              <a:t>tiene</a:t>
            </a:r>
            <a:r>
              <a:rPr lang="en-US" sz="2300" dirty="0">
                <a:solidFill>
                  <a:srgbClr val="FCF1D0"/>
                </a:solidFill>
                <a:latin typeface="Pinyon Script" pitchFamily="18" charset="0"/>
              </a:rPr>
              <a:t> </a:t>
            </a:r>
            <a:r>
              <a:rPr lang="en-US" sz="2300" dirty="0" err="1">
                <a:solidFill>
                  <a:srgbClr val="FCF1D0"/>
                </a:solidFill>
                <a:latin typeface="Pinyon Script" pitchFamily="18" charset="0"/>
              </a:rPr>
              <a:t>poder</a:t>
            </a:r>
            <a:r>
              <a:rPr lang="en-US" sz="2300" dirty="0">
                <a:solidFill>
                  <a:srgbClr val="FCF1D0"/>
                </a:solidFill>
                <a:latin typeface="Pinyon Script" pitchFamily="18" charset="0"/>
              </a:rPr>
              <a:t> de </a:t>
            </a:r>
            <a:r>
              <a:rPr lang="en-US" sz="2300" dirty="0" err="1">
                <a:solidFill>
                  <a:srgbClr val="FCF1D0"/>
                </a:solidFill>
                <a:latin typeface="Pinyon Script" pitchFamily="18" charset="0"/>
              </a:rPr>
              <a:t>fijación</a:t>
            </a:r>
            <a:r>
              <a:rPr lang="en-US" sz="2300" dirty="0">
                <a:solidFill>
                  <a:srgbClr val="FCF1D0"/>
                </a:solidFill>
                <a:latin typeface="Pinyon Script" pitchFamily="18" charset="0"/>
              </a:rPr>
              <a:t> de </a:t>
            </a:r>
            <a:r>
              <a:rPr lang="en-US" sz="2300" dirty="0" err="1">
                <a:solidFill>
                  <a:srgbClr val="FCF1D0"/>
                </a:solidFill>
                <a:latin typeface="Pinyon Script" pitchFamily="18" charset="0"/>
              </a:rPr>
              <a:t>precios</a:t>
            </a:r>
            <a:r>
              <a:rPr lang="en-US" sz="2300" dirty="0">
                <a:solidFill>
                  <a:srgbClr val="FCF1D0"/>
                </a:solidFill>
                <a:latin typeface="Pinyon Script" pitchFamily="18" charset="0"/>
              </a:rPr>
              <a:t> para </a:t>
            </a:r>
            <a:r>
              <a:rPr lang="en-US" sz="2300" dirty="0" err="1">
                <a:solidFill>
                  <a:srgbClr val="FCF1D0"/>
                </a:solidFill>
                <a:latin typeface="Pinyon Script" pitchFamily="18" charset="0"/>
              </a:rPr>
              <a:t>sobrellevarla</a:t>
            </a:r>
            <a:r>
              <a:rPr lang="en-US" sz="2300" dirty="0">
                <a:solidFill>
                  <a:srgbClr val="FCF1D0"/>
                </a:solidFill>
                <a:latin typeface="Pinyon Script" pitchFamily="18" charset="0"/>
              </a:rPr>
              <a:t> </a:t>
            </a:r>
            <a:r>
              <a:rPr lang="en-US" sz="2300" dirty="0" err="1">
                <a:solidFill>
                  <a:srgbClr val="FCF1D0"/>
                </a:solidFill>
                <a:latin typeface="Pinyon Script" pitchFamily="18" charset="0"/>
              </a:rPr>
              <a:t>mientras</a:t>
            </a:r>
            <a:r>
              <a:rPr lang="en-US" sz="2300" dirty="0">
                <a:solidFill>
                  <a:srgbClr val="FCF1D0"/>
                </a:solidFill>
                <a:latin typeface="Pinyon Script" pitchFamily="18" charset="0"/>
              </a:rPr>
              <a:t> </a:t>
            </a:r>
            <a:r>
              <a:rPr lang="en-US" sz="2300" dirty="0" err="1">
                <a:solidFill>
                  <a:srgbClr val="FCF1D0"/>
                </a:solidFill>
                <a:latin typeface="Pinyon Script" pitchFamily="18" charset="0"/>
              </a:rPr>
              <a:t>que</a:t>
            </a:r>
            <a:r>
              <a:rPr lang="en-US" sz="2300" dirty="0">
                <a:solidFill>
                  <a:srgbClr val="FCF1D0"/>
                </a:solidFill>
                <a:latin typeface="Pinyon Script" pitchFamily="18" charset="0"/>
              </a:rPr>
              <a:t> </a:t>
            </a:r>
            <a:r>
              <a:rPr lang="en-US" sz="2300" dirty="0" err="1">
                <a:solidFill>
                  <a:srgbClr val="FCF1D0"/>
                </a:solidFill>
                <a:latin typeface="Pinyon Script" pitchFamily="18" charset="0"/>
              </a:rPr>
              <a:t>los</a:t>
            </a:r>
            <a:r>
              <a:rPr lang="en-US" sz="2300" dirty="0">
                <a:solidFill>
                  <a:srgbClr val="FCF1D0"/>
                </a:solidFill>
                <a:latin typeface="Pinyon Script" pitchFamily="18" charset="0"/>
              </a:rPr>
              <a:t> </a:t>
            </a:r>
            <a:r>
              <a:rPr lang="en-US" sz="2300" dirty="0" err="1">
                <a:solidFill>
                  <a:srgbClr val="FCF1D0"/>
                </a:solidFill>
                <a:latin typeface="Pinyon Script" pitchFamily="18" charset="0"/>
              </a:rPr>
              <a:t>bonos</a:t>
            </a:r>
            <a:r>
              <a:rPr lang="en-US" sz="2300" dirty="0">
                <a:solidFill>
                  <a:srgbClr val="FCF1D0"/>
                </a:solidFill>
                <a:latin typeface="Pinyon Script" pitchFamily="18" charset="0"/>
              </a:rPr>
              <a:t> se </a:t>
            </a:r>
            <a:r>
              <a:rPr lang="en-US" sz="2300" dirty="0" err="1">
                <a:solidFill>
                  <a:srgbClr val="FCF1D0"/>
                </a:solidFill>
                <a:latin typeface="Pinyon Script" pitchFamily="18" charset="0"/>
              </a:rPr>
              <a:t>deprecian</a:t>
            </a:r>
            <a:r>
              <a:rPr lang="en-US" sz="2300" dirty="0">
                <a:solidFill>
                  <a:srgbClr val="FCF1D0"/>
                </a:solidFill>
                <a:latin typeface="Pinyon Script" pitchFamily="18" charset="0"/>
              </a:rPr>
              <a:t>.</a:t>
            </a:r>
            <a:endParaRPr lang="en-US" sz="2300" dirty="0"/>
          </a:p>
        </p:txBody>
      </p:sp>
      <p:sp>
        <p:nvSpPr>
          <p:cNvPr id="6" name="Shape 4"/>
          <p:cNvSpPr/>
          <p:nvPr/>
        </p:nvSpPr>
        <p:spPr>
          <a:xfrm>
            <a:off x="952500" y="4067175"/>
            <a:ext cx="10287000" cy="0"/>
          </a:xfrm>
          <a:prstGeom prst="line">
            <a:avLst/>
          </a:prstGeom>
          <a:noFill/>
          <a:ln w="6350">
            <a:solidFill>
              <a:srgbClr val="FCF1D0"/>
            </a:solidFill>
            <a:prstDash val="solid"/>
          </a:ln>
        </p:spPr>
        <p:txBody>
          <a:bodyPr/>
          <a:lstStyle/>
          <a:p>
            <a:endParaRPr lang="en-US"/>
          </a:p>
        </p:txBody>
      </p:sp>
      <p:sp>
        <p:nvSpPr>
          <p:cNvPr id="7" name="Text 5"/>
          <p:cNvSpPr/>
          <p:nvPr/>
        </p:nvSpPr>
        <p:spPr>
          <a:xfrm>
            <a:off x="952500" y="4248150"/>
            <a:ext cx="34010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CF1D0"/>
                </a:solidFill>
                <a:latin typeface="Jost" pitchFamily="34" charset="0"/>
                <a:ea typeface="Jost" pitchFamily="34" charset="-122"/>
                <a:cs typeface="Jost" pitchFamily="34" charset="-120"/>
              </a:rPr>
              <a:t>PRECIO OBJETIVO</a:t>
            </a:r>
            <a:endParaRPr lang="en-US" sz="1200" dirty="0"/>
          </a:p>
        </p:txBody>
      </p:sp>
      <p:sp>
        <p:nvSpPr>
          <p:cNvPr id="8" name="Text 6"/>
          <p:cNvSpPr/>
          <p:nvPr/>
        </p:nvSpPr>
        <p:spPr>
          <a:xfrm>
            <a:off x="952500" y="4512270"/>
            <a:ext cx="3401060" cy="47238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FCF1D0"/>
                </a:solidFill>
                <a:latin typeface="Jost" pitchFamily="34" charset="0"/>
                <a:ea typeface="Jost" pitchFamily="34" charset="-122"/>
                <a:cs typeface="Jost" pitchFamily="34" charset="-120"/>
              </a:rPr>
              <a:t>87,7 $</a:t>
            </a:r>
            <a:endParaRPr lang="en-US" sz="3200" dirty="0"/>
          </a:p>
        </p:txBody>
      </p:sp>
      <p:sp>
        <p:nvSpPr>
          <p:cNvPr id="9" name="Text 7"/>
          <p:cNvSpPr/>
          <p:nvPr/>
        </p:nvSpPr>
        <p:spPr>
          <a:xfrm>
            <a:off x="952500" y="5010051"/>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CF1D0"/>
                </a:solidFill>
                <a:latin typeface="Jost" pitchFamily="34" charset="0"/>
                <a:ea typeface="Jost" pitchFamily="34" charset="-122"/>
                <a:cs typeface="Jost" pitchFamily="34" charset="-120"/>
              </a:rPr>
              <a:t>Rango 76,6–103,3 $</a:t>
            </a:r>
            <a:endParaRPr lang="en-US" sz="1200" dirty="0"/>
          </a:p>
        </p:txBody>
      </p:sp>
      <p:sp>
        <p:nvSpPr>
          <p:cNvPr id="10" name="Text 8"/>
          <p:cNvSpPr/>
          <p:nvPr/>
        </p:nvSpPr>
        <p:spPr>
          <a:xfrm>
            <a:off x="4559300" y="4248150"/>
            <a:ext cx="34010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CF1D0"/>
                </a:solidFill>
                <a:latin typeface="Jost" pitchFamily="34" charset="0"/>
                <a:ea typeface="Jost" pitchFamily="34" charset="-122"/>
                <a:cs typeface="Jost" pitchFamily="34" charset="-120"/>
              </a:rPr>
              <a:t>MODELO COMPLETO</a:t>
            </a:r>
            <a:endParaRPr lang="en-US" sz="1200" dirty="0"/>
          </a:p>
        </p:txBody>
      </p:sp>
      <p:sp>
        <p:nvSpPr>
          <p:cNvPr id="11" name="Text 9"/>
          <p:cNvSpPr/>
          <p:nvPr/>
        </p:nvSpPr>
        <p:spPr>
          <a:xfrm>
            <a:off x="4559300" y="4512270"/>
            <a:ext cx="3401060"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CF1D0"/>
                </a:solidFill>
                <a:latin typeface="EB Garamond" pitchFamily="18" charset="0"/>
                <a:ea typeface="EB Garamond" pitchFamily="18" charset="-122"/>
                <a:cs typeface="EB Garamond" pitchFamily="18" charset="-120"/>
              </a:rPr>
              <a:t>Excel con DCF, DDM, WACC y sensibilidades: enlace en el primer comentario.</a:t>
            </a:r>
            <a:endParaRPr lang="en-US" sz="1500" dirty="0"/>
          </a:p>
        </p:txBody>
      </p:sp>
      <p:sp>
        <p:nvSpPr>
          <p:cNvPr id="12" name="Text 10"/>
          <p:cNvSpPr/>
          <p:nvPr/>
        </p:nvSpPr>
        <p:spPr>
          <a:xfrm>
            <a:off x="8166100" y="4248150"/>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CF1D0"/>
                </a:solidFill>
                <a:latin typeface="Jost" pitchFamily="34" charset="0"/>
                <a:ea typeface="Jost" pitchFamily="34" charset="-122"/>
                <a:cs typeface="Jost" pitchFamily="34" charset="-120"/>
              </a:rPr>
              <a:t>AVISO</a:t>
            </a:r>
            <a:endParaRPr lang="en-US" sz="1200" dirty="0"/>
          </a:p>
        </p:txBody>
      </p:sp>
      <p:sp>
        <p:nvSpPr>
          <p:cNvPr id="13" name="Text 11"/>
          <p:cNvSpPr/>
          <p:nvPr/>
        </p:nvSpPr>
        <p:spPr>
          <a:xfrm>
            <a:off x="8166100" y="4512270"/>
            <a:ext cx="3165602" cy="6424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CF1D0"/>
                </a:solidFill>
                <a:latin typeface="EB Garamond" pitchFamily="18" charset="0"/>
                <a:ea typeface="EB Garamond" pitchFamily="18" charset="-122"/>
                <a:cs typeface="EB Garamond" pitchFamily="18" charset="-120"/>
              </a:rPr>
              <a:t>No constituye recomendación ni asesoramiento de inversión. Sin posición en KO.</a:t>
            </a:r>
            <a:endParaRPr lang="en-US" sz="1200" dirty="0"/>
          </a:p>
        </p:txBody>
      </p:sp>
      <p:sp>
        <p:nvSpPr>
          <p:cNvPr id="14" name="Text 12"/>
          <p:cNvSpPr/>
          <p:nvPr/>
        </p:nvSpPr>
        <p:spPr>
          <a:xfrm>
            <a:off x="952500" y="59461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CF1D0"/>
                </a:solidFill>
                <a:latin typeface="Jost" pitchFamily="34" charset="0"/>
                <a:ea typeface="Jost" pitchFamily="34" charset="-122"/>
                <a:cs typeface="Jost" pitchFamily="34" charset="-120"/>
              </a:rPr>
              <a:t>Carlos Arizcuren Elizondo</a:t>
            </a:r>
            <a:r>
              <a:rPr lang="en-US" sz="1200" kern="0" spc="50" dirty="0">
                <a:solidFill>
                  <a:srgbClr val="FCF1D0"/>
                </a:solidFill>
                <a:latin typeface="Jost" pitchFamily="34" charset="0"/>
                <a:ea typeface="Jost" pitchFamily="34" charset="-122"/>
                <a:cs typeface="Jost" pitchFamily="34" charset="-120"/>
              </a:rPr>
              <a:t> | Octubre de 2026</a:t>
            </a:r>
            <a:endParaRPr lang="en-US" sz="1200" dirty="0"/>
          </a:p>
        </p:txBody>
      </p:sp>
      <p:sp>
        <p:nvSpPr>
          <p:cNvPr id="15" name="Text 13"/>
          <p:cNvSpPr/>
          <p:nvPr/>
        </p:nvSpPr>
        <p:spPr>
          <a:xfrm>
            <a:off x="9918700" y="59461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kern="0" spc="150" dirty="0">
                <a:solidFill>
                  <a:srgbClr val="FCF1D0"/>
                </a:solidFill>
                <a:latin typeface="Jost" pitchFamily="34" charset="0"/>
                <a:ea typeface="Jost" pitchFamily="34" charset="-122"/>
                <a:cs typeface="Jost" pitchFamily="34" charset="-120"/>
              </a:rPr>
              <a:t>11 / 11</a:t>
            </a:r>
            <a:endParaRPr lang="en-US" sz="1200" dirty="0"/>
          </a:p>
        </p:txBody>
      </p:sp>
    </p:spTree>
    <p:extLst>
      <p:ext uri="{BB962C8B-B14F-4D97-AF65-F5344CB8AC3E}">
        <p14:creationId xmlns:p14="http://schemas.microsoft.com/office/powerpoint/2010/main" val="3282555513"/>
      </p:ext>
    </p:extLst>
  </p:cSld>
  <p:clrMapOvr>
    <a:masterClrMapping/>
  </p:clrMapOvr>
</p:sld>
</file>

<file path=ppt/theme/theme1.xml><?xml version="1.0" encoding="utf-8"?>
<a:theme xmlns:a="http://schemas.openxmlformats.org/drawingml/2006/main" name="Coca-Cola — Stock pitch">
  <a:themeElements>
    <a:clrScheme name="Coca-Cola — Stock pitch">
      <a:dk1>
        <a:srgbClr val="010736"/>
      </a:dk1>
      <a:lt1>
        <a:srgbClr val="FEFAEF"/>
      </a:lt1>
      <a:dk2>
        <a:srgbClr val="404464"/>
      </a:dk2>
      <a:lt2>
        <a:srgbClr val="E5E2DD"/>
      </a:lt2>
      <a:accent1>
        <a:srgbClr val="22396F"/>
      </a:accent1>
      <a:accent2>
        <a:srgbClr val="FCF1D0"/>
      </a:accent2>
      <a:accent3>
        <a:srgbClr val="5A5C77"/>
      </a:accent3>
      <a:accent4>
        <a:srgbClr val="8590A9"/>
      </a:accent4>
      <a:accent5>
        <a:srgbClr val="9AA0A6"/>
      </a:accent5>
      <a:accent6>
        <a:srgbClr val="666880"/>
      </a:accent6>
      <a:hlink>
        <a:srgbClr val="0563C1"/>
      </a:hlink>
      <a:folHlink>
        <a:srgbClr val="954F72"/>
      </a:folHlink>
    </a:clrScheme>
    <a:fontScheme name="Coca-Cola — Stock pitch">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o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74F6493-EE96-4B40-9BD4-9A3F9A4ADF10}">
  <we:reference id="WA200010725" version="1.0.0.1" store="Omex" storeType="OMEX"/>
  <we:alternateReferences>
    <we:reference id="WA200010725" version="1.0.0.1" store="WA200010725" storeType="OMEX"/>
  </we:alternateReferences>
  <we:properties>
    <we:property name="claude.fileId" value="&quot;347bbb7a-1a8b-4140-bd05-5f242fd0c0d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TotalTime>
  <Words>1748</Words>
  <Application>Microsoft Office PowerPoint</Application>
  <PresentationFormat>Widescreen</PresentationFormat>
  <Paragraphs>320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Jost</vt:lpstr>
      <vt:lpstr>EB Garamond</vt:lpstr>
      <vt:lpstr>Pinyon Script</vt:lpstr>
      <vt:lpstr>Coca-Cola — Stock pitch</vt:lpstr>
      <vt:lpstr>Acción defensiva a precio ajustado</vt:lpstr>
      <vt:lpstr>El valor intrínseco de 87,7 $ por acción deja un potencial del −5,5 % y una relación riesgo/beneficio desfavorable</vt:lpstr>
      <vt:lpstr>El mercado paga a Coca-Cola como si el buen momento de 2026 fuera permanente, es un buen negocio, pero no a un precio excelente.</vt:lpstr>
      <vt:lpstr>Coca-Cola vende marca y concentrado. Los embotelladores ponen el capital. La refranquicia lleva el embotellado propio del 52 % al 5 %</vt:lpstr>
      <vt:lpstr>En 2025 el precio aportó 4 de los 5 puntos de crecimiento orgánico; proyectamos un 4,2 % anual, con Latinoamérica como motor</vt:lpstr>
      <vt:lpstr>Para justificar el precio de 92,7 $ hace falta un múltiplo de salida de 20x o crecer más del 2,75 % en perpetuidad.</vt:lpstr>
      <vt:lpstr>EBITDA de 25,5 mil M$ en 2035, con el margen subiendo del 30,7 % al 35,1 % por la disciplina en gastos.</vt:lpstr>
      <vt:lpstr>Los tres métodos intrínsecos dan 87,7 $ de media; solo el DCF por múltiplo de salida alcanza la cotización.</vt:lpstr>
      <vt:lpstr>La asimetría juega en contra, hay que arriesgar 16,1 $ por acción para ganar 10,6 $ en el mejor caso.</vt:lpstr>
      <vt:lpstr>Los catalizadores mejoran la calidad del negocio; los riesgos amenazan el volumen, la divisa y la fiscalidad</vt:lpstr>
      <vt:lpstr>Comprar en el rango de 75$ - 80$, Mantener.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Coca-Cola — Stock pitch</dc:title>
  <dc:subject/>
  <dc:creator>Carlos</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dc:description>
  <cp:lastModifiedBy>Carlos Arizcuren Elizondo</cp:lastModifiedBy>
  <cp:revision>3</cp:revision>
  <dcterms:created xsi:type="dcterms:W3CDTF">2026-10-28T21:41:00Z</dcterms:created>
  <dcterms:modified xsi:type="dcterms:W3CDTF">2026-10-28T22:06:22Z</dcterms:modified>
</cp:coreProperties>
</file>